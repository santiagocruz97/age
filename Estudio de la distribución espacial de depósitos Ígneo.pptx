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7" r:id="rId4"/>
  </p:sldMasterIdLst>
  <p:notesMasterIdLst>
    <p:notesMasterId r:id="rId41"/>
  </p:notesMasterIdLst>
  <p:sldIdLst>
    <p:sldId id="256" r:id="rId5"/>
    <p:sldId id="262" r:id="rId6"/>
    <p:sldId id="257" r:id="rId7"/>
    <p:sldId id="258" r:id="rId8"/>
    <p:sldId id="259" r:id="rId9"/>
    <p:sldId id="286" r:id="rId10"/>
    <p:sldId id="270" r:id="rId11"/>
    <p:sldId id="260" r:id="rId12"/>
    <p:sldId id="261" r:id="rId13"/>
    <p:sldId id="263" r:id="rId14"/>
    <p:sldId id="264" r:id="rId15"/>
    <p:sldId id="265" r:id="rId16"/>
    <p:sldId id="268" r:id="rId17"/>
    <p:sldId id="269" r:id="rId18"/>
    <p:sldId id="272" r:id="rId19"/>
    <p:sldId id="271" r:id="rId20"/>
    <p:sldId id="266" r:id="rId21"/>
    <p:sldId id="267" r:id="rId22"/>
    <p:sldId id="273" r:id="rId23"/>
    <p:sldId id="281" r:id="rId24"/>
    <p:sldId id="274" r:id="rId25"/>
    <p:sldId id="298" r:id="rId26"/>
    <p:sldId id="294" r:id="rId27"/>
    <p:sldId id="276" r:id="rId28"/>
    <p:sldId id="282" r:id="rId29"/>
    <p:sldId id="283" r:id="rId30"/>
    <p:sldId id="287" r:id="rId31"/>
    <p:sldId id="289" r:id="rId32"/>
    <p:sldId id="290" r:id="rId33"/>
    <p:sldId id="291" r:id="rId34"/>
    <p:sldId id="297" r:id="rId35"/>
    <p:sldId id="292" r:id="rId36"/>
    <p:sldId id="293" r:id="rId37"/>
    <p:sldId id="285" r:id="rId38"/>
    <p:sldId id="295" r:id="rId39"/>
    <p:sldId id="296" r:id="rId40"/>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24272D"/>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8A2F22B8-76FA-449E-A4E6-914A7B0F33D1}" v="4" dt="2025-05-29T22:51:32.271"/>
  </p1510:revLst>
</p1510:revInfo>
</file>

<file path=ppt/tableStyles.xml><?xml version="1.0" encoding="utf-8"?>
<a:tblStyleLst xmlns:a="http://schemas.openxmlformats.org/drawingml/2006/main" def="{5C22544A-7EE6-4342-B048-85BDC9FD1C3A}">
  <a:tblStyle styleId="{5C22544A-7EE6-4342-B048-85BDC9FD1C3A}" styleName="Estilo medio 2 - Énfasis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9D7B26C5-4107-4FEC-AEDC-1716B250A1EF}" styleName="Estilo claro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3B4B98B0-60AC-42C2-AFA5-B58CD77FA1E5}" styleName="Estilo claro 1 - Acento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987" autoAdjust="0"/>
    <p:restoredTop sz="75266" autoAdjust="0"/>
  </p:normalViewPr>
  <p:slideViewPr>
    <p:cSldViewPr snapToGrid="0">
      <p:cViewPr varScale="1">
        <p:scale>
          <a:sx n="68" d="100"/>
          <a:sy n="68" d="100"/>
        </p:scale>
        <p:origin x="1219" y="67"/>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39" Type="http://schemas.openxmlformats.org/officeDocument/2006/relationships/slide" Target="slides/slide35.xml"/><Relationship Id="rId21" Type="http://schemas.openxmlformats.org/officeDocument/2006/relationships/slide" Target="slides/slide17.xml"/><Relationship Id="rId34" Type="http://schemas.openxmlformats.org/officeDocument/2006/relationships/slide" Target="slides/slide30.xml"/><Relationship Id="rId42" Type="http://schemas.openxmlformats.org/officeDocument/2006/relationships/presProps" Target="presProps.xml"/><Relationship Id="rId7" Type="http://schemas.openxmlformats.org/officeDocument/2006/relationships/slide" Target="slides/slide3.xml"/><Relationship Id="rId2" Type="http://schemas.openxmlformats.org/officeDocument/2006/relationships/customXml" Target="../customXml/item2.xml"/><Relationship Id="rId16" Type="http://schemas.openxmlformats.org/officeDocument/2006/relationships/slide" Target="slides/slide12.xml"/><Relationship Id="rId29" Type="http://schemas.openxmlformats.org/officeDocument/2006/relationships/slide" Target="slides/slide25.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slide" Target="slides/slide28.xml"/><Relationship Id="rId37" Type="http://schemas.openxmlformats.org/officeDocument/2006/relationships/slide" Target="slides/slide33.xml"/><Relationship Id="rId40" Type="http://schemas.openxmlformats.org/officeDocument/2006/relationships/slide" Target="slides/slide36.xml"/><Relationship Id="rId45" Type="http://schemas.openxmlformats.org/officeDocument/2006/relationships/tableStyles" Target="tableStyles.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slide" Target="slides/slide32.xml"/><Relationship Id="rId10" Type="http://schemas.openxmlformats.org/officeDocument/2006/relationships/slide" Target="slides/slide6.xml"/><Relationship Id="rId19" Type="http://schemas.openxmlformats.org/officeDocument/2006/relationships/slide" Target="slides/slide15.xml"/><Relationship Id="rId31" Type="http://schemas.openxmlformats.org/officeDocument/2006/relationships/slide" Target="slides/slide27.xml"/><Relationship Id="rId44" Type="http://schemas.openxmlformats.org/officeDocument/2006/relationships/theme" Target="theme/theme1.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slide" Target="slides/slide31.xml"/><Relationship Id="rId43" Type="http://schemas.openxmlformats.org/officeDocument/2006/relationships/viewProps" Target="viewProps.xml"/><Relationship Id="rId8" Type="http://schemas.openxmlformats.org/officeDocument/2006/relationships/slide" Target="slides/slide4.xml"/><Relationship Id="rId3" Type="http://schemas.openxmlformats.org/officeDocument/2006/relationships/customXml" Target="../customXml/item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slide" Target="slides/slide29.xml"/><Relationship Id="rId38" Type="http://schemas.openxmlformats.org/officeDocument/2006/relationships/slide" Target="slides/slide34.xml"/><Relationship Id="rId46" Type="http://schemas.microsoft.com/office/2015/10/relationships/revisionInfo" Target="revisionInfo.xml"/><Relationship Id="rId20" Type="http://schemas.openxmlformats.org/officeDocument/2006/relationships/slide" Target="slides/slide16.xml"/><Relationship Id="rId41"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s-CO"/>
          </a:p>
        </p:txBody>
      </p:sp>
      <p:sp>
        <p:nvSpPr>
          <p:cNvPr id="3" name="Marcador de fecha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0BBCCC8-0CB4-4AE2-BBD5-DB5FF169E7AB}" type="datetimeFigureOut">
              <a:rPr lang="es-CO" smtClean="0"/>
              <a:t>18/07/2025</a:t>
            </a:fld>
            <a:endParaRPr lang="es-CO"/>
          </a:p>
        </p:txBody>
      </p:sp>
      <p:sp>
        <p:nvSpPr>
          <p:cNvPr id="4" name="Marcador de imagen de diapositiva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s-CO"/>
          </a:p>
        </p:txBody>
      </p:sp>
      <p:sp>
        <p:nvSpPr>
          <p:cNvPr id="5" name="Marcador de nota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6" name="Marcador de pie de página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s-CO"/>
          </a:p>
        </p:txBody>
      </p:sp>
      <p:sp>
        <p:nvSpPr>
          <p:cNvPr id="7" name="Marcador de número de diapositiva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3F2D74D-2329-45AA-8C8E-A30E4EED47C6}" type="slidenum">
              <a:rPr lang="es-CO" smtClean="0"/>
              <a:t>‹Nº›</a:t>
            </a:fld>
            <a:endParaRPr lang="es-CO"/>
          </a:p>
        </p:txBody>
      </p:sp>
    </p:spTree>
    <p:extLst>
      <p:ext uri="{BB962C8B-B14F-4D97-AF65-F5344CB8AC3E}">
        <p14:creationId xmlns:p14="http://schemas.microsoft.com/office/powerpoint/2010/main" val="15921332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b="1" dirty="0"/>
              <a:t>🔹 Métricas clave:</a:t>
            </a:r>
          </a:p>
          <a:p>
            <a:pPr>
              <a:buFont typeface="Arial" panose="020B0604020202020204" pitchFamily="34" charset="0"/>
              <a:buChar char="•"/>
            </a:pPr>
            <a:r>
              <a:rPr lang="es-ES" b="1" dirty="0"/>
              <a:t>Precisión (</a:t>
            </a:r>
            <a:r>
              <a:rPr lang="es-ES" b="1" dirty="0" err="1"/>
              <a:t>precision</a:t>
            </a:r>
            <a:r>
              <a:rPr lang="es-ES" b="1" dirty="0"/>
              <a:t>)</a:t>
            </a:r>
            <a:r>
              <a:rPr lang="es-ES" dirty="0"/>
              <a:t>:</a:t>
            </a:r>
          </a:p>
          <a:p>
            <a:pPr marL="742950" lvl="1" indent="-285750">
              <a:buFont typeface="Arial" panose="020B0604020202020204" pitchFamily="34" charset="0"/>
              <a:buChar char="•"/>
            </a:pPr>
            <a:r>
              <a:rPr lang="es-ES" dirty="0"/>
              <a:t>Proporción de predicciones positivas que fueron correctas.</a:t>
            </a:r>
          </a:p>
          <a:p>
            <a:pPr marL="742950" lvl="1" indent="-285750">
              <a:buFont typeface="Arial" panose="020B0604020202020204" pitchFamily="34" charset="0"/>
              <a:buChar char="•"/>
            </a:pPr>
            <a:r>
              <a:rPr lang="es-ES" dirty="0"/>
              <a:t>Clase 1: 63 % de los puntos predichos como “presencia” realmente lo eran.</a:t>
            </a:r>
          </a:p>
          <a:p>
            <a:pPr marL="742950" lvl="1" indent="-285750">
              <a:buFont typeface="Arial" panose="020B0604020202020204" pitchFamily="34" charset="0"/>
              <a:buChar char="•"/>
            </a:pPr>
            <a:r>
              <a:rPr lang="es-ES" dirty="0"/>
              <a:t>Clase 0: 71 % de los predichos como “ausencia” realmente lo eran.</a:t>
            </a:r>
          </a:p>
          <a:p>
            <a:pPr>
              <a:buFont typeface="Arial" panose="020B0604020202020204" pitchFamily="34" charset="0"/>
              <a:buChar char="•"/>
            </a:pPr>
            <a:r>
              <a:rPr lang="es-ES" b="1" dirty="0" err="1"/>
              <a:t>Recall</a:t>
            </a:r>
            <a:r>
              <a:rPr lang="es-ES" b="1" dirty="0"/>
              <a:t> (sensibilidad)</a:t>
            </a:r>
            <a:r>
              <a:rPr lang="es-ES" dirty="0"/>
              <a:t>:</a:t>
            </a:r>
          </a:p>
          <a:p>
            <a:pPr marL="742950" lvl="1" indent="-285750">
              <a:buFont typeface="Arial" panose="020B0604020202020204" pitchFamily="34" charset="0"/>
              <a:buChar char="•"/>
            </a:pPr>
            <a:r>
              <a:rPr lang="es-ES" dirty="0"/>
              <a:t>Proporción de casos reales positivos correctamente identificados.</a:t>
            </a:r>
          </a:p>
          <a:p>
            <a:pPr marL="742950" lvl="1" indent="-285750">
              <a:buFont typeface="Arial" panose="020B0604020202020204" pitchFamily="34" charset="0"/>
              <a:buChar char="•"/>
            </a:pPr>
            <a:r>
              <a:rPr lang="es-ES" dirty="0"/>
              <a:t>Clase 1: el modelo solo detectó el 42 % de los verdaderos casos de presencia.</a:t>
            </a:r>
          </a:p>
          <a:p>
            <a:pPr marL="742950" lvl="1" indent="-285750">
              <a:buFont typeface="Arial" panose="020B0604020202020204" pitchFamily="34" charset="0"/>
              <a:buChar char="•"/>
            </a:pPr>
            <a:r>
              <a:rPr lang="es-ES" dirty="0"/>
              <a:t>Clase 0: muy buen </a:t>
            </a:r>
            <a:r>
              <a:rPr lang="es-ES" dirty="0" err="1"/>
              <a:t>recall</a:t>
            </a:r>
            <a:r>
              <a:rPr lang="es-ES" dirty="0"/>
              <a:t> (85 %), detectó bien las ausencias.</a:t>
            </a:r>
          </a:p>
          <a:p>
            <a:pPr>
              <a:buFont typeface="Arial" panose="020B0604020202020204" pitchFamily="34" charset="0"/>
              <a:buChar char="•"/>
            </a:pPr>
            <a:r>
              <a:rPr lang="es-ES" b="1" dirty="0"/>
              <a:t>F1-score</a:t>
            </a:r>
            <a:r>
              <a:rPr lang="es-ES" dirty="0"/>
              <a:t>:</a:t>
            </a:r>
          </a:p>
          <a:p>
            <a:pPr marL="742950" lvl="1" indent="-285750">
              <a:buFont typeface="Arial" panose="020B0604020202020204" pitchFamily="34" charset="0"/>
              <a:buChar char="•"/>
            </a:pPr>
            <a:r>
              <a:rPr lang="es-ES" dirty="0"/>
              <a:t>Media armónica entre precisión y </a:t>
            </a:r>
            <a:r>
              <a:rPr lang="es-ES" dirty="0" err="1"/>
              <a:t>recall</a:t>
            </a:r>
            <a:r>
              <a:rPr lang="es-ES" dirty="0"/>
              <a:t>. Indica equilibrio entre ambos.</a:t>
            </a:r>
          </a:p>
          <a:p>
            <a:pPr marL="742950" lvl="1" indent="-285750">
              <a:buFont typeface="Arial" panose="020B0604020202020204" pitchFamily="34" charset="0"/>
              <a:buChar char="•"/>
            </a:pPr>
            <a:r>
              <a:rPr lang="es-ES" dirty="0"/>
              <a:t>Clase 0: </a:t>
            </a:r>
            <a:r>
              <a:rPr lang="es-ES" b="1" dirty="0"/>
              <a:t>0.77</a:t>
            </a:r>
            <a:r>
              <a:rPr lang="es-ES" dirty="0"/>
              <a:t> → el modelo es más competente prediciendo la clase 0.</a:t>
            </a:r>
          </a:p>
          <a:p>
            <a:pPr marL="742950" lvl="1" indent="-285750">
              <a:buFont typeface="Arial" panose="020B0604020202020204" pitchFamily="34" charset="0"/>
              <a:buChar char="•"/>
            </a:pPr>
            <a:r>
              <a:rPr lang="es-ES" dirty="0"/>
              <a:t>Clase 1: </a:t>
            </a:r>
            <a:r>
              <a:rPr lang="es-ES" b="1" dirty="0"/>
              <a:t>0.51</a:t>
            </a:r>
            <a:r>
              <a:rPr lang="es-ES" dirty="0"/>
              <a:t> → desempeño bajo para la clase de interés (presencia de depósito).</a:t>
            </a:r>
          </a:p>
          <a:p>
            <a:endParaRPr lang="es-CO" dirty="0"/>
          </a:p>
        </p:txBody>
      </p:sp>
      <p:sp>
        <p:nvSpPr>
          <p:cNvPr id="4" name="Marcador de número de diapositiva 3"/>
          <p:cNvSpPr>
            <a:spLocks noGrp="1"/>
          </p:cNvSpPr>
          <p:nvPr>
            <p:ph type="sldNum" sz="quarter" idx="5"/>
          </p:nvPr>
        </p:nvSpPr>
        <p:spPr/>
        <p:txBody>
          <a:bodyPr/>
          <a:lstStyle/>
          <a:p>
            <a:fld id="{03F2D74D-2329-45AA-8C8E-A30E4EED47C6}" type="slidenum">
              <a:rPr lang="es-CO" smtClean="0"/>
              <a:t>14</a:t>
            </a:fld>
            <a:endParaRPr lang="es-CO"/>
          </a:p>
        </p:txBody>
      </p:sp>
    </p:spTree>
    <p:extLst>
      <p:ext uri="{BB962C8B-B14F-4D97-AF65-F5344CB8AC3E}">
        <p14:creationId xmlns:p14="http://schemas.microsoft.com/office/powerpoint/2010/main" val="106220303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CO" dirty="0"/>
              <a:t>Modelo Autorregresivo Espacial</a:t>
            </a:r>
            <a:br>
              <a:rPr lang="es-CO" dirty="0"/>
            </a:br>
            <a:r>
              <a:rPr lang="es-ES" dirty="0"/>
              <a:t>Aquí WWW es la </a:t>
            </a:r>
            <a:r>
              <a:rPr lang="es-ES" b="1" dirty="0"/>
              <a:t>matriz de pesos espaciales</a:t>
            </a:r>
            <a:br>
              <a:rPr lang="es-ES" b="1" dirty="0"/>
            </a:br>
            <a:r>
              <a:rPr lang="es-ES" b="1" dirty="0"/>
              <a:t>contagio espacial</a:t>
            </a:r>
            <a:r>
              <a:rPr lang="es-ES" dirty="0"/>
              <a:t> en el fenómeno estudiado. </a:t>
            </a:r>
            <a:endParaRPr lang="es-CO" dirty="0"/>
          </a:p>
        </p:txBody>
      </p:sp>
      <p:sp>
        <p:nvSpPr>
          <p:cNvPr id="4" name="Marcador de número de diapositiva 3"/>
          <p:cNvSpPr>
            <a:spLocks noGrp="1"/>
          </p:cNvSpPr>
          <p:nvPr>
            <p:ph type="sldNum" sz="quarter" idx="5"/>
          </p:nvPr>
        </p:nvSpPr>
        <p:spPr/>
        <p:txBody>
          <a:bodyPr/>
          <a:lstStyle/>
          <a:p>
            <a:fld id="{03F2D74D-2329-45AA-8C8E-A30E4EED47C6}" type="slidenum">
              <a:rPr lang="es-CO" smtClean="0"/>
              <a:t>20</a:t>
            </a:fld>
            <a:endParaRPr lang="es-CO"/>
          </a:p>
        </p:txBody>
      </p:sp>
    </p:spTree>
    <p:extLst>
      <p:ext uri="{BB962C8B-B14F-4D97-AF65-F5344CB8AC3E}">
        <p14:creationId xmlns:p14="http://schemas.microsoft.com/office/powerpoint/2010/main" val="88984518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b="1" dirty="0"/>
              <a:t>📌 5. Distribución de residuos - modelo SAR</a:t>
            </a:r>
          </a:p>
          <a:p>
            <a:r>
              <a:rPr lang="es-ES" b="1" dirty="0"/>
              <a:t>Interpretación</a:t>
            </a:r>
            <a:r>
              <a:rPr lang="es-ES" dirty="0"/>
              <a:t>:</a:t>
            </a:r>
          </a:p>
          <a:p>
            <a:pPr>
              <a:buFont typeface="Arial" panose="020B0604020202020204" pitchFamily="34" charset="0"/>
              <a:buChar char="•"/>
            </a:pPr>
            <a:r>
              <a:rPr lang="es-ES" dirty="0"/>
              <a:t>A diferencia de los anteriores, este histograma </a:t>
            </a:r>
            <a:r>
              <a:rPr lang="es-ES" b="1" dirty="0"/>
              <a:t>sí parece más normal</a:t>
            </a:r>
            <a:r>
              <a:rPr lang="es-ES" dirty="0"/>
              <a:t>, aunque algo asimétrico hacia la derecha.</a:t>
            </a:r>
          </a:p>
          <a:p>
            <a:pPr>
              <a:buFont typeface="Arial" panose="020B0604020202020204" pitchFamily="34" charset="0"/>
              <a:buChar char="•"/>
            </a:pPr>
            <a:r>
              <a:rPr lang="es-ES" b="1" dirty="0"/>
              <a:t>Mejor que OLS y CAR</a:t>
            </a:r>
            <a:r>
              <a:rPr lang="es-ES" dirty="0"/>
              <a:t>, lo cual sugiere que el modelo SAR captura mejor la variabilidad espacial.</a:t>
            </a:r>
          </a:p>
          <a:p>
            <a:endParaRPr lang="es-CO" dirty="0"/>
          </a:p>
        </p:txBody>
      </p:sp>
      <p:sp>
        <p:nvSpPr>
          <p:cNvPr id="4" name="Marcador de número de diapositiva 3"/>
          <p:cNvSpPr>
            <a:spLocks noGrp="1"/>
          </p:cNvSpPr>
          <p:nvPr>
            <p:ph type="sldNum" sz="quarter" idx="5"/>
          </p:nvPr>
        </p:nvSpPr>
        <p:spPr/>
        <p:txBody>
          <a:bodyPr/>
          <a:lstStyle/>
          <a:p>
            <a:fld id="{03F2D74D-2329-45AA-8C8E-A30E4EED47C6}" type="slidenum">
              <a:rPr lang="es-CO" smtClean="0"/>
              <a:t>21</a:t>
            </a:fld>
            <a:endParaRPr lang="es-CO"/>
          </a:p>
        </p:txBody>
      </p:sp>
    </p:spTree>
    <p:extLst>
      <p:ext uri="{BB962C8B-B14F-4D97-AF65-F5344CB8AC3E}">
        <p14:creationId xmlns:p14="http://schemas.microsoft.com/office/powerpoint/2010/main" val="359494011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b="1" dirty="0"/>
              <a:t>Interpretación general</a:t>
            </a:r>
          </a:p>
          <a:p>
            <a:pPr>
              <a:buFont typeface="+mj-lt"/>
              <a:buAutoNum type="arabicPeriod"/>
            </a:pPr>
            <a:r>
              <a:rPr lang="es-ES" b="1" dirty="0"/>
              <a:t>Alta concentración en I (azul) y III (naranja):</a:t>
            </a:r>
            <a:endParaRPr lang="es-ES" dirty="0"/>
          </a:p>
          <a:p>
            <a:pPr marL="742950" lvl="1" indent="-285750">
              <a:buFont typeface="+mj-lt"/>
              <a:buAutoNum type="arabicPeriod"/>
            </a:pPr>
            <a:r>
              <a:rPr lang="es-ES" dirty="0"/>
              <a:t>Indica </a:t>
            </a:r>
            <a:r>
              <a:rPr lang="es-ES" b="1" dirty="0"/>
              <a:t>agrupamientos espaciales de residuos similares</a:t>
            </a:r>
            <a:r>
              <a:rPr lang="es-ES" dirty="0"/>
              <a:t>, lo que sugiere </a:t>
            </a:r>
            <a:r>
              <a:rPr lang="es-ES" b="1" dirty="0"/>
              <a:t>autocorrelación positiva local</a:t>
            </a:r>
            <a:r>
              <a:rPr lang="es-ES" dirty="0"/>
              <a:t>.</a:t>
            </a:r>
          </a:p>
          <a:p>
            <a:pPr marL="742950" lvl="1" indent="-285750">
              <a:buFont typeface="+mj-lt"/>
              <a:buAutoNum type="arabicPeriod"/>
            </a:pPr>
            <a:r>
              <a:rPr lang="es-ES" dirty="0"/>
              <a:t>Esto puede señalar zonas donde el modelo subestima o sobreestima de manera sistemática.</a:t>
            </a:r>
          </a:p>
          <a:p>
            <a:pPr>
              <a:buFont typeface="+mj-lt"/>
              <a:buAutoNum type="arabicPeriod"/>
            </a:pPr>
            <a:r>
              <a:rPr lang="es-ES" b="1" dirty="0"/>
              <a:t>Presencia de II (verde) y IV (rojo):</a:t>
            </a:r>
            <a:endParaRPr lang="es-ES" dirty="0"/>
          </a:p>
          <a:p>
            <a:pPr marL="742950" lvl="1" indent="-285750">
              <a:buFont typeface="+mj-lt"/>
              <a:buAutoNum type="arabicPeriod"/>
            </a:pPr>
            <a:r>
              <a:rPr lang="es-ES" dirty="0"/>
              <a:t>Señalan </a:t>
            </a:r>
            <a:r>
              <a:rPr lang="es-ES" b="1" dirty="0"/>
              <a:t>discontinuidades espaciales</a:t>
            </a:r>
            <a:r>
              <a:rPr lang="es-ES" dirty="0"/>
              <a:t> o </a:t>
            </a:r>
            <a:r>
              <a:rPr lang="es-ES" b="1" dirty="0"/>
              <a:t>posibles </a:t>
            </a:r>
            <a:r>
              <a:rPr lang="es-ES" b="1" dirty="0" err="1"/>
              <a:t>outliers</a:t>
            </a:r>
            <a:r>
              <a:rPr lang="es-ES" b="1" dirty="0"/>
              <a:t> espaciales</a:t>
            </a:r>
            <a:r>
              <a:rPr lang="es-ES" dirty="0"/>
              <a:t>, donde el comportamiento del residuo no se parece al de sus vecinos.</a:t>
            </a:r>
          </a:p>
          <a:p>
            <a:pPr>
              <a:buFont typeface="+mj-lt"/>
              <a:buAutoNum type="arabicPeriod"/>
            </a:pPr>
            <a:r>
              <a:rPr lang="es-ES" b="1" dirty="0"/>
              <a:t>Buena distribución simétrica:</a:t>
            </a:r>
            <a:endParaRPr lang="es-ES" dirty="0"/>
          </a:p>
          <a:p>
            <a:pPr marL="742950" lvl="1" indent="-285750">
              <a:buFont typeface="+mj-lt"/>
              <a:buAutoNum type="arabicPeriod"/>
            </a:pPr>
            <a:r>
              <a:rPr lang="es-ES" dirty="0"/>
              <a:t>Aunque hay cierta autocorrelación local, no hay un sesgo extremo. El modelo SAR ha corregido parte de la dependencia espacial, pero no completamente.</a:t>
            </a:r>
          </a:p>
          <a:p>
            <a:endParaRPr lang="es-CO" dirty="0"/>
          </a:p>
        </p:txBody>
      </p:sp>
      <p:sp>
        <p:nvSpPr>
          <p:cNvPr id="4" name="Marcador de número de diapositiva 3"/>
          <p:cNvSpPr>
            <a:spLocks noGrp="1"/>
          </p:cNvSpPr>
          <p:nvPr>
            <p:ph type="sldNum" sz="quarter" idx="5"/>
          </p:nvPr>
        </p:nvSpPr>
        <p:spPr/>
        <p:txBody>
          <a:bodyPr/>
          <a:lstStyle/>
          <a:p>
            <a:fld id="{03F2D74D-2329-45AA-8C8E-A30E4EED47C6}" type="slidenum">
              <a:rPr lang="es-CO" smtClean="0"/>
              <a:t>22</a:t>
            </a:fld>
            <a:endParaRPr lang="es-CO"/>
          </a:p>
        </p:txBody>
      </p:sp>
    </p:spTree>
    <p:extLst>
      <p:ext uri="{BB962C8B-B14F-4D97-AF65-F5344CB8AC3E}">
        <p14:creationId xmlns:p14="http://schemas.microsoft.com/office/powerpoint/2010/main" val="284851792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pPr>
              <a:buFont typeface="Arial" panose="020B0604020202020204" pitchFamily="34" charset="0"/>
              <a:buChar char="•"/>
            </a:pPr>
            <a:r>
              <a:rPr lang="es-ES" dirty="0"/>
              <a:t>También se ve una </a:t>
            </a:r>
            <a:r>
              <a:rPr lang="es-ES" b="1" dirty="0" err="1"/>
              <a:t>bimodalidad</a:t>
            </a:r>
            <a:r>
              <a:rPr lang="es-ES" dirty="0"/>
              <a:t>, pero menos marcada que en CAR.</a:t>
            </a:r>
          </a:p>
          <a:p>
            <a:pPr>
              <a:buFont typeface="Arial" panose="020B0604020202020204" pitchFamily="34" charset="0"/>
              <a:buChar char="•"/>
            </a:pPr>
            <a:r>
              <a:rPr lang="es-ES" dirty="0"/>
              <a:t>Aún así, </a:t>
            </a:r>
            <a:r>
              <a:rPr lang="es-ES" b="1" dirty="0"/>
              <a:t>los residuos no son normales</a:t>
            </a:r>
            <a:r>
              <a:rPr lang="es-ES" dirty="0"/>
              <a:t>, lo cual puede invalidar ciertos test estadísticos.</a:t>
            </a:r>
          </a:p>
          <a:p>
            <a:pPr>
              <a:buFont typeface="Arial" panose="020B0604020202020204" pitchFamily="34" charset="0"/>
              <a:buChar char="•"/>
            </a:pPr>
            <a:r>
              <a:rPr lang="es-ES" b="1" dirty="0"/>
              <a:t>OLS no modela bien la estructura espacial</a:t>
            </a:r>
            <a:r>
              <a:rPr lang="es-ES" dirty="0"/>
              <a:t>, por eso se observan patrones no aleatorios.</a:t>
            </a:r>
          </a:p>
          <a:p>
            <a:endParaRPr lang="es-CO" dirty="0"/>
          </a:p>
        </p:txBody>
      </p:sp>
      <p:sp>
        <p:nvSpPr>
          <p:cNvPr id="4" name="Marcador de número de diapositiva 3"/>
          <p:cNvSpPr>
            <a:spLocks noGrp="1"/>
          </p:cNvSpPr>
          <p:nvPr>
            <p:ph type="sldNum" sz="quarter" idx="5"/>
          </p:nvPr>
        </p:nvSpPr>
        <p:spPr/>
        <p:txBody>
          <a:bodyPr/>
          <a:lstStyle/>
          <a:p>
            <a:fld id="{03F2D74D-2329-45AA-8C8E-A30E4EED47C6}" type="slidenum">
              <a:rPr lang="es-CO" smtClean="0"/>
              <a:t>23</a:t>
            </a:fld>
            <a:endParaRPr lang="es-CO"/>
          </a:p>
        </p:txBody>
      </p:sp>
    </p:spTree>
    <p:extLst>
      <p:ext uri="{BB962C8B-B14F-4D97-AF65-F5344CB8AC3E}">
        <p14:creationId xmlns:p14="http://schemas.microsoft.com/office/powerpoint/2010/main" val="1026179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dirty="0"/>
              <a:t>Los modelos CAR se utilizan sobre todo cuando el interés es modelar </a:t>
            </a:r>
            <a:r>
              <a:rPr lang="es-ES" b="1" dirty="0"/>
              <a:t>efectos espaciales residuales o aleatorios</a:t>
            </a:r>
            <a:br>
              <a:rPr lang="es-ES" b="1" dirty="0"/>
            </a:br>
            <a:r>
              <a:rPr lang="es-ES" dirty="0"/>
              <a:t>Si </a:t>
            </a:r>
            <a:r>
              <a:rPr lang="es-ES" b="1" dirty="0"/>
              <a:t>λ &gt; 0</a:t>
            </a:r>
            <a:r>
              <a:rPr lang="es-ES" dirty="0"/>
              <a:t>, hay autocorrelación espacial </a:t>
            </a:r>
            <a:r>
              <a:rPr lang="es-ES" b="1" dirty="0"/>
              <a:t>positiva</a:t>
            </a:r>
            <a:r>
              <a:rPr lang="es-ES" dirty="0"/>
              <a:t>: los errores similares se agrupan espacialmente (zonas con sobreestimaciones o subestimaciones tienden a agruparse).</a:t>
            </a:r>
            <a:endParaRPr lang="es-CO" dirty="0"/>
          </a:p>
        </p:txBody>
      </p:sp>
      <p:sp>
        <p:nvSpPr>
          <p:cNvPr id="4" name="Marcador de número de diapositiva 3"/>
          <p:cNvSpPr>
            <a:spLocks noGrp="1"/>
          </p:cNvSpPr>
          <p:nvPr>
            <p:ph type="sldNum" sz="quarter" idx="5"/>
          </p:nvPr>
        </p:nvSpPr>
        <p:spPr/>
        <p:txBody>
          <a:bodyPr/>
          <a:lstStyle/>
          <a:p>
            <a:fld id="{03F2D74D-2329-45AA-8C8E-A30E4EED47C6}" type="slidenum">
              <a:rPr lang="es-CO" smtClean="0"/>
              <a:t>25</a:t>
            </a:fld>
            <a:endParaRPr lang="es-CO"/>
          </a:p>
        </p:txBody>
      </p:sp>
    </p:spTree>
    <p:extLst>
      <p:ext uri="{BB962C8B-B14F-4D97-AF65-F5344CB8AC3E}">
        <p14:creationId xmlns:p14="http://schemas.microsoft.com/office/powerpoint/2010/main" val="280074229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s-ES" b="1" dirty="0"/>
              <a:t>Conclusión</a:t>
            </a:r>
            <a:r>
              <a:rPr lang="es-ES" dirty="0"/>
              <a:t>: el modelo CAR no captura completamente la variabilidad espacial, o los datos podrían tener subgrupos ocultos.</a:t>
            </a:r>
            <a:endParaRPr lang="es-CO" dirty="0"/>
          </a:p>
          <a:p>
            <a:endParaRPr lang="es-CO" dirty="0"/>
          </a:p>
        </p:txBody>
      </p:sp>
      <p:sp>
        <p:nvSpPr>
          <p:cNvPr id="4" name="Marcador de número de diapositiva 3"/>
          <p:cNvSpPr>
            <a:spLocks noGrp="1"/>
          </p:cNvSpPr>
          <p:nvPr>
            <p:ph type="sldNum" sz="quarter" idx="5"/>
          </p:nvPr>
        </p:nvSpPr>
        <p:spPr/>
        <p:txBody>
          <a:bodyPr/>
          <a:lstStyle/>
          <a:p>
            <a:fld id="{03F2D74D-2329-45AA-8C8E-A30E4EED47C6}" type="slidenum">
              <a:rPr lang="es-CO" smtClean="0"/>
              <a:t>26</a:t>
            </a:fld>
            <a:endParaRPr lang="es-CO"/>
          </a:p>
        </p:txBody>
      </p:sp>
    </p:spTree>
    <p:extLst>
      <p:ext uri="{BB962C8B-B14F-4D97-AF65-F5344CB8AC3E}">
        <p14:creationId xmlns:p14="http://schemas.microsoft.com/office/powerpoint/2010/main" val="247698263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pPr>
              <a:buFont typeface="Arial" panose="020B0604020202020204" pitchFamily="34" charset="0"/>
              <a:buNone/>
            </a:pPr>
            <a:r>
              <a:rPr lang="es-CO" dirty="0"/>
              <a:t>Mínimos Cuadrados Ordinarios </a:t>
            </a:r>
          </a:p>
          <a:p>
            <a:pPr>
              <a:buFont typeface="Arial" panose="020B0604020202020204" pitchFamily="34" charset="0"/>
              <a:buNone/>
            </a:pPr>
            <a:r>
              <a:rPr lang="es-CO" dirty="0"/>
              <a:t>Sirve para no existe </a:t>
            </a:r>
            <a:r>
              <a:rPr lang="es-CO" b="1" dirty="0"/>
              <a:t>dependencia espacial</a:t>
            </a:r>
            <a:r>
              <a:rPr lang="es-CO" dirty="0"/>
              <a:t> significativa. </a:t>
            </a:r>
            <a:br>
              <a:rPr lang="es-ES" dirty="0"/>
            </a:br>
            <a:r>
              <a:rPr lang="es-ES" dirty="0"/>
              <a:t>También se ve una </a:t>
            </a:r>
            <a:r>
              <a:rPr lang="es-ES" b="1" dirty="0" err="1"/>
              <a:t>bimodalidad</a:t>
            </a:r>
            <a:r>
              <a:rPr lang="es-ES" dirty="0"/>
              <a:t>, pero menos marcada que en CAR.</a:t>
            </a:r>
          </a:p>
          <a:p>
            <a:pPr>
              <a:buFont typeface="Arial" panose="020B0604020202020204" pitchFamily="34" charset="0"/>
              <a:buChar char="•"/>
            </a:pPr>
            <a:r>
              <a:rPr lang="es-ES" dirty="0"/>
              <a:t>Aún así, </a:t>
            </a:r>
            <a:r>
              <a:rPr lang="es-ES" b="1" dirty="0"/>
              <a:t>los residuos no son normales</a:t>
            </a:r>
            <a:r>
              <a:rPr lang="es-ES" dirty="0"/>
              <a:t>, lo cual puede invalidar ciertos test estadísticos.</a:t>
            </a:r>
          </a:p>
          <a:p>
            <a:pPr>
              <a:buFont typeface="Arial" panose="020B0604020202020204" pitchFamily="34" charset="0"/>
              <a:buChar char="•"/>
            </a:pPr>
            <a:r>
              <a:rPr lang="es-ES" b="1" dirty="0"/>
              <a:t>OLS no modela bien la estructura espacial</a:t>
            </a:r>
            <a:r>
              <a:rPr lang="es-ES" dirty="0"/>
              <a:t>, por eso se observan patrones no aleatorios.</a:t>
            </a:r>
          </a:p>
          <a:p>
            <a:pPr>
              <a:buFont typeface="Arial" panose="020B0604020202020204" pitchFamily="34" charset="0"/>
              <a:buChar char="•"/>
            </a:pPr>
            <a:endParaRPr lang="es-ES" dirty="0"/>
          </a:p>
          <a:p>
            <a:r>
              <a:rPr lang="es-ES" dirty="0"/>
              <a:t>Modelo Normalidad </a:t>
            </a:r>
            <a:r>
              <a:rPr lang="es-ES" dirty="0" err="1"/>
              <a:t>Bimodalidad</a:t>
            </a:r>
            <a:r>
              <a:rPr lang="es-ES" dirty="0"/>
              <a:t> Patrones en residuos              Nota </a:t>
            </a:r>
          </a:p>
          <a:p>
            <a:r>
              <a:rPr lang="es-ES" b="1" dirty="0"/>
              <a:t>OLS</a:t>
            </a:r>
            <a:r>
              <a:rPr lang="es-ES" dirty="0"/>
              <a:t>             ❌            Moderada       Sí                            No modela dependencia espacial </a:t>
            </a:r>
          </a:p>
          <a:p>
            <a:r>
              <a:rPr lang="es-ES" b="1" dirty="0"/>
              <a:t>CAR</a:t>
            </a:r>
            <a:r>
              <a:rPr lang="es-ES" dirty="0"/>
              <a:t>            ❌                 Alta               Sí                           Modelo espacial, pero aún deficiente </a:t>
            </a:r>
          </a:p>
          <a:p>
            <a:r>
              <a:rPr lang="es-ES" b="1" dirty="0"/>
              <a:t>SAR</a:t>
            </a:r>
            <a:r>
              <a:rPr lang="es-ES" dirty="0"/>
              <a:t>            ⭘ (mejor)     Baja      Sí, pero patrón estructurado       Mejor que los anteriores </a:t>
            </a:r>
            <a:endParaRPr lang="es-CO" dirty="0"/>
          </a:p>
        </p:txBody>
      </p:sp>
      <p:sp>
        <p:nvSpPr>
          <p:cNvPr id="4" name="Marcador de número de diapositiva 3"/>
          <p:cNvSpPr>
            <a:spLocks noGrp="1"/>
          </p:cNvSpPr>
          <p:nvPr>
            <p:ph type="sldNum" sz="quarter" idx="5"/>
          </p:nvPr>
        </p:nvSpPr>
        <p:spPr/>
        <p:txBody>
          <a:bodyPr/>
          <a:lstStyle/>
          <a:p>
            <a:fld id="{03F2D74D-2329-45AA-8C8E-A30E4EED47C6}" type="slidenum">
              <a:rPr lang="es-CO" smtClean="0"/>
              <a:t>28</a:t>
            </a:fld>
            <a:endParaRPr lang="es-CO"/>
          </a:p>
        </p:txBody>
      </p:sp>
    </p:spTree>
    <p:extLst>
      <p:ext uri="{BB962C8B-B14F-4D97-AF65-F5344CB8AC3E}">
        <p14:creationId xmlns:p14="http://schemas.microsoft.com/office/powerpoint/2010/main" val="402054783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b="1" dirty="0"/>
              <a:t>1. </a:t>
            </a:r>
            <a:r>
              <a:rPr lang="es-ES" b="1" dirty="0" err="1"/>
              <a:t>Coef</a:t>
            </a:r>
            <a:r>
              <a:rPr lang="es-ES" b="1" dirty="0"/>
              <a:t>. local: Z (Profundidad del Moho)</a:t>
            </a:r>
          </a:p>
          <a:p>
            <a:pPr>
              <a:buFont typeface="Arial" panose="020B0604020202020204" pitchFamily="34" charset="0"/>
              <a:buChar char="•"/>
            </a:pPr>
            <a:r>
              <a:rPr lang="es-ES" b="1" dirty="0"/>
              <a:t>Rojo (coeficiente positivo)</a:t>
            </a:r>
            <a:r>
              <a:rPr lang="es-ES" dirty="0"/>
              <a:t>: En estas zonas, </a:t>
            </a:r>
            <a:r>
              <a:rPr lang="es-ES" b="1" dirty="0"/>
              <a:t>mayor profundidad del Moho aumenta la probabilidad de presencia</a:t>
            </a:r>
            <a:r>
              <a:rPr lang="es-ES" dirty="0"/>
              <a:t> del fenómeno que estás modelando (ej. depósitos).</a:t>
            </a:r>
          </a:p>
          <a:p>
            <a:pPr>
              <a:buFont typeface="Arial" panose="020B0604020202020204" pitchFamily="34" charset="0"/>
              <a:buChar char="•"/>
            </a:pPr>
            <a:r>
              <a:rPr lang="es-ES" b="1" dirty="0"/>
              <a:t>Azul (coeficiente negativo)</a:t>
            </a:r>
            <a:r>
              <a:rPr lang="es-ES" dirty="0"/>
              <a:t>: Aquí, </a:t>
            </a:r>
            <a:r>
              <a:rPr lang="es-ES" b="1" dirty="0"/>
              <a:t>mayor profundidad reduce la probabilidad</a:t>
            </a:r>
            <a:r>
              <a:rPr lang="es-ES" dirty="0"/>
              <a:t>.</a:t>
            </a:r>
          </a:p>
          <a:p>
            <a:pPr>
              <a:buFont typeface="Arial" panose="020B0604020202020204" pitchFamily="34" charset="0"/>
              <a:buChar char="•"/>
            </a:pPr>
            <a:r>
              <a:rPr lang="es-ES" b="1" dirty="0"/>
              <a:t>Gris (cercano a 0)</a:t>
            </a:r>
            <a:r>
              <a:rPr lang="es-ES" dirty="0"/>
              <a:t>: El efecto es </a:t>
            </a:r>
            <a:r>
              <a:rPr lang="es-ES" b="1" dirty="0"/>
              <a:t>neutral o insignificante</a:t>
            </a:r>
            <a:r>
              <a:rPr lang="es-ES" dirty="0"/>
              <a:t>.</a:t>
            </a:r>
          </a:p>
          <a:p>
            <a:r>
              <a:rPr lang="es-ES" dirty="0"/>
              <a:t>👉 Se observa un patrón espacial diferenciado en el centro-occidente, donde Z tiene un efecto positivo en algunos lugares y negativo en otros, lo que sugiere un rol </a:t>
            </a:r>
            <a:r>
              <a:rPr lang="es-ES" b="1" dirty="0"/>
              <a:t>localizado</a:t>
            </a:r>
            <a:r>
              <a:rPr lang="es-ES" dirty="0"/>
              <a:t>.</a:t>
            </a:r>
          </a:p>
          <a:p>
            <a:r>
              <a:rPr lang="es-ES" b="1" dirty="0"/>
              <a:t>🗺️ 2. </a:t>
            </a:r>
            <a:r>
              <a:rPr lang="es-ES" b="1" dirty="0" err="1"/>
              <a:t>Coef</a:t>
            </a:r>
            <a:r>
              <a:rPr lang="es-ES" b="1" dirty="0"/>
              <a:t>. local: azufre</a:t>
            </a:r>
          </a:p>
          <a:p>
            <a:pPr>
              <a:buFont typeface="Arial" panose="020B0604020202020204" pitchFamily="34" charset="0"/>
              <a:buChar char="•"/>
            </a:pPr>
            <a:r>
              <a:rPr lang="es-ES" b="1" dirty="0"/>
              <a:t>Rojo</a:t>
            </a:r>
            <a:r>
              <a:rPr lang="es-ES" dirty="0"/>
              <a:t>: Alta concentración de azufre está </a:t>
            </a:r>
            <a:r>
              <a:rPr lang="es-ES" b="1" dirty="0"/>
              <a:t>positivamente asociada</a:t>
            </a:r>
            <a:r>
              <a:rPr lang="es-ES" dirty="0"/>
              <a:t> con la presencia.</a:t>
            </a:r>
          </a:p>
          <a:p>
            <a:pPr>
              <a:buFont typeface="Arial" panose="020B0604020202020204" pitchFamily="34" charset="0"/>
              <a:buChar char="•"/>
            </a:pPr>
            <a:r>
              <a:rPr lang="es-ES" b="1" dirty="0"/>
              <a:t>Azul</a:t>
            </a:r>
            <a:r>
              <a:rPr lang="es-ES" dirty="0"/>
              <a:t>: Alta concentración de azufre está </a:t>
            </a:r>
            <a:r>
              <a:rPr lang="es-ES" b="1" dirty="0"/>
              <a:t>negativamente asociada</a:t>
            </a:r>
            <a:r>
              <a:rPr lang="es-ES" dirty="0"/>
              <a:t>.</a:t>
            </a:r>
          </a:p>
          <a:p>
            <a:pPr>
              <a:buFont typeface="Arial" panose="020B0604020202020204" pitchFamily="34" charset="0"/>
              <a:buChar char="•"/>
            </a:pPr>
            <a:r>
              <a:rPr lang="es-ES" dirty="0"/>
              <a:t>El patrón muestra zonas </a:t>
            </a:r>
            <a:r>
              <a:rPr lang="es-ES" b="1" dirty="0"/>
              <a:t>muy contrastadas</a:t>
            </a:r>
            <a:r>
              <a:rPr lang="es-ES" dirty="0"/>
              <a:t>, especialmente en el occidente (positiva) y nororiente (negativa).</a:t>
            </a:r>
          </a:p>
          <a:p>
            <a:r>
              <a:rPr lang="es-ES" dirty="0"/>
              <a:t>👉 Esto sugiere que el </a:t>
            </a:r>
            <a:r>
              <a:rPr lang="es-ES" b="1" dirty="0"/>
              <a:t>azufre es un indicador geológico importante</a:t>
            </a:r>
            <a:r>
              <a:rPr lang="es-ES" dirty="0"/>
              <a:t>, pero su efecto depende </a:t>
            </a:r>
            <a:r>
              <a:rPr lang="es-ES" b="1" dirty="0"/>
              <a:t>fuertemente del contexto geológico local</a:t>
            </a:r>
            <a:r>
              <a:rPr lang="es-ES" dirty="0"/>
              <a:t>.</a:t>
            </a:r>
          </a:p>
          <a:p>
            <a:r>
              <a:rPr lang="es-ES" b="1" dirty="0"/>
              <a:t>🗺️ 3. </a:t>
            </a:r>
            <a:r>
              <a:rPr lang="es-ES" b="1" dirty="0" err="1"/>
              <a:t>Coef</a:t>
            </a:r>
            <a:r>
              <a:rPr lang="es-ES" b="1" dirty="0"/>
              <a:t>. local: edad (Edad de las rocas)</a:t>
            </a:r>
          </a:p>
          <a:p>
            <a:pPr>
              <a:buFont typeface="Arial" panose="020B0604020202020204" pitchFamily="34" charset="0"/>
              <a:buChar char="•"/>
            </a:pPr>
            <a:r>
              <a:rPr lang="es-ES" b="1" dirty="0"/>
              <a:t>Rojo</a:t>
            </a:r>
            <a:r>
              <a:rPr lang="es-ES" dirty="0"/>
              <a:t>: A mayor edad de las rocas, </a:t>
            </a:r>
            <a:r>
              <a:rPr lang="es-ES" b="1" dirty="0"/>
              <a:t>mayor probabilidad</a:t>
            </a:r>
            <a:r>
              <a:rPr lang="es-ES" dirty="0"/>
              <a:t> de presencia.</a:t>
            </a:r>
          </a:p>
          <a:p>
            <a:pPr>
              <a:buFont typeface="Arial" panose="020B0604020202020204" pitchFamily="34" charset="0"/>
              <a:buChar char="•"/>
            </a:pPr>
            <a:r>
              <a:rPr lang="es-ES" b="1" dirty="0"/>
              <a:t>Azul</a:t>
            </a:r>
            <a:r>
              <a:rPr lang="es-ES" dirty="0"/>
              <a:t>: A mayor edad, </a:t>
            </a:r>
            <a:r>
              <a:rPr lang="es-ES" b="1" dirty="0"/>
              <a:t>menor probabilidad</a:t>
            </a:r>
            <a:r>
              <a:rPr lang="es-ES" dirty="0"/>
              <a:t>.</a:t>
            </a:r>
          </a:p>
          <a:p>
            <a:pPr>
              <a:buFont typeface="Arial" panose="020B0604020202020204" pitchFamily="34" charset="0"/>
              <a:buChar char="•"/>
            </a:pPr>
            <a:r>
              <a:rPr lang="es-ES" dirty="0"/>
              <a:t>En gran parte del país, el efecto es </a:t>
            </a:r>
            <a:r>
              <a:rPr lang="es-ES" b="1" dirty="0"/>
              <a:t>positivo y débil</a:t>
            </a:r>
            <a:r>
              <a:rPr lang="es-ES" dirty="0"/>
              <a:t>; pero hay zonas donde es fuertemente </a:t>
            </a:r>
            <a:r>
              <a:rPr lang="es-ES" b="1" dirty="0"/>
              <a:t>negativo o positivo</a:t>
            </a:r>
            <a:r>
              <a:rPr lang="es-ES" dirty="0"/>
              <a:t>, como en el centro-occidente.</a:t>
            </a:r>
          </a:p>
          <a:p>
            <a:r>
              <a:rPr lang="es-ES" dirty="0"/>
              <a:t>👉 La edad de las rocas podría estar actuando como un </a:t>
            </a:r>
            <a:r>
              <a:rPr lang="es-ES" b="1" dirty="0"/>
              <a:t>proxy de procesos geológicos</a:t>
            </a:r>
            <a:r>
              <a:rPr lang="es-ES" dirty="0"/>
              <a:t>, pero con comportamientos </a:t>
            </a:r>
            <a:r>
              <a:rPr lang="es-ES" b="1" dirty="0"/>
              <a:t>espacialmente diferenciados</a:t>
            </a:r>
            <a:r>
              <a:rPr lang="es-ES" dirty="0"/>
              <a:t>.</a:t>
            </a:r>
          </a:p>
          <a:p>
            <a:r>
              <a:rPr lang="es-ES" b="1" dirty="0"/>
              <a:t>🗺️ 4. </a:t>
            </a:r>
            <a:r>
              <a:rPr lang="es-ES" b="1" dirty="0" err="1"/>
              <a:t>Coef</a:t>
            </a:r>
            <a:r>
              <a:rPr lang="es-ES" b="1" dirty="0"/>
              <a:t>. local: </a:t>
            </a:r>
            <a:r>
              <a:rPr lang="es-ES" b="1" dirty="0" err="1"/>
              <a:t>grad</a:t>
            </a:r>
            <a:r>
              <a:rPr lang="es-ES" b="1" dirty="0"/>
              <a:t> (Gradiente geotérmico)</a:t>
            </a:r>
          </a:p>
          <a:p>
            <a:pPr>
              <a:buFont typeface="Arial" panose="020B0604020202020204" pitchFamily="34" charset="0"/>
              <a:buChar char="•"/>
            </a:pPr>
            <a:r>
              <a:rPr lang="es-ES" b="1" dirty="0"/>
              <a:t>Rojo</a:t>
            </a:r>
            <a:r>
              <a:rPr lang="es-ES" dirty="0"/>
              <a:t>: Aumento del gradiente → mayor probabilidad.</a:t>
            </a:r>
          </a:p>
          <a:p>
            <a:pPr>
              <a:buFont typeface="Arial" panose="020B0604020202020204" pitchFamily="34" charset="0"/>
              <a:buChar char="•"/>
            </a:pPr>
            <a:r>
              <a:rPr lang="es-ES" b="1" dirty="0"/>
              <a:t>Azul</a:t>
            </a:r>
            <a:r>
              <a:rPr lang="es-ES" dirty="0"/>
              <a:t>: Aumento del gradiente → menor probabilidad.</a:t>
            </a:r>
          </a:p>
          <a:p>
            <a:pPr>
              <a:buFont typeface="Arial" panose="020B0604020202020204" pitchFamily="34" charset="0"/>
              <a:buChar char="•"/>
            </a:pPr>
            <a:r>
              <a:rPr lang="es-ES" dirty="0"/>
              <a:t>Se ve claramente un </a:t>
            </a:r>
            <a:r>
              <a:rPr lang="es-ES" b="1" dirty="0"/>
              <a:t>efecto negativo amplio</a:t>
            </a:r>
            <a:r>
              <a:rPr lang="es-ES" dirty="0"/>
              <a:t>, con pocas regiones donde tiene efecto positivo.</a:t>
            </a:r>
          </a:p>
          <a:p>
            <a:r>
              <a:rPr lang="es-ES" dirty="0"/>
              <a:t>👉 Esto sugiere que en la mayoría del país, </a:t>
            </a:r>
            <a:r>
              <a:rPr lang="es-ES" b="1" dirty="0"/>
              <a:t>altos gradientes no favorecen</a:t>
            </a:r>
            <a:r>
              <a:rPr lang="es-ES" dirty="0"/>
              <a:t> la presencia del fenómeno modelado. Pueden ser </a:t>
            </a:r>
            <a:r>
              <a:rPr lang="es-ES" b="1" dirty="0"/>
              <a:t>zonas de calor superficial no relacionadas con mineralización profunda</a:t>
            </a:r>
            <a:r>
              <a:rPr lang="es-ES" dirty="0"/>
              <a:t>.</a:t>
            </a:r>
          </a:p>
          <a:p>
            <a:endParaRPr lang="es-CO" dirty="0"/>
          </a:p>
        </p:txBody>
      </p:sp>
      <p:sp>
        <p:nvSpPr>
          <p:cNvPr id="4" name="Marcador de número de diapositiva 3"/>
          <p:cNvSpPr>
            <a:spLocks noGrp="1"/>
          </p:cNvSpPr>
          <p:nvPr>
            <p:ph type="sldNum" sz="quarter" idx="5"/>
          </p:nvPr>
        </p:nvSpPr>
        <p:spPr/>
        <p:txBody>
          <a:bodyPr/>
          <a:lstStyle/>
          <a:p>
            <a:fld id="{03F2D74D-2329-45AA-8C8E-A30E4EED47C6}" type="slidenum">
              <a:rPr lang="es-CO" smtClean="0"/>
              <a:t>30</a:t>
            </a:fld>
            <a:endParaRPr lang="es-CO"/>
          </a:p>
        </p:txBody>
      </p:sp>
    </p:spTree>
    <p:extLst>
      <p:ext uri="{BB962C8B-B14F-4D97-AF65-F5344CB8AC3E}">
        <p14:creationId xmlns:p14="http://schemas.microsoft.com/office/powerpoint/2010/main" val="265833153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b="1" dirty="0"/>
              <a:t>2. Métricas de evaluación explicadas</a:t>
            </a:r>
          </a:p>
          <a:p>
            <a:r>
              <a:rPr lang="es-ES" b="1" dirty="0"/>
              <a:t>◾ AIC (Akaike </a:t>
            </a:r>
            <a:r>
              <a:rPr lang="es-ES" b="1" dirty="0" err="1"/>
              <a:t>Information</a:t>
            </a:r>
            <a:r>
              <a:rPr lang="es-ES" b="1" dirty="0"/>
              <a:t> </a:t>
            </a:r>
            <a:r>
              <a:rPr lang="es-ES" b="1" dirty="0" err="1"/>
              <a:t>Criterion</a:t>
            </a:r>
            <a:r>
              <a:rPr lang="es-ES" b="1" dirty="0"/>
              <a:t>)</a:t>
            </a:r>
          </a:p>
          <a:p>
            <a:pPr>
              <a:buFont typeface="Arial" panose="020B0604020202020204" pitchFamily="34" charset="0"/>
              <a:buChar char="•"/>
            </a:pPr>
            <a:r>
              <a:rPr lang="es-ES" dirty="0"/>
              <a:t>Mide qué tan bien se ajusta el modelo penalizando la complejidad.</a:t>
            </a:r>
          </a:p>
          <a:p>
            <a:pPr>
              <a:buFont typeface="Arial" panose="020B0604020202020204" pitchFamily="34" charset="0"/>
              <a:buChar char="•"/>
            </a:pPr>
            <a:r>
              <a:rPr lang="es-ES" b="1" dirty="0"/>
              <a:t>Menor AIC es mejor.</a:t>
            </a:r>
            <a:endParaRPr lang="es-ES" dirty="0"/>
          </a:p>
          <a:p>
            <a:pPr>
              <a:buFont typeface="Arial" panose="020B0604020202020204" pitchFamily="34" charset="0"/>
              <a:buChar char="•"/>
            </a:pPr>
            <a:r>
              <a:rPr lang="es-ES" dirty="0"/>
              <a:t>Útil para comparar modelos: uno con AIC más bajo es preferible (si todos se ajustan al mismo conjunto de datos).</a:t>
            </a:r>
          </a:p>
          <a:p>
            <a:r>
              <a:rPr lang="es-ES" b="1" dirty="0"/>
              <a:t>◾ Log-</a:t>
            </a:r>
            <a:r>
              <a:rPr lang="es-ES" b="1" dirty="0" err="1"/>
              <a:t>Likelihood</a:t>
            </a:r>
            <a:endParaRPr lang="es-ES" b="1" dirty="0"/>
          </a:p>
          <a:p>
            <a:pPr>
              <a:buFont typeface="Arial" panose="020B0604020202020204" pitchFamily="34" charset="0"/>
              <a:buChar char="•"/>
            </a:pPr>
            <a:r>
              <a:rPr lang="es-ES" dirty="0"/>
              <a:t>Mide la "verosimilitud" del modelo, es decir, qué tan probable es observar los datos dado el modelo.</a:t>
            </a:r>
          </a:p>
          <a:p>
            <a:pPr>
              <a:buFont typeface="Arial" panose="020B0604020202020204" pitchFamily="34" charset="0"/>
              <a:buChar char="•"/>
            </a:pPr>
            <a:r>
              <a:rPr lang="es-ES" b="1" dirty="0"/>
              <a:t>Más alto (menos negativo) es mejor</a:t>
            </a:r>
            <a:r>
              <a:rPr lang="es-ES" dirty="0"/>
              <a:t>.</a:t>
            </a:r>
          </a:p>
          <a:p>
            <a:pPr>
              <a:buFont typeface="Arial" panose="020B0604020202020204" pitchFamily="34" charset="0"/>
              <a:buChar char="•"/>
            </a:pPr>
            <a:r>
              <a:rPr lang="es-ES" dirty="0"/>
              <a:t>Se usa internamente para calcular AIC.</a:t>
            </a:r>
          </a:p>
          <a:p>
            <a:r>
              <a:rPr lang="es-ES" b="1" dirty="0"/>
              <a:t>◾ Coeficiente espacial (rho o lambda)</a:t>
            </a:r>
          </a:p>
          <a:p>
            <a:pPr>
              <a:buFont typeface="Arial" panose="020B0604020202020204" pitchFamily="34" charset="0"/>
              <a:buChar char="•"/>
            </a:pPr>
            <a:r>
              <a:rPr lang="es-ES" dirty="0"/>
              <a:t>Indica </a:t>
            </a:r>
            <a:r>
              <a:rPr lang="es-ES" b="1" dirty="0"/>
              <a:t>cuánto influye la variable dependiente en los vecinos</a:t>
            </a:r>
            <a:r>
              <a:rPr lang="es-ES" dirty="0"/>
              <a:t>.</a:t>
            </a:r>
          </a:p>
          <a:p>
            <a:pPr>
              <a:buFont typeface="Arial" panose="020B0604020202020204" pitchFamily="34" charset="0"/>
              <a:buChar char="•"/>
            </a:pPr>
            <a:r>
              <a:rPr lang="es-ES" dirty="0"/>
              <a:t>Si rho ≈ 0, no hay efecto espacial.</a:t>
            </a:r>
          </a:p>
          <a:p>
            <a:pPr>
              <a:buFont typeface="Arial" panose="020B0604020202020204" pitchFamily="34" charset="0"/>
              <a:buChar char="•"/>
            </a:pPr>
            <a:r>
              <a:rPr lang="es-ES" dirty="0"/>
              <a:t>Si rho es significativo y positivo, indica que la variable dependiente tiende a </a:t>
            </a:r>
            <a:r>
              <a:rPr lang="es-ES" b="1" dirty="0"/>
              <a:t>parecerse entre vecinos</a:t>
            </a:r>
            <a:r>
              <a:rPr lang="es-ES" dirty="0"/>
              <a:t>.</a:t>
            </a:r>
          </a:p>
          <a:p>
            <a:pPr>
              <a:buFont typeface="Arial" panose="020B0604020202020204" pitchFamily="34" charset="0"/>
              <a:buChar char="•"/>
            </a:pPr>
            <a:r>
              <a:rPr lang="es-ES" dirty="0"/>
              <a:t>En modelos:</a:t>
            </a:r>
          </a:p>
          <a:p>
            <a:pPr marL="742950" lvl="1" indent="-285750">
              <a:buFont typeface="Arial" panose="020B0604020202020204" pitchFamily="34" charset="0"/>
              <a:buChar char="•"/>
            </a:pPr>
            <a:r>
              <a:rPr lang="es-ES" b="1" dirty="0"/>
              <a:t>SAR (</a:t>
            </a:r>
            <a:r>
              <a:rPr lang="es-ES" b="1" dirty="0" err="1"/>
              <a:t>ML_Lag</a:t>
            </a:r>
            <a:r>
              <a:rPr lang="es-ES" b="1" dirty="0"/>
              <a:t>)</a:t>
            </a:r>
            <a:r>
              <a:rPr lang="es-ES" dirty="0"/>
              <a:t>: usa rho (dependencia en la variable dependiente vecina).</a:t>
            </a:r>
          </a:p>
          <a:p>
            <a:pPr marL="742950" lvl="1" indent="-285750">
              <a:buFont typeface="Arial" panose="020B0604020202020204" pitchFamily="34" charset="0"/>
              <a:buChar char="•"/>
            </a:pPr>
            <a:r>
              <a:rPr lang="es-ES" b="1" dirty="0"/>
              <a:t>CAR (</a:t>
            </a:r>
            <a:r>
              <a:rPr lang="es-ES" b="1" dirty="0" err="1"/>
              <a:t>ML_Error</a:t>
            </a:r>
            <a:r>
              <a:rPr lang="es-ES" b="1" dirty="0"/>
              <a:t>)</a:t>
            </a:r>
            <a:r>
              <a:rPr lang="es-ES" dirty="0"/>
              <a:t>: usa lambda (autocorrelación en el error/residuo).</a:t>
            </a:r>
          </a:p>
          <a:p>
            <a:r>
              <a:rPr lang="es-ES" b="1" dirty="0"/>
              <a:t>◾ </a:t>
            </a:r>
            <a:r>
              <a:rPr lang="es-ES" b="1" dirty="0" err="1"/>
              <a:t>Moran’s</a:t>
            </a:r>
            <a:r>
              <a:rPr lang="es-ES" b="1" dirty="0"/>
              <a:t> I sobre los residuos</a:t>
            </a:r>
          </a:p>
          <a:p>
            <a:pPr>
              <a:buFont typeface="Arial" panose="020B0604020202020204" pitchFamily="34" charset="0"/>
              <a:buChar char="•"/>
            </a:pPr>
            <a:r>
              <a:rPr lang="es-ES" dirty="0"/>
              <a:t>Mide </a:t>
            </a:r>
            <a:r>
              <a:rPr lang="es-ES" b="1" dirty="0"/>
              <a:t>autocorrelación espacial</a:t>
            </a:r>
            <a:r>
              <a:rPr lang="es-ES" dirty="0"/>
              <a:t> en los errores del modelo.</a:t>
            </a:r>
          </a:p>
          <a:p>
            <a:pPr>
              <a:buFont typeface="Arial" panose="020B0604020202020204" pitchFamily="34" charset="0"/>
              <a:buChar char="•"/>
            </a:pPr>
            <a:r>
              <a:rPr lang="es-ES" dirty="0"/>
              <a:t>Valores cercanos a 0 indican que </a:t>
            </a:r>
            <a:r>
              <a:rPr lang="es-ES" b="1" dirty="0"/>
              <a:t>no hay dependencia espacial no explicada</a:t>
            </a:r>
            <a:r>
              <a:rPr lang="es-ES" dirty="0"/>
              <a:t>, lo cual es ideal.</a:t>
            </a:r>
          </a:p>
          <a:p>
            <a:pPr>
              <a:buFont typeface="Arial" panose="020B0604020202020204" pitchFamily="34" charset="0"/>
              <a:buChar char="•"/>
            </a:pPr>
            <a:r>
              <a:rPr lang="es-ES" dirty="0"/>
              <a:t>Si el </a:t>
            </a:r>
            <a:r>
              <a:rPr lang="es-ES" b="1" dirty="0"/>
              <a:t>p-valor</a:t>
            </a:r>
            <a:r>
              <a:rPr lang="es-ES" dirty="0"/>
              <a:t> asociado es bajo (&lt;0.05), </a:t>
            </a:r>
            <a:r>
              <a:rPr lang="es-ES" b="1" dirty="0"/>
              <a:t>hay autocorrelación espacial</a:t>
            </a:r>
            <a:r>
              <a:rPr lang="es-ES" dirty="0"/>
              <a:t>, lo que </a:t>
            </a:r>
            <a:r>
              <a:rPr lang="es-ES" b="1" dirty="0"/>
              <a:t>viola supuestos de independencia del error</a:t>
            </a:r>
            <a:r>
              <a:rPr lang="es-ES" dirty="0"/>
              <a:t> y sugiere que el modelo puede estar mal especificado.</a:t>
            </a:r>
          </a:p>
          <a:p>
            <a:r>
              <a:rPr lang="es-ES" b="1" dirty="0"/>
              <a:t>◾ R² (Coeficiente de determinación)</a:t>
            </a:r>
          </a:p>
          <a:p>
            <a:pPr>
              <a:buFont typeface="Arial" panose="020B0604020202020204" pitchFamily="34" charset="0"/>
              <a:buChar char="•"/>
            </a:pPr>
            <a:r>
              <a:rPr lang="es-ES" dirty="0"/>
              <a:t>Mide qué proporción de la variabilidad de los datos es explicada por el modelo.</a:t>
            </a:r>
          </a:p>
          <a:p>
            <a:pPr>
              <a:buFont typeface="Arial" panose="020B0604020202020204" pitchFamily="34" charset="0"/>
              <a:buChar char="•"/>
            </a:pPr>
            <a:r>
              <a:rPr lang="es-ES" dirty="0"/>
              <a:t>Rango: 0 a 1. </a:t>
            </a:r>
            <a:r>
              <a:rPr lang="es-ES" b="1" dirty="0"/>
              <a:t>Más alto = mejor ajuste.</a:t>
            </a:r>
            <a:endParaRPr lang="es-ES" dirty="0"/>
          </a:p>
          <a:p>
            <a:pPr>
              <a:buFont typeface="Arial" panose="020B0604020202020204" pitchFamily="34" charset="0"/>
              <a:buChar char="•"/>
            </a:pPr>
            <a:r>
              <a:rPr lang="es-ES" dirty="0"/>
              <a:t>No se usa en modelos de clasificación binaria.</a:t>
            </a:r>
          </a:p>
          <a:p>
            <a:r>
              <a:rPr lang="es-ES" b="1" dirty="0"/>
              <a:t>◾ </a:t>
            </a:r>
            <a:r>
              <a:rPr lang="es-ES" b="1" dirty="0" err="1"/>
              <a:t>Accuracy</a:t>
            </a:r>
            <a:r>
              <a:rPr lang="es-ES" b="1" dirty="0"/>
              <a:t> (Precisión)</a:t>
            </a:r>
          </a:p>
          <a:p>
            <a:pPr>
              <a:buFont typeface="Arial" panose="020B0604020202020204" pitchFamily="34" charset="0"/>
              <a:buChar char="•"/>
            </a:pPr>
            <a:r>
              <a:rPr lang="es-ES" dirty="0"/>
              <a:t>Sólo en modelos de </a:t>
            </a:r>
            <a:r>
              <a:rPr lang="es-ES" b="1" dirty="0"/>
              <a:t>clasificación binaria</a:t>
            </a:r>
            <a:r>
              <a:rPr lang="es-ES" dirty="0"/>
              <a:t> (como regresión logística).</a:t>
            </a:r>
          </a:p>
          <a:p>
            <a:pPr>
              <a:buFont typeface="Arial" panose="020B0604020202020204" pitchFamily="34" charset="0"/>
              <a:buChar char="•"/>
            </a:pPr>
            <a:r>
              <a:rPr lang="es-ES" dirty="0"/>
              <a:t>Mide el porcentaje de veces que el modelo </a:t>
            </a:r>
            <a:r>
              <a:rPr lang="es-ES" b="1" dirty="0"/>
              <a:t>clasifica correctamente</a:t>
            </a:r>
            <a:r>
              <a:rPr lang="es-ES" dirty="0"/>
              <a:t>.</a:t>
            </a:r>
          </a:p>
          <a:p>
            <a:pPr>
              <a:buFont typeface="Arial" panose="020B0604020202020204" pitchFamily="34" charset="0"/>
              <a:buChar char="•"/>
            </a:pPr>
            <a:r>
              <a:rPr lang="es-ES" dirty="0"/>
              <a:t>No considera desequilibrios en las clases (por ejemplo, muchos ceros vs pocos unos).</a:t>
            </a:r>
          </a:p>
          <a:p>
            <a:endParaRPr lang="es-CO" dirty="0"/>
          </a:p>
        </p:txBody>
      </p:sp>
      <p:sp>
        <p:nvSpPr>
          <p:cNvPr id="4" name="Marcador de número de diapositiva 3"/>
          <p:cNvSpPr>
            <a:spLocks noGrp="1"/>
          </p:cNvSpPr>
          <p:nvPr>
            <p:ph type="sldNum" sz="quarter" idx="5"/>
          </p:nvPr>
        </p:nvSpPr>
        <p:spPr/>
        <p:txBody>
          <a:bodyPr/>
          <a:lstStyle/>
          <a:p>
            <a:fld id="{03F2D74D-2329-45AA-8C8E-A30E4EED47C6}" type="slidenum">
              <a:rPr lang="es-CO" smtClean="0"/>
              <a:t>32</a:t>
            </a:fld>
            <a:endParaRPr lang="es-CO"/>
          </a:p>
        </p:txBody>
      </p:sp>
    </p:spTree>
    <p:extLst>
      <p:ext uri="{BB962C8B-B14F-4D97-AF65-F5344CB8AC3E}">
        <p14:creationId xmlns:p14="http://schemas.microsoft.com/office/powerpoint/2010/main" val="256917912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Diapositiva de título">
    <p:spTree>
      <p:nvGrpSpPr>
        <p:cNvPr id="1" name=""/>
        <p:cNvGrpSpPr/>
        <p:nvPr/>
      </p:nvGrpSpPr>
      <p:grpSpPr>
        <a:xfrm>
          <a:off x="0" y="0"/>
          <a:ext cx="0" cy="0"/>
          <a:chOff x="0" y="0"/>
          <a:chExt cx="0" cy="0"/>
        </a:xfrm>
      </p:grpSpPr>
      <p:sp>
        <p:nvSpPr>
          <p:cNvPr id="7" name="Rectangle 6"/>
          <p:cNvSpPr/>
          <p:nvPr/>
        </p:nvSpPr>
        <p:spPr>
          <a:xfrm>
            <a:off x="3175" y="6400800"/>
            <a:ext cx="12188825"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8" name="Rectangle 7"/>
          <p:cNvSpPr/>
          <p:nvPr/>
        </p:nvSpPr>
        <p:spPr>
          <a:xfrm>
            <a:off x="15" y="6334316"/>
            <a:ext cx="12188825"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ctrTitle"/>
          </p:nvPr>
        </p:nvSpPr>
        <p:spPr>
          <a:xfrm>
            <a:off x="1097280" y="758952"/>
            <a:ext cx="10058400" cy="3566160"/>
          </a:xfrm>
        </p:spPr>
        <p:txBody>
          <a:bodyPr anchor="b">
            <a:normAutofit/>
          </a:bodyPr>
          <a:lstStyle>
            <a:lvl1pPr algn="l">
              <a:lnSpc>
                <a:spcPct val="85000"/>
              </a:lnSpc>
              <a:defRPr sz="8000" spc="-50" baseline="0">
                <a:solidFill>
                  <a:schemeClr val="tx1">
                    <a:lumMod val="85000"/>
                    <a:lumOff val="15000"/>
                  </a:schemeClr>
                </a:solidFill>
              </a:defRPr>
            </a:lvl1pPr>
          </a:lstStyle>
          <a:p>
            <a:r>
              <a:rPr lang="es-ES"/>
              <a:t>Haga clic para modificar el estilo de título del patrón</a:t>
            </a:r>
            <a:endParaRPr lang="en-US" dirty="0"/>
          </a:p>
        </p:txBody>
      </p:sp>
      <p:sp>
        <p:nvSpPr>
          <p:cNvPr id="3" name="Subtitle 2"/>
          <p:cNvSpPr>
            <a:spLocks noGrp="1"/>
          </p:cNvSpPr>
          <p:nvPr>
            <p:ph type="subTitle" idx="1"/>
          </p:nvPr>
        </p:nvSpPr>
        <p:spPr>
          <a:xfrm>
            <a:off x="1100051" y="4455620"/>
            <a:ext cx="10058400" cy="1143000"/>
          </a:xfrm>
        </p:spPr>
        <p:txBody>
          <a:bodyPr lIns="91440" rIns="91440">
            <a:normAutofit/>
          </a:bodyPr>
          <a:lstStyle>
            <a:lvl1pPr marL="0" indent="0" algn="l">
              <a:buNone/>
              <a:defRPr sz="2400" cap="all" spc="200" baseline="0">
                <a:solidFill>
                  <a:schemeClr val="tx2"/>
                </a:solidFill>
                <a:latin typeface="+mj-lt"/>
              </a:defRPr>
            </a:lvl1pPr>
            <a:lvl2pPr marL="457200" indent="0" algn="ctr">
              <a:buNone/>
              <a:defRPr sz="2400"/>
            </a:lvl2pPr>
            <a:lvl3pPr marL="914400" indent="0" algn="ctr">
              <a:buNone/>
              <a:defRPr sz="2400"/>
            </a:lvl3pPr>
            <a:lvl4pPr marL="1371600" indent="0" algn="ctr">
              <a:buNone/>
              <a:defRPr sz="2000"/>
            </a:lvl4pPr>
            <a:lvl5pPr marL="1828800" indent="0" algn="ctr">
              <a:buNone/>
              <a:defRPr sz="2000"/>
            </a:lvl5pPr>
            <a:lvl6pPr marL="2286000" indent="0" algn="ctr">
              <a:buNone/>
              <a:defRPr sz="2000"/>
            </a:lvl6pPr>
            <a:lvl7pPr marL="2743200" indent="0" algn="ctr">
              <a:buNone/>
              <a:defRPr sz="2000"/>
            </a:lvl7pPr>
            <a:lvl8pPr marL="3200400" indent="0" algn="ctr">
              <a:buNone/>
              <a:defRPr sz="2000"/>
            </a:lvl8pPr>
            <a:lvl9pPr marL="3657600" indent="0" algn="ctr">
              <a:buNone/>
              <a:defRPr sz="2000"/>
            </a:lvl9pPr>
          </a:lstStyle>
          <a:p>
            <a:r>
              <a:rPr lang="es-ES"/>
              <a:t>Haga clic para modificar el estilo de subtítulo del patrón</a:t>
            </a:r>
            <a:endParaRPr lang="en-US" dirty="0"/>
          </a:p>
        </p:txBody>
      </p:sp>
      <p:sp>
        <p:nvSpPr>
          <p:cNvPr id="4" name="Date Placeholder 3"/>
          <p:cNvSpPr>
            <a:spLocks noGrp="1"/>
          </p:cNvSpPr>
          <p:nvPr>
            <p:ph type="dt" sz="half" idx="10"/>
          </p:nvPr>
        </p:nvSpPr>
        <p:spPr/>
        <p:txBody>
          <a:bodyPr/>
          <a:lstStyle/>
          <a:p>
            <a:fld id="{0C319494-4846-4652-9352-F8CB4A0CE8FC}" type="datetimeFigureOut">
              <a:rPr lang="es-CO" smtClean="0"/>
              <a:t>18/07/2025</a:t>
            </a:fld>
            <a:endParaRPr lang="es-CO"/>
          </a:p>
        </p:txBody>
      </p:sp>
      <p:sp>
        <p:nvSpPr>
          <p:cNvPr id="5" name="Footer Placeholder 4"/>
          <p:cNvSpPr>
            <a:spLocks noGrp="1"/>
          </p:cNvSpPr>
          <p:nvPr>
            <p:ph type="ftr" sz="quarter" idx="11"/>
          </p:nvPr>
        </p:nvSpPr>
        <p:spPr/>
        <p:txBody>
          <a:bodyPr/>
          <a:lstStyle/>
          <a:p>
            <a:endParaRPr lang="es-CO"/>
          </a:p>
        </p:txBody>
      </p:sp>
      <p:sp>
        <p:nvSpPr>
          <p:cNvPr id="6" name="Slide Number Placeholder 5"/>
          <p:cNvSpPr>
            <a:spLocks noGrp="1"/>
          </p:cNvSpPr>
          <p:nvPr>
            <p:ph type="sldNum" sz="quarter" idx="12"/>
          </p:nvPr>
        </p:nvSpPr>
        <p:spPr/>
        <p:txBody>
          <a:bodyPr/>
          <a:lstStyle/>
          <a:p>
            <a:fld id="{EBD4BF25-1FEA-4B56-8344-AD6904BF59ED}" type="slidenum">
              <a:rPr lang="es-CO" smtClean="0"/>
              <a:t>‹Nº›</a:t>
            </a:fld>
            <a:endParaRPr lang="es-CO"/>
          </a:p>
        </p:txBody>
      </p:sp>
      <p:cxnSp>
        <p:nvCxnSpPr>
          <p:cNvPr id="9" name="Straight Connector 8"/>
          <p:cNvCxnSpPr/>
          <p:nvPr/>
        </p:nvCxnSpPr>
        <p:spPr>
          <a:xfrm>
            <a:off x="1207658" y="4343400"/>
            <a:ext cx="9875520" cy="0"/>
          </a:xfrm>
          <a:prstGeom prst="line">
            <a:avLst/>
          </a:prstGeom>
          <a:ln w="63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62470678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y objetos">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marL="0">
              <a:defRPr/>
            </a:lvl1pPr>
          </a:lstStyle>
          <a:p>
            <a:r>
              <a:rPr lang="es-ES"/>
              <a:t>Haga clic para modificar el estilo de título del patrón</a:t>
            </a:r>
            <a:endParaRPr lang="en-US" dirty="0"/>
          </a:p>
        </p:txBody>
      </p:sp>
      <p:sp>
        <p:nvSpPr>
          <p:cNvPr id="3" name="Content Placeholder 2"/>
          <p:cNvSpPr>
            <a:spLocks noGrp="1"/>
          </p:cNvSpPr>
          <p:nvPr>
            <p:ph idx="1"/>
          </p:nvPr>
        </p:nvSpPr>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4" name="Date Placeholder 3"/>
          <p:cNvSpPr>
            <a:spLocks noGrp="1"/>
          </p:cNvSpPr>
          <p:nvPr>
            <p:ph type="dt" sz="half" idx="10"/>
          </p:nvPr>
        </p:nvSpPr>
        <p:spPr/>
        <p:txBody>
          <a:bodyPr/>
          <a:lstStyle/>
          <a:p>
            <a:fld id="{0C319494-4846-4652-9352-F8CB4A0CE8FC}" type="datetimeFigureOut">
              <a:rPr lang="es-CO" smtClean="0"/>
              <a:t>18/07/2025</a:t>
            </a:fld>
            <a:endParaRPr lang="es-CO"/>
          </a:p>
        </p:txBody>
      </p:sp>
      <p:sp>
        <p:nvSpPr>
          <p:cNvPr id="5" name="Footer Placeholder 4"/>
          <p:cNvSpPr>
            <a:spLocks noGrp="1"/>
          </p:cNvSpPr>
          <p:nvPr>
            <p:ph type="ftr" sz="quarter" idx="11"/>
          </p:nvPr>
        </p:nvSpPr>
        <p:spPr/>
        <p:txBody>
          <a:bodyPr/>
          <a:lstStyle/>
          <a:p>
            <a:endParaRPr lang="es-CO"/>
          </a:p>
        </p:txBody>
      </p:sp>
      <p:sp>
        <p:nvSpPr>
          <p:cNvPr id="6" name="Slide Number Placeholder 5"/>
          <p:cNvSpPr>
            <a:spLocks noGrp="1"/>
          </p:cNvSpPr>
          <p:nvPr>
            <p:ph type="sldNum" sz="quarter" idx="12"/>
          </p:nvPr>
        </p:nvSpPr>
        <p:spPr/>
        <p:txBody>
          <a:bodyPr/>
          <a:lstStyle/>
          <a:p>
            <a:fld id="{EBD4BF25-1FEA-4B56-8344-AD6904BF59ED}" type="slidenum">
              <a:rPr lang="es-CO" smtClean="0"/>
              <a:t>‹Nº›</a:t>
            </a:fld>
            <a:endParaRPr lang="es-CO"/>
          </a:p>
        </p:txBody>
      </p:sp>
    </p:spTree>
    <p:extLst>
      <p:ext uri="{BB962C8B-B14F-4D97-AF65-F5344CB8AC3E}">
        <p14:creationId xmlns:p14="http://schemas.microsoft.com/office/powerpoint/2010/main" val="178114991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Encabezado de sección">
    <p:bg>
      <p:bgPr>
        <a:solidFill>
          <a:schemeClr val="bg1"/>
        </a:solidFill>
        <a:effectLst/>
      </p:bgPr>
    </p:bg>
    <p:spTree>
      <p:nvGrpSpPr>
        <p:cNvPr id="1" name=""/>
        <p:cNvGrpSpPr/>
        <p:nvPr/>
      </p:nvGrpSpPr>
      <p:grpSpPr>
        <a:xfrm>
          <a:off x="0" y="0"/>
          <a:ext cx="0" cy="0"/>
          <a:chOff x="0" y="0"/>
          <a:chExt cx="0" cy="0"/>
        </a:xfrm>
      </p:grpSpPr>
      <p:sp>
        <p:nvSpPr>
          <p:cNvPr id="7" name="Rectangle 6"/>
          <p:cNvSpPr/>
          <p:nvPr/>
        </p:nvSpPr>
        <p:spPr>
          <a:xfrm>
            <a:off x="3175" y="6400800"/>
            <a:ext cx="12188825"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8" name="Rectangle 7"/>
          <p:cNvSpPr/>
          <p:nvPr/>
        </p:nvSpPr>
        <p:spPr>
          <a:xfrm>
            <a:off x="15" y="6334316"/>
            <a:ext cx="12188825"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1097280" y="758952"/>
            <a:ext cx="10058400" cy="3566160"/>
          </a:xfrm>
        </p:spPr>
        <p:txBody>
          <a:bodyPr anchor="b" anchorCtr="0">
            <a:normAutofit/>
          </a:bodyPr>
          <a:lstStyle>
            <a:lvl1pPr>
              <a:lnSpc>
                <a:spcPct val="85000"/>
              </a:lnSpc>
              <a:defRPr sz="8000" b="0">
                <a:solidFill>
                  <a:schemeClr val="tx1">
                    <a:lumMod val="85000"/>
                    <a:lumOff val="15000"/>
                  </a:schemeClr>
                </a:solidFill>
              </a:defRPr>
            </a:lvl1pPr>
          </a:lstStyle>
          <a:p>
            <a:r>
              <a:rPr lang="es-ES"/>
              <a:t>Haga clic para modificar el estilo de título del patrón</a:t>
            </a:r>
            <a:endParaRPr lang="en-US" dirty="0"/>
          </a:p>
        </p:txBody>
      </p:sp>
      <p:sp>
        <p:nvSpPr>
          <p:cNvPr id="3" name="Text Placeholder 2"/>
          <p:cNvSpPr>
            <a:spLocks noGrp="1"/>
          </p:cNvSpPr>
          <p:nvPr>
            <p:ph type="body" idx="1"/>
          </p:nvPr>
        </p:nvSpPr>
        <p:spPr>
          <a:xfrm>
            <a:off x="1097280" y="4453128"/>
            <a:ext cx="10058400" cy="1143000"/>
          </a:xfrm>
        </p:spPr>
        <p:txBody>
          <a:bodyPr lIns="91440" rIns="91440" anchor="t" anchorCtr="0">
            <a:normAutofit/>
          </a:bodyPr>
          <a:lstStyle>
            <a:lvl1pPr marL="0" indent="0">
              <a:buNone/>
              <a:defRPr sz="2400" cap="all" spc="200" baseline="0">
                <a:solidFill>
                  <a:schemeClr val="tx2"/>
                </a:solidFill>
                <a:latin typeface="+mj-lt"/>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s-ES"/>
              <a:t>Haga clic para modificar los estilos de texto del patrón</a:t>
            </a:r>
          </a:p>
        </p:txBody>
      </p:sp>
      <p:sp>
        <p:nvSpPr>
          <p:cNvPr id="4" name="Date Placeholder 3"/>
          <p:cNvSpPr>
            <a:spLocks noGrp="1"/>
          </p:cNvSpPr>
          <p:nvPr>
            <p:ph type="dt" sz="half" idx="10"/>
          </p:nvPr>
        </p:nvSpPr>
        <p:spPr/>
        <p:txBody>
          <a:bodyPr/>
          <a:lstStyle/>
          <a:p>
            <a:fld id="{0C319494-4846-4652-9352-F8CB4A0CE8FC}" type="datetimeFigureOut">
              <a:rPr lang="es-CO" smtClean="0"/>
              <a:t>18/07/2025</a:t>
            </a:fld>
            <a:endParaRPr lang="es-CO"/>
          </a:p>
        </p:txBody>
      </p:sp>
      <p:sp>
        <p:nvSpPr>
          <p:cNvPr id="5" name="Footer Placeholder 4"/>
          <p:cNvSpPr>
            <a:spLocks noGrp="1"/>
          </p:cNvSpPr>
          <p:nvPr>
            <p:ph type="ftr" sz="quarter" idx="11"/>
          </p:nvPr>
        </p:nvSpPr>
        <p:spPr/>
        <p:txBody>
          <a:bodyPr/>
          <a:lstStyle/>
          <a:p>
            <a:endParaRPr lang="es-CO"/>
          </a:p>
        </p:txBody>
      </p:sp>
      <p:sp>
        <p:nvSpPr>
          <p:cNvPr id="6" name="Slide Number Placeholder 5"/>
          <p:cNvSpPr>
            <a:spLocks noGrp="1"/>
          </p:cNvSpPr>
          <p:nvPr>
            <p:ph type="sldNum" sz="quarter" idx="12"/>
          </p:nvPr>
        </p:nvSpPr>
        <p:spPr/>
        <p:txBody>
          <a:bodyPr/>
          <a:lstStyle/>
          <a:p>
            <a:fld id="{EBD4BF25-1FEA-4B56-8344-AD6904BF59ED}" type="slidenum">
              <a:rPr lang="es-CO" smtClean="0"/>
              <a:t>‹Nº›</a:t>
            </a:fld>
            <a:endParaRPr lang="es-CO"/>
          </a:p>
        </p:txBody>
      </p:sp>
      <p:cxnSp>
        <p:nvCxnSpPr>
          <p:cNvPr id="9" name="Straight Connector 8"/>
          <p:cNvCxnSpPr/>
          <p:nvPr/>
        </p:nvCxnSpPr>
        <p:spPr>
          <a:xfrm>
            <a:off x="1207658" y="4343400"/>
            <a:ext cx="9875520" cy="0"/>
          </a:xfrm>
          <a:prstGeom prst="line">
            <a:avLst/>
          </a:prstGeom>
          <a:ln w="63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74022084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os objetos">
    <p:spTree>
      <p:nvGrpSpPr>
        <p:cNvPr id="1" name=""/>
        <p:cNvGrpSpPr/>
        <p:nvPr/>
      </p:nvGrpSpPr>
      <p:grpSpPr>
        <a:xfrm>
          <a:off x="0" y="0"/>
          <a:ext cx="0" cy="0"/>
          <a:chOff x="0" y="0"/>
          <a:chExt cx="0" cy="0"/>
        </a:xfrm>
      </p:grpSpPr>
      <p:sp>
        <p:nvSpPr>
          <p:cNvPr id="8" name="Title 7"/>
          <p:cNvSpPr>
            <a:spLocks noGrp="1"/>
          </p:cNvSpPr>
          <p:nvPr>
            <p:ph type="title"/>
          </p:nvPr>
        </p:nvSpPr>
        <p:spPr>
          <a:xfrm>
            <a:off x="1097280" y="286603"/>
            <a:ext cx="10058400" cy="1450757"/>
          </a:xfrm>
        </p:spPr>
        <p:txBody>
          <a:bodyPr/>
          <a:lstStyle/>
          <a:p>
            <a:r>
              <a:rPr lang="es-ES"/>
              <a:t>Haga clic para modificar el estilo de título del patrón</a:t>
            </a:r>
            <a:endParaRPr lang="en-US" dirty="0"/>
          </a:p>
        </p:txBody>
      </p:sp>
      <p:sp>
        <p:nvSpPr>
          <p:cNvPr id="3" name="Content Placeholder 2"/>
          <p:cNvSpPr>
            <a:spLocks noGrp="1"/>
          </p:cNvSpPr>
          <p:nvPr>
            <p:ph sz="half" idx="1"/>
          </p:nvPr>
        </p:nvSpPr>
        <p:spPr>
          <a:xfrm>
            <a:off x="1097279" y="1845734"/>
            <a:ext cx="4937760" cy="4023360"/>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4" name="Content Placeholder 3"/>
          <p:cNvSpPr>
            <a:spLocks noGrp="1"/>
          </p:cNvSpPr>
          <p:nvPr>
            <p:ph sz="half" idx="2"/>
          </p:nvPr>
        </p:nvSpPr>
        <p:spPr>
          <a:xfrm>
            <a:off x="6217920" y="1845735"/>
            <a:ext cx="4937760" cy="4023360"/>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5" name="Date Placeholder 4"/>
          <p:cNvSpPr>
            <a:spLocks noGrp="1"/>
          </p:cNvSpPr>
          <p:nvPr>
            <p:ph type="dt" sz="half" idx="10"/>
          </p:nvPr>
        </p:nvSpPr>
        <p:spPr/>
        <p:txBody>
          <a:bodyPr/>
          <a:lstStyle/>
          <a:p>
            <a:fld id="{0C319494-4846-4652-9352-F8CB4A0CE8FC}" type="datetimeFigureOut">
              <a:rPr lang="es-CO" smtClean="0"/>
              <a:t>18/07/2025</a:t>
            </a:fld>
            <a:endParaRPr lang="es-CO"/>
          </a:p>
        </p:txBody>
      </p:sp>
      <p:sp>
        <p:nvSpPr>
          <p:cNvPr id="6" name="Footer Placeholder 5"/>
          <p:cNvSpPr>
            <a:spLocks noGrp="1"/>
          </p:cNvSpPr>
          <p:nvPr>
            <p:ph type="ftr" sz="quarter" idx="11"/>
          </p:nvPr>
        </p:nvSpPr>
        <p:spPr/>
        <p:txBody>
          <a:bodyPr/>
          <a:lstStyle/>
          <a:p>
            <a:endParaRPr lang="es-CO"/>
          </a:p>
        </p:txBody>
      </p:sp>
      <p:sp>
        <p:nvSpPr>
          <p:cNvPr id="7" name="Slide Number Placeholder 6"/>
          <p:cNvSpPr>
            <a:spLocks noGrp="1"/>
          </p:cNvSpPr>
          <p:nvPr>
            <p:ph type="sldNum" sz="quarter" idx="12"/>
          </p:nvPr>
        </p:nvSpPr>
        <p:spPr/>
        <p:txBody>
          <a:bodyPr/>
          <a:lstStyle/>
          <a:p>
            <a:fld id="{EBD4BF25-1FEA-4B56-8344-AD6904BF59ED}" type="slidenum">
              <a:rPr lang="es-CO" smtClean="0"/>
              <a:t>‹Nº›</a:t>
            </a:fld>
            <a:endParaRPr lang="es-CO"/>
          </a:p>
        </p:txBody>
      </p:sp>
    </p:spTree>
    <p:extLst>
      <p:ext uri="{BB962C8B-B14F-4D97-AF65-F5344CB8AC3E}">
        <p14:creationId xmlns:p14="http://schemas.microsoft.com/office/powerpoint/2010/main" val="115885427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ción">
    <p:spTree>
      <p:nvGrpSpPr>
        <p:cNvPr id="1" name=""/>
        <p:cNvGrpSpPr/>
        <p:nvPr/>
      </p:nvGrpSpPr>
      <p:grpSpPr>
        <a:xfrm>
          <a:off x="0" y="0"/>
          <a:ext cx="0" cy="0"/>
          <a:chOff x="0" y="0"/>
          <a:chExt cx="0" cy="0"/>
        </a:xfrm>
      </p:grpSpPr>
      <p:sp>
        <p:nvSpPr>
          <p:cNvPr id="10" name="Title 9"/>
          <p:cNvSpPr>
            <a:spLocks noGrp="1"/>
          </p:cNvSpPr>
          <p:nvPr>
            <p:ph type="title"/>
          </p:nvPr>
        </p:nvSpPr>
        <p:spPr>
          <a:xfrm>
            <a:off x="1097280" y="286603"/>
            <a:ext cx="10058400" cy="1450757"/>
          </a:xfrm>
        </p:spPr>
        <p:txBody>
          <a:bodyPr/>
          <a:lstStyle/>
          <a:p>
            <a:r>
              <a:rPr lang="es-ES"/>
              <a:t>Haga clic para modificar el estilo de título del patrón</a:t>
            </a:r>
            <a:endParaRPr lang="en-US" dirty="0"/>
          </a:p>
        </p:txBody>
      </p:sp>
      <p:sp>
        <p:nvSpPr>
          <p:cNvPr id="3" name="Text Placeholder 2"/>
          <p:cNvSpPr>
            <a:spLocks noGrp="1"/>
          </p:cNvSpPr>
          <p:nvPr>
            <p:ph type="body" idx="1"/>
          </p:nvPr>
        </p:nvSpPr>
        <p:spPr>
          <a:xfrm>
            <a:off x="1097280" y="1846052"/>
            <a:ext cx="4937760" cy="736282"/>
          </a:xfrm>
        </p:spPr>
        <p:txBody>
          <a:bodyPr lIns="91440" rIns="91440" anchor="ctr">
            <a:normAutofit/>
          </a:bodyPr>
          <a:lstStyle>
            <a:lvl1pPr marL="0" indent="0">
              <a:buNone/>
              <a:defRPr sz="2000" b="0" cap="all" baseline="0">
                <a:solidFill>
                  <a:schemeClr val="tx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los estilos de texto del patrón</a:t>
            </a:r>
          </a:p>
        </p:txBody>
      </p:sp>
      <p:sp>
        <p:nvSpPr>
          <p:cNvPr id="4" name="Content Placeholder 3"/>
          <p:cNvSpPr>
            <a:spLocks noGrp="1"/>
          </p:cNvSpPr>
          <p:nvPr>
            <p:ph sz="half" idx="2"/>
          </p:nvPr>
        </p:nvSpPr>
        <p:spPr>
          <a:xfrm>
            <a:off x="1097280" y="2582334"/>
            <a:ext cx="4937760" cy="3378200"/>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5" name="Text Placeholder 4"/>
          <p:cNvSpPr>
            <a:spLocks noGrp="1"/>
          </p:cNvSpPr>
          <p:nvPr>
            <p:ph type="body" sz="quarter" idx="3"/>
          </p:nvPr>
        </p:nvSpPr>
        <p:spPr>
          <a:xfrm>
            <a:off x="6217920" y="1846052"/>
            <a:ext cx="4937760" cy="736282"/>
          </a:xfrm>
        </p:spPr>
        <p:txBody>
          <a:bodyPr lIns="91440" rIns="91440" anchor="ctr">
            <a:normAutofit/>
          </a:bodyPr>
          <a:lstStyle>
            <a:lvl1pPr marL="0" indent="0">
              <a:buNone/>
              <a:defRPr sz="2000" b="0" cap="all" baseline="0">
                <a:solidFill>
                  <a:schemeClr val="tx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los estilos de texto del patrón</a:t>
            </a:r>
          </a:p>
        </p:txBody>
      </p:sp>
      <p:sp>
        <p:nvSpPr>
          <p:cNvPr id="6" name="Content Placeholder 5"/>
          <p:cNvSpPr>
            <a:spLocks noGrp="1"/>
          </p:cNvSpPr>
          <p:nvPr>
            <p:ph sz="quarter" idx="4"/>
          </p:nvPr>
        </p:nvSpPr>
        <p:spPr>
          <a:xfrm>
            <a:off x="6217920" y="2582334"/>
            <a:ext cx="4937760" cy="3378200"/>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7" name="Date Placeholder 6"/>
          <p:cNvSpPr>
            <a:spLocks noGrp="1"/>
          </p:cNvSpPr>
          <p:nvPr>
            <p:ph type="dt" sz="half" idx="10"/>
          </p:nvPr>
        </p:nvSpPr>
        <p:spPr/>
        <p:txBody>
          <a:bodyPr/>
          <a:lstStyle/>
          <a:p>
            <a:fld id="{0C319494-4846-4652-9352-F8CB4A0CE8FC}" type="datetimeFigureOut">
              <a:rPr lang="es-CO" smtClean="0"/>
              <a:t>18/07/2025</a:t>
            </a:fld>
            <a:endParaRPr lang="es-CO"/>
          </a:p>
        </p:txBody>
      </p:sp>
      <p:sp>
        <p:nvSpPr>
          <p:cNvPr id="8" name="Footer Placeholder 7"/>
          <p:cNvSpPr>
            <a:spLocks noGrp="1"/>
          </p:cNvSpPr>
          <p:nvPr>
            <p:ph type="ftr" sz="quarter" idx="11"/>
          </p:nvPr>
        </p:nvSpPr>
        <p:spPr/>
        <p:txBody>
          <a:bodyPr/>
          <a:lstStyle/>
          <a:p>
            <a:endParaRPr lang="es-CO"/>
          </a:p>
        </p:txBody>
      </p:sp>
      <p:sp>
        <p:nvSpPr>
          <p:cNvPr id="9" name="Slide Number Placeholder 8"/>
          <p:cNvSpPr>
            <a:spLocks noGrp="1"/>
          </p:cNvSpPr>
          <p:nvPr>
            <p:ph type="sldNum" sz="quarter" idx="12"/>
          </p:nvPr>
        </p:nvSpPr>
        <p:spPr/>
        <p:txBody>
          <a:bodyPr/>
          <a:lstStyle/>
          <a:p>
            <a:fld id="{EBD4BF25-1FEA-4B56-8344-AD6904BF59ED}" type="slidenum">
              <a:rPr lang="es-CO" smtClean="0"/>
              <a:t>‹Nº›</a:t>
            </a:fld>
            <a:endParaRPr lang="es-CO"/>
          </a:p>
        </p:txBody>
      </p:sp>
    </p:spTree>
    <p:extLst>
      <p:ext uri="{BB962C8B-B14F-4D97-AF65-F5344CB8AC3E}">
        <p14:creationId xmlns:p14="http://schemas.microsoft.com/office/powerpoint/2010/main" val="218684716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lo el título">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s-ES"/>
              <a:t>Haga clic para modificar el estilo de título del patrón</a:t>
            </a:r>
            <a:endParaRPr lang="en-US" dirty="0"/>
          </a:p>
        </p:txBody>
      </p:sp>
      <p:sp>
        <p:nvSpPr>
          <p:cNvPr id="3" name="Date Placeholder 2"/>
          <p:cNvSpPr>
            <a:spLocks noGrp="1"/>
          </p:cNvSpPr>
          <p:nvPr>
            <p:ph type="dt" sz="half" idx="10"/>
          </p:nvPr>
        </p:nvSpPr>
        <p:spPr/>
        <p:txBody>
          <a:bodyPr/>
          <a:lstStyle/>
          <a:p>
            <a:fld id="{0C319494-4846-4652-9352-F8CB4A0CE8FC}" type="datetimeFigureOut">
              <a:rPr lang="es-CO" smtClean="0"/>
              <a:t>18/07/2025</a:t>
            </a:fld>
            <a:endParaRPr lang="es-CO"/>
          </a:p>
        </p:txBody>
      </p:sp>
      <p:sp>
        <p:nvSpPr>
          <p:cNvPr id="4" name="Footer Placeholder 3"/>
          <p:cNvSpPr>
            <a:spLocks noGrp="1"/>
          </p:cNvSpPr>
          <p:nvPr>
            <p:ph type="ftr" sz="quarter" idx="11"/>
          </p:nvPr>
        </p:nvSpPr>
        <p:spPr/>
        <p:txBody>
          <a:bodyPr/>
          <a:lstStyle/>
          <a:p>
            <a:endParaRPr lang="es-CO"/>
          </a:p>
        </p:txBody>
      </p:sp>
      <p:sp>
        <p:nvSpPr>
          <p:cNvPr id="5" name="Slide Number Placeholder 4"/>
          <p:cNvSpPr>
            <a:spLocks noGrp="1"/>
          </p:cNvSpPr>
          <p:nvPr>
            <p:ph type="sldNum" sz="quarter" idx="12"/>
          </p:nvPr>
        </p:nvSpPr>
        <p:spPr/>
        <p:txBody>
          <a:bodyPr/>
          <a:lstStyle/>
          <a:p>
            <a:fld id="{EBD4BF25-1FEA-4B56-8344-AD6904BF59ED}" type="slidenum">
              <a:rPr lang="es-CO" smtClean="0"/>
              <a:t>‹Nº›</a:t>
            </a:fld>
            <a:endParaRPr lang="es-CO"/>
          </a:p>
        </p:txBody>
      </p:sp>
    </p:spTree>
    <p:extLst>
      <p:ext uri="{BB962C8B-B14F-4D97-AF65-F5344CB8AC3E}">
        <p14:creationId xmlns:p14="http://schemas.microsoft.com/office/powerpoint/2010/main" val="74408069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blank" preserve="1">
  <p:cSld name="En blanco">
    <p:spTree>
      <p:nvGrpSpPr>
        <p:cNvPr id="1" name=""/>
        <p:cNvGrpSpPr/>
        <p:nvPr/>
      </p:nvGrpSpPr>
      <p:grpSpPr>
        <a:xfrm>
          <a:off x="0" y="0"/>
          <a:ext cx="0" cy="0"/>
          <a:chOff x="0" y="0"/>
          <a:chExt cx="0" cy="0"/>
        </a:xfrm>
      </p:grpSpPr>
      <p:sp>
        <p:nvSpPr>
          <p:cNvPr id="5" name="Rectangle 4"/>
          <p:cNvSpPr/>
          <p:nvPr/>
        </p:nvSpPr>
        <p:spPr>
          <a:xfrm>
            <a:off x="3175" y="6400800"/>
            <a:ext cx="12188825"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6" name="Rectangle 5"/>
          <p:cNvSpPr/>
          <p:nvPr/>
        </p:nvSpPr>
        <p:spPr>
          <a:xfrm>
            <a:off x="15" y="6334316"/>
            <a:ext cx="12188825"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7" name="Date Placeholder 6"/>
          <p:cNvSpPr>
            <a:spLocks noGrp="1"/>
          </p:cNvSpPr>
          <p:nvPr>
            <p:ph type="dt" sz="half" idx="10"/>
          </p:nvPr>
        </p:nvSpPr>
        <p:spPr/>
        <p:txBody>
          <a:bodyPr/>
          <a:lstStyle/>
          <a:p>
            <a:fld id="{0C319494-4846-4652-9352-F8CB4A0CE8FC}" type="datetimeFigureOut">
              <a:rPr lang="es-CO" smtClean="0"/>
              <a:t>18/07/2025</a:t>
            </a:fld>
            <a:endParaRPr lang="es-CO"/>
          </a:p>
        </p:txBody>
      </p:sp>
      <p:sp>
        <p:nvSpPr>
          <p:cNvPr id="8" name="Footer Placeholder 7"/>
          <p:cNvSpPr>
            <a:spLocks noGrp="1"/>
          </p:cNvSpPr>
          <p:nvPr>
            <p:ph type="ftr" sz="quarter" idx="11"/>
          </p:nvPr>
        </p:nvSpPr>
        <p:spPr/>
        <p:txBody>
          <a:bodyPr/>
          <a:lstStyle>
            <a:lvl1pPr>
              <a:defRPr>
                <a:solidFill>
                  <a:srgbClr val="FFFFFF"/>
                </a:solidFill>
              </a:defRPr>
            </a:lvl1pPr>
          </a:lstStyle>
          <a:p>
            <a:endParaRPr lang="es-CO"/>
          </a:p>
        </p:txBody>
      </p:sp>
      <p:sp>
        <p:nvSpPr>
          <p:cNvPr id="9" name="Slide Number Placeholder 8"/>
          <p:cNvSpPr>
            <a:spLocks noGrp="1"/>
          </p:cNvSpPr>
          <p:nvPr>
            <p:ph type="sldNum" sz="quarter" idx="12"/>
          </p:nvPr>
        </p:nvSpPr>
        <p:spPr/>
        <p:txBody>
          <a:bodyPr/>
          <a:lstStyle/>
          <a:p>
            <a:fld id="{EBD4BF25-1FEA-4B56-8344-AD6904BF59ED}" type="slidenum">
              <a:rPr lang="es-CO" smtClean="0"/>
              <a:t>‹Nº›</a:t>
            </a:fld>
            <a:endParaRPr lang="es-CO"/>
          </a:p>
        </p:txBody>
      </p:sp>
    </p:spTree>
    <p:extLst>
      <p:ext uri="{BB962C8B-B14F-4D97-AF65-F5344CB8AC3E}">
        <p14:creationId xmlns:p14="http://schemas.microsoft.com/office/powerpoint/2010/main" val="400935141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objTx" preserve="1">
  <p:cSld name="Contenido con título">
    <p:spTree>
      <p:nvGrpSpPr>
        <p:cNvPr id="1" name=""/>
        <p:cNvGrpSpPr/>
        <p:nvPr/>
      </p:nvGrpSpPr>
      <p:grpSpPr>
        <a:xfrm>
          <a:off x="0" y="0"/>
          <a:ext cx="0" cy="0"/>
          <a:chOff x="0" y="0"/>
          <a:chExt cx="0" cy="0"/>
        </a:xfrm>
      </p:grpSpPr>
      <p:sp>
        <p:nvSpPr>
          <p:cNvPr id="8" name="Rectangle 7"/>
          <p:cNvSpPr/>
          <p:nvPr/>
        </p:nvSpPr>
        <p:spPr>
          <a:xfrm>
            <a:off x="16" y="0"/>
            <a:ext cx="4050791" cy="6858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9" name="Rectangle 8"/>
          <p:cNvSpPr/>
          <p:nvPr/>
        </p:nvSpPr>
        <p:spPr>
          <a:xfrm>
            <a:off x="4040071" y="0"/>
            <a:ext cx="64008"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457200" y="594359"/>
            <a:ext cx="3200400" cy="2286000"/>
          </a:xfrm>
        </p:spPr>
        <p:txBody>
          <a:bodyPr anchor="b">
            <a:normAutofit/>
          </a:bodyPr>
          <a:lstStyle>
            <a:lvl1pPr>
              <a:defRPr sz="3600" b="0">
                <a:solidFill>
                  <a:srgbClr val="FFFFFF"/>
                </a:solidFill>
              </a:defRPr>
            </a:lvl1pPr>
          </a:lstStyle>
          <a:p>
            <a:r>
              <a:rPr lang="es-ES"/>
              <a:t>Haga clic para modificar el estilo de título del patrón</a:t>
            </a:r>
            <a:endParaRPr lang="en-US" dirty="0"/>
          </a:p>
        </p:txBody>
      </p:sp>
      <p:sp>
        <p:nvSpPr>
          <p:cNvPr id="3" name="Content Placeholder 2"/>
          <p:cNvSpPr>
            <a:spLocks noGrp="1"/>
          </p:cNvSpPr>
          <p:nvPr>
            <p:ph idx="1"/>
          </p:nvPr>
        </p:nvSpPr>
        <p:spPr>
          <a:xfrm>
            <a:off x="4800600" y="731520"/>
            <a:ext cx="6492240" cy="5257800"/>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4" name="Text Placeholder 3"/>
          <p:cNvSpPr>
            <a:spLocks noGrp="1"/>
          </p:cNvSpPr>
          <p:nvPr>
            <p:ph type="body" sz="half" idx="2"/>
          </p:nvPr>
        </p:nvSpPr>
        <p:spPr>
          <a:xfrm>
            <a:off x="457200" y="2926080"/>
            <a:ext cx="3200400" cy="3379124"/>
          </a:xfrm>
        </p:spPr>
        <p:txBody>
          <a:bodyPr lIns="91440" rIns="91440">
            <a:normAutofit/>
          </a:bodyPr>
          <a:lstStyle>
            <a:lvl1pPr marL="0" indent="0">
              <a:buNone/>
              <a:defRPr sz="1500">
                <a:solidFill>
                  <a:srgbClr val="FFFFFF"/>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s-ES"/>
              <a:t>Haga clic para modificar los estilos de texto del patrón</a:t>
            </a:r>
          </a:p>
        </p:txBody>
      </p:sp>
      <p:sp>
        <p:nvSpPr>
          <p:cNvPr id="5" name="Date Placeholder 4"/>
          <p:cNvSpPr>
            <a:spLocks noGrp="1"/>
          </p:cNvSpPr>
          <p:nvPr>
            <p:ph type="dt" sz="half" idx="10"/>
          </p:nvPr>
        </p:nvSpPr>
        <p:spPr>
          <a:xfrm>
            <a:off x="465512" y="6459785"/>
            <a:ext cx="2618510" cy="365125"/>
          </a:xfrm>
        </p:spPr>
        <p:txBody>
          <a:bodyPr/>
          <a:lstStyle>
            <a:lvl1pPr algn="l">
              <a:defRPr/>
            </a:lvl1pPr>
          </a:lstStyle>
          <a:p>
            <a:fld id="{0C319494-4846-4652-9352-F8CB4A0CE8FC}" type="datetimeFigureOut">
              <a:rPr lang="es-CO" smtClean="0"/>
              <a:t>18/07/2025</a:t>
            </a:fld>
            <a:endParaRPr lang="es-CO"/>
          </a:p>
        </p:txBody>
      </p:sp>
      <p:sp>
        <p:nvSpPr>
          <p:cNvPr id="6" name="Footer Placeholder 5"/>
          <p:cNvSpPr>
            <a:spLocks noGrp="1"/>
          </p:cNvSpPr>
          <p:nvPr>
            <p:ph type="ftr" sz="quarter" idx="11"/>
          </p:nvPr>
        </p:nvSpPr>
        <p:spPr>
          <a:xfrm>
            <a:off x="4800600" y="6459785"/>
            <a:ext cx="4648200" cy="365125"/>
          </a:xfrm>
        </p:spPr>
        <p:txBody>
          <a:bodyPr/>
          <a:lstStyle>
            <a:lvl1pPr algn="l">
              <a:defRPr>
                <a:solidFill>
                  <a:schemeClr val="tx2"/>
                </a:solidFill>
              </a:defRPr>
            </a:lvl1pPr>
          </a:lstStyle>
          <a:p>
            <a:endParaRPr lang="es-CO"/>
          </a:p>
        </p:txBody>
      </p:sp>
      <p:sp>
        <p:nvSpPr>
          <p:cNvPr id="7" name="Slide Number Placeholder 6"/>
          <p:cNvSpPr>
            <a:spLocks noGrp="1"/>
          </p:cNvSpPr>
          <p:nvPr>
            <p:ph type="sldNum" sz="quarter" idx="12"/>
          </p:nvPr>
        </p:nvSpPr>
        <p:spPr/>
        <p:txBody>
          <a:bodyPr/>
          <a:lstStyle>
            <a:lvl1pPr>
              <a:defRPr>
                <a:solidFill>
                  <a:schemeClr val="tx2"/>
                </a:solidFill>
              </a:defRPr>
            </a:lvl1pPr>
          </a:lstStyle>
          <a:p>
            <a:fld id="{EBD4BF25-1FEA-4B56-8344-AD6904BF59ED}" type="slidenum">
              <a:rPr lang="es-CO" smtClean="0"/>
              <a:t>‹Nº›</a:t>
            </a:fld>
            <a:endParaRPr lang="es-CO"/>
          </a:p>
        </p:txBody>
      </p:sp>
    </p:spTree>
    <p:extLst>
      <p:ext uri="{BB962C8B-B14F-4D97-AF65-F5344CB8AC3E}">
        <p14:creationId xmlns:p14="http://schemas.microsoft.com/office/powerpoint/2010/main" val="173703403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picTx" preserve="1">
  <p:cSld name="Imagen con título">
    <p:spTree>
      <p:nvGrpSpPr>
        <p:cNvPr id="1" name=""/>
        <p:cNvGrpSpPr/>
        <p:nvPr/>
      </p:nvGrpSpPr>
      <p:grpSpPr>
        <a:xfrm>
          <a:off x="0" y="0"/>
          <a:ext cx="0" cy="0"/>
          <a:chOff x="0" y="0"/>
          <a:chExt cx="0" cy="0"/>
        </a:xfrm>
      </p:grpSpPr>
      <p:sp>
        <p:nvSpPr>
          <p:cNvPr id="8" name="Rectangle 7"/>
          <p:cNvSpPr/>
          <p:nvPr/>
        </p:nvSpPr>
        <p:spPr>
          <a:xfrm>
            <a:off x="0" y="4953000"/>
            <a:ext cx="12188825" cy="1905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9" name="Rectangle 8"/>
          <p:cNvSpPr/>
          <p:nvPr/>
        </p:nvSpPr>
        <p:spPr>
          <a:xfrm>
            <a:off x="15" y="4915076"/>
            <a:ext cx="12188825"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1097280" y="5074920"/>
            <a:ext cx="10113264" cy="822960"/>
          </a:xfrm>
        </p:spPr>
        <p:txBody>
          <a:bodyPr lIns="91440" tIns="0" rIns="91440" bIns="0" anchor="b">
            <a:noAutofit/>
          </a:bodyPr>
          <a:lstStyle>
            <a:lvl1pPr>
              <a:defRPr sz="3600" b="0">
                <a:solidFill>
                  <a:srgbClr val="FFFFFF"/>
                </a:solidFill>
              </a:defRPr>
            </a:lvl1pPr>
          </a:lstStyle>
          <a:p>
            <a:r>
              <a:rPr lang="es-ES"/>
              <a:t>Haga clic para modificar el estilo de título del patrón</a:t>
            </a:r>
            <a:endParaRPr lang="en-US" dirty="0"/>
          </a:p>
        </p:txBody>
      </p:sp>
      <p:sp>
        <p:nvSpPr>
          <p:cNvPr id="3" name="Picture Placeholder 2"/>
          <p:cNvSpPr>
            <a:spLocks noGrp="1" noChangeAspect="1"/>
          </p:cNvSpPr>
          <p:nvPr>
            <p:ph type="pic" idx="1"/>
          </p:nvPr>
        </p:nvSpPr>
        <p:spPr>
          <a:xfrm>
            <a:off x="15" y="0"/>
            <a:ext cx="12191985" cy="4915076"/>
          </a:xfrm>
          <a:blipFill>
            <a:blip r:embed="rId2"/>
            <a:stretch>
              <a:fillRect/>
            </a:stretch>
          </a:blipFill>
        </p:spPr>
        <p:txBody>
          <a:bodyPr lIns="457200" tIns="457200" anchor="t"/>
          <a:lstStyle>
            <a:lvl1pPr marL="0" indent="0">
              <a:buNone/>
              <a:defRPr sz="3200">
                <a:solidFill>
                  <a:schemeClr val="bg1"/>
                </a:solidFill>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s-ES"/>
              <a:t>Haga clic en el icono para agregar una imagen</a:t>
            </a:r>
            <a:endParaRPr lang="en-US" dirty="0"/>
          </a:p>
        </p:txBody>
      </p:sp>
      <p:sp>
        <p:nvSpPr>
          <p:cNvPr id="4" name="Text Placeholder 3"/>
          <p:cNvSpPr>
            <a:spLocks noGrp="1"/>
          </p:cNvSpPr>
          <p:nvPr>
            <p:ph type="body" sz="half" idx="2"/>
          </p:nvPr>
        </p:nvSpPr>
        <p:spPr>
          <a:xfrm>
            <a:off x="1097280" y="5907023"/>
            <a:ext cx="10113264" cy="594360"/>
          </a:xfrm>
        </p:spPr>
        <p:txBody>
          <a:bodyPr lIns="91440" tIns="0" rIns="91440" bIns="0">
            <a:normAutofit/>
          </a:bodyPr>
          <a:lstStyle>
            <a:lvl1pPr marL="0" indent="0">
              <a:spcBef>
                <a:spcPts val="0"/>
              </a:spcBef>
              <a:spcAft>
                <a:spcPts val="600"/>
              </a:spcAft>
              <a:buNone/>
              <a:defRPr sz="1500">
                <a:solidFill>
                  <a:srgbClr val="FFFFFF"/>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s-ES"/>
              <a:t>Haga clic para modificar los estilos de texto del patrón</a:t>
            </a:r>
          </a:p>
        </p:txBody>
      </p:sp>
      <p:sp>
        <p:nvSpPr>
          <p:cNvPr id="5" name="Date Placeholder 4"/>
          <p:cNvSpPr>
            <a:spLocks noGrp="1"/>
          </p:cNvSpPr>
          <p:nvPr>
            <p:ph type="dt" sz="half" idx="10"/>
          </p:nvPr>
        </p:nvSpPr>
        <p:spPr/>
        <p:txBody>
          <a:bodyPr/>
          <a:lstStyle/>
          <a:p>
            <a:fld id="{0C319494-4846-4652-9352-F8CB4A0CE8FC}" type="datetimeFigureOut">
              <a:rPr lang="es-CO" smtClean="0"/>
              <a:t>18/07/2025</a:t>
            </a:fld>
            <a:endParaRPr lang="es-CO"/>
          </a:p>
        </p:txBody>
      </p:sp>
      <p:sp>
        <p:nvSpPr>
          <p:cNvPr id="6" name="Footer Placeholder 5"/>
          <p:cNvSpPr>
            <a:spLocks noGrp="1"/>
          </p:cNvSpPr>
          <p:nvPr>
            <p:ph type="ftr" sz="quarter" idx="11"/>
          </p:nvPr>
        </p:nvSpPr>
        <p:spPr/>
        <p:txBody>
          <a:bodyPr/>
          <a:lstStyle/>
          <a:p>
            <a:endParaRPr lang="es-CO"/>
          </a:p>
        </p:txBody>
      </p:sp>
      <p:sp>
        <p:nvSpPr>
          <p:cNvPr id="7" name="Slide Number Placeholder 6"/>
          <p:cNvSpPr>
            <a:spLocks noGrp="1"/>
          </p:cNvSpPr>
          <p:nvPr>
            <p:ph type="sldNum" sz="quarter" idx="12"/>
          </p:nvPr>
        </p:nvSpPr>
        <p:spPr/>
        <p:txBody>
          <a:bodyPr/>
          <a:lstStyle/>
          <a:p>
            <a:fld id="{EBD4BF25-1FEA-4B56-8344-AD6904BF59ED}" type="slidenum">
              <a:rPr lang="es-CO" smtClean="0"/>
              <a:t>‹Nº›</a:t>
            </a:fld>
            <a:endParaRPr lang="es-CO"/>
          </a:p>
        </p:txBody>
      </p:sp>
    </p:spTree>
    <p:extLst>
      <p:ext uri="{BB962C8B-B14F-4D97-AF65-F5344CB8AC3E}">
        <p14:creationId xmlns:p14="http://schemas.microsoft.com/office/powerpoint/2010/main" val="262051704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y texto vertical">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s-ES"/>
              <a:t>Haga clic para modificar el estilo de título del patrón</a:t>
            </a:r>
            <a:endParaRPr lang="en-US" dirty="0"/>
          </a:p>
        </p:txBody>
      </p:sp>
      <p:sp>
        <p:nvSpPr>
          <p:cNvPr id="3" name="Vertical Text Placeholder 2"/>
          <p:cNvSpPr>
            <a:spLocks noGrp="1"/>
          </p:cNvSpPr>
          <p:nvPr>
            <p:ph type="body" orient="vert" idx="1"/>
          </p:nvPr>
        </p:nvSpPr>
        <p:spPr/>
        <p:txBody>
          <a:bodyPr vert="eaVert" lIns="45720" tIns="0" rIns="45720" bIns="0"/>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4" name="Date Placeholder 3"/>
          <p:cNvSpPr>
            <a:spLocks noGrp="1"/>
          </p:cNvSpPr>
          <p:nvPr>
            <p:ph type="dt" sz="half" idx="10"/>
          </p:nvPr>
        </p:nvSpPr>
        <p:spPr/>
        <p:txBody>
          <a:bodyPr/>
          <a:lstStyle/>
          <a:p>
            <a:fld id="{0C319494-4846-4652-9352-F8CB4A0CE8FC}" type="datetimeFigureOut">
              <a:rPr lang="es-CO" smtClean="0"/>
              <a:t>18/07/2025</a:t>
            </a:fld>
            <a:endParaRPr lang="es-CO"/>
          </a:p>
        </p:txBody>
      </p:sp>
      <p:sp>
        <p:nvSpPr>
          <p:cNvPr id="5" name="Footer Placeholder 4"/>
          <p:cNvSpPr>
            <a:spLocks noGrp="1"/>
          </p:cNvSpPr>
          <p:nvPr>
            <p:ph type="ftr" sz="quarter" idx="11"/>
          </p:nvPr>
        </p:nvSpPr>
        <p:spPr/>
        <p:txBody>
          <a:bodyPr/>
          <a:lstStyle/>
          <a:p>
            <a:endParaRPr lang="es-CO"/>
          </a:p>
        </p:txBody>
      </p:sp>
      <p:sp>
        <p:nvSpPr>
          <p:cNvPr id="6" name="Slide Number Placeholder 5"/>
          <p:cNvSpPr>
            <a:spLocks noGrp="1"/>
          </p:cNvSpPr>
          <p:nvPr>
            <p:ph type="sldNum" sz="quarter" idx="12"/>
          </p:nvPr>
        </p:nvSpPr>
        <p:spPr/>
        <p:txBody>
          <a:bodyPr/>
          <a:lstStyle/>
          <a:p>
            <a:fld id="{EBD4BF25-1FEA-4B56-8344-AD6904BF59ED}" type="slidenum">
              <a:rPr lang="es-CO" smtClean="0"/>
              <a:t>‹Nº›</a:t>
            </a:fld>
            <a:endParaRPr lang="es-CO"/>
          </a:p>
        </p:txBody>
      </p:sp>
    </p:spTree>
    <p:extLst>
      <p:ext uri="{BB962C8B-B14F-4D97-AF65-F5344CB8AC3E}">
        <p14:creationId xmlns:p14="http://schemas.microsoft.com/office/powerpoint/2010/main" val="299012203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type="vertTitleAndTx" preserve="1">
  <p:cSld name="Título vertical y texto">
    <p:spTree>
      <p:nvGrpSpPr>
        <p:cNvPr id="1" name=""/>
        <p:cNvGrpSpPr/>
        <p:nvPr/>
      </p:nvGrpSpPr>
      <p:grpSpPr>
        <a:xfrm>
          <a:off x="0" y="0"/>
          <a:ext cx="0" cy="0"/>
          <a:chOff x="0" y="0"/>
          <a:chExt cx="0" cy="0"/>
        </a:xfrm>
      </p:grpSpPr>
      <p:sp>
        <p:nvSpPr>
          <p:cNvPr id="7" name="Rectangle 6"/>
          <p:cNvSpPr/>
          <p:nvPr/>
        </p:nvSpPr>
        <p:spPr>
          <a:xfrm>
            <a:off x="3175" y="6400800"/>
            <a:ext cx="12188825"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8" name="Rectangle 7"/>
          <p:cNvSpPr/>
          <p:nvPr/>
        </p:nvSpPr>
        <p:spPr>
          <a:xfrm>
            <a:off x="15" y="6334316"/>
            <a:ext cx="12188825"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Vertical Title 1"/>
          <p:cNvSpPr>
            <a:spLocks noGrp="1"/>
          </p:cNvSpPr>
          <p:nvPr>
            <p:ph type="title" orient="vert"/>
          </p:nvPr>
        </p:nvSpPr>
        <p:spPr>
          <a:xfrm>
            <a:off x="8724900" y="414778"/>
            <a:ext cx="2628900" cy="5757421"/>
          </a:xfrm>
        </p:spPr>
        <p:txBody>
          <a:bodyPr vert="eaVert"/>
          <a:lstStyle/>
          <a:p>
            <a:r>
              <a:rPr lang="es-ES"/>
              <a:t>Haga clic para modificar el estilo de título del patrón</a:t>
            </a:r>
            <a:endParaRPr lang="en-US" dirty="0"/>
          </a:p>
        </p:txBody>
      </p:sp>
      <p:sp>
        <p:nvSpPr>
          <p:cNvPr id="3" name="Vertical Text Placeholder 2"/>
          <p:cNvSpPr>
            <a:spLocks noGrp="1"/>
          </p:cNvSpPr>
          <p:nvPr>
            <p:ph type="body" orient="vert" idx="1"/>
          </p:nvPr>
        </p:nvSpPr>
        <p:spPr>
          <a:xfrm>
            <a:off x="838200" y="414778"/>
            <a:ext cx="7734300" cy="5757422"/>
          </a:xfrm>
        </p:spPr>
        <p:txBody>
          <a:bodyPr vert="eaVert" lIns="45720" tIns="0" rIns="45720" bIns="0"/>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4" name="Date Placeholder 3"/>
          <p:cNvSpPr>
            <a:spLocks noGrp="1"/>
          </p:cNvSpPr>
          <p:nvPr>
            <p:ph type="dt" sz="half" idx="10"/>
          </p:nvPr>
        </p:nvSpPr>
        <p:spPr/>
        <p:txBody>
          <a:bodyPr/>
          <a:lstStyle/>
          <a:p>
            <a:fld id="{0C319494-4846-4652-9352-F8CB4A0CE8FC}" type="datetimeFigureOut">
              <a:rPr lang="es-CO" smtClean="0"/>
              <a:t>18/07/2025</a:t>
            </a:fld>
            <a:endParaRPr lang="es-CO"/>
          </a:p>
        </p:txBody>
      </p:sp>
      <p:sp>
        <p:nvSpPr>
          <p:cNvPr id="5" name="Footer Placeholder 4"/>
          <p:cNvSpPr>
            <a:spLocks noGrp="1"/>
          </p:cNvSpPr>
          <p:nvPr>
            <p:ph type="ftr" sz="quarter" idx="11"/>
          </p:nvPr>
        </p:nvSpPr>
        <p:spPr/>
        <p:txBody>
          <a:bodyPr/>
          <a:lstStyle/>
          <a:p>
            <a:endParaRPr lang="es-CO"/>
          </a:p>
        </p:txBody>
      </p:sp>
      <p:sp>
        <p:nvSpPr>
          <p:cNvPr id="6" name="Slide Number Placeholder 5"/>
          <p:cNvSpPr>
            <a:spLocks noGrp="1"/>
          </p:cNvSpPr>
          <p:nvPr>
            <p:ph type="sldNum" sz="quarter" idx="12"/>
          </p:nvPr>
        </p:nvSpPr>
        <p:spPr/>
        <p:txBody>
          <a:bodyPr/>
          <a:lstStyle/>
          <a:p>
            <a:fld id="{EBD4BF25-1FEA-4B56-8344-AD6904BF59ED}" type="slidenum">
              <a:rPr lang="es-CO" smtClean="0"/>
              <a:t>‹Nº›</a:t>
            </a:fld>
            <a:endParaRPr lang="es-CO"/>
          </a:p>
        </p:txBody>
      </p:sp>
    </p:spTree>
    <p:extLst>
      <p:ext uri="{BB962C8B-B14F-4D97-AF65-F5344CB8AC3E}">
        <p14:creationId xmlns:p14="http://schemas.microsoft.com/office/powerpoint/2010/main" val="383423414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7" name="Rectangle 6"/>
          <p:cNvSpPr/>
          <p:nvPr/>
        </p:nvSpPr>
        <p:spPr>
          <a:xfrm>
            <a:off x="1" y="6400800"/>
            <a:ext cx="12192000"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9" name="Rectangle 8"/>
          <p:cNvSpPr/>
          <p:nvPr/>
        </p:nvSpPr>
        <p:spPr>
          <a:xfrm>
            <a:off x="0" y="6334316"/>
            <a:ext cx="12192001" cy="659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Placeholder 1"/>
          <p:cNvSpPr>
            <a:spLocks noGrp="1"/>
          </p:cNvSpPr>
          <p:nvPr>
            <p:ph type="title"/>
          </p:nvPr>
        </p:nvSpPr>
        <p:spPr>
          <a:xfrm>
            <a:off x="1097280" y="286603"/>
            <a:ext cx="10058400" cy="1450757"/>
          </a:xfrm>
          <a:prstGeom prst="rect">
            <a:avLst/>
          </a:prstGeom>
        </p:spPr>
        <p:txBody>
          <a:bodyPr vert="horz" lIns="91440" tIns="45720" rIns="91440" bIns="45720" rtlCol="0" anchor="b">
            <a:normAutofit/>
          </a:bodyPr>
          <a:lstStyle/>
          <a:p>
            <a:r>
              <a:rPr lang="es-ES"/>
              <a:t>Haga clic para modificar el estilo de título del patrón</a:t>
            </a:r>
            <a:endParaRPr lang="en-US" dirty="0"/>
          </a:p>
        </p:txBody>
      </p:sp>
      <p:sp>
        <p:nvSpPr>
          <p:cNvPr id="3" name="Text Placeholder 2"/>
          <p:cNvSpPr>
            <a:spLocks noGrp="1"/>
          </p:cNvSpPr>
          <p:nvPr>
            <p:ph type="body" idx="1"/>
          </p:nvPr>
        </p:nvSpPr>
        <p:spPr>
          <a:xfrm>
            <a:off x="1097280" y="1845734"/>
            <a:ext cx="10058400" cy="4023360"/>
          </a:xfrm>
          <a:prstGeom prst="rect">
            <a:avLst/>
          </a:prstGeom>
        </p:spPr>
        <p:txBody>
          <a:bodyPr vert="horz" lIns="0" tIns="45720" rIns="0" bIns="45720" rtlCol="0">
            <a:normAutofit/>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4" name="Date Placeholder 3"/>
          <p:cNvSpPr>
            <a:spLocks noGrp="1"/>
          </p:cNvSpPr>
          <p:nvPr>
            <p:ph type="dt" sz="half" idx="2"/>
          </p:nvPr>
        </p:nvSpPr>
        <p:spPr>
          <a:xfrm>
            <a:off x="1097280" y="6459785"/>
            <a:ext cx="2472271" cy="365125"/>
          </a:xfrm>
          <a:prstGeom prst="rect">
            <a:avLst/>
          </a:prstGeom>
        </p:spPr>
        <p:txBody>
          <a:bodyPr vert="horz" lIns="91440" tIns="45720" rIns="91440" bIns="45720" rtlCol="0" anchor="ctr"/>
          <a:lstStyle>
            <a:lvl1pPr algn="l">
              <a:defRPr sz="900">
                <a:solidFill>
                  <a:srgbClr val="FFFFFF"/>
                </a:solidFill>
              </a:defRPr>
            </a:lvl1pPr>
          </a:lstStyle>
          <a:p>
            <a:fld id="{0C319494-4846-4652-9352-F8CB4A0CE8FC}" type="datetimeFigureOut">
              <a:rPr lang="es-CO" smtClean="0"/>
              <a:t>18/07/2025</a:t>
            </a:fld>
            <a:endParaRPr lang="es-CO"/>
          </a:p>
        </p:txBody>
      </p:sp>
      <p:sp>
        <p:nvSpPr>
          <p:cNvPr id="5" name="Footer Placeholder 4"/>
          <p:cNvSpPr>
            <a:spLocks noGrp="1"/>
          </p:cNvSpPr>
          <p:nvPr>
            <p:ph type="ftr" sz="quarter" idx="3"/>
          </p:nvPr>
        </p:nvSpPr>
        <p:spPr>
          <a:xfrm>
            <a:off x="3686185" y="6459785"/>
            <a:ext cx="4822804" cy="365125"/>
          </a:xfrm>
          <a:prstGeom prst="rect">
            <a:avLst/>
          </a:prstGeom>
        </p:spPr>
        <p:txBody>
          <a:bodyPr vert="horz" lIns="91440" tIns="45720" rIns="91440" bIns="45720" rtlCol="0" anchor="ctr"/>
          <a:lstStyle>
            <a:lvl1pPr algn="ctr">
              <a:defRPr sz="900" cap="all" baseline="0">
                <a:solidFill>
                  <a:srgbClr val="FFFFFF"/>
                </a:solidFill>
              </a:defRPr>
            </a:lvl1pPr>
          </a:lstStyle>
          <a:p>
            <a:endParaRPr lang="es-CO"/>
          </a:p>
        </p:txBody>
      </p:sp>
      <p:sp>
        <p:nvSpPr>
          <p:cNvPr id="6" name="Slide Number Placeholder 5"/>
          <p:cNvSpPr>
            <a:spLocks noGrp="1"/>
          </p:cNvSpPr>
          <p:nvPr>
            <p:ph type="sldNum" sz="quarter" idx="4"/>
          </p:nvPr>
        </p:nvSpPr>
        <p:spPr>
          <a:xfrm>
            <a:off x="9900458" y="6459785"/>
            <a:ext cx="1312025" cy="365125"/>
          </a:xfrm>
          <a:prstGeom prst="rect">
            <a:avLst/>
          </a:prstGeom>
        </p:spPr>
        <p:txBody>
          <a:bodyPr vert="horz" lIns="91440" tIns="45720" rIns="91440" bIns="45720" rtlCol="0" anchor="ctr"/>
          <a:lstStyle>
            <a:lvl1pPr algn="r">
              <a:defRPr sz="1050">
                <a:solidFill>
                  <a:srgbClr val="FFFFFF"/>
                </a:solidFill>
              </a:defRPr>
            </a:lvl1pPr>
          </a:lstStyle>
          <a:p>
            <a:fld id="{EBD4BF25-1FEA-4B56-8344-AD6904BF59ED}" type="slidenum">
              <a:rPr lang="es-CO" smtClean="0"/>
              <a:t>‹Nº›</a:t>
            </a:fld>
            <a:endParaRPr lang="es-CO"/>
          </a:p>
        </p:txBody>
      </p:sp>
      <p:cxnSp>
        <p:nvCxnSpPr>
          <p:cNvPr id="10" name="Straight Connector 9"/>
          <p:cNvCxnSpPr/>
          <p:nvPr/>
        </p:nvCxnSpPr>
        <p:spPr>
          <a:xfrm>
            <a:off x="1193532" y="1737845"/>
            <a:ext cx="9966960" cy="0"/>
          </a:xfrm>
          <a:prstGeom prst="line">
            <a:avLst/>
          </a:prstGeom>
          <a:ln w="63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96499756"/>
      </p:ext>
    </p:extLst>
  </p:cSld>
  <p:clrMap bg1="lt1" tx1="dk1" bg2="lt2" tx2="dk2" accent1="accent1" accent2="accent2" accent3="accent3" accent4="accent4" accent5="accent5" accent6="accent6" hlink="hlink" folHlink="folHlink"/>
  <p:sldLayoutIdLst>
    <p:sldLayoutId id="2147483678" r:id="rId1"/>
    <p:sldLayoutId id="2147483679" r:id="rId2"/>
    <p:sldLayoutId id="2147483680" r:id="rId3"/>
    <p:sldLayoutId id="2147483681" r:id="rId4"/>
    <p:sldLayoutId id="2147483682" r:id="rId5"/>
    <p:sldLayoutId id="2147483683" r:id="rId6"/>
    <p:sldLayoutId id="2147483684" r:id="rId7"/>
    <p:sldLayoutId id="2147483685" r:id="rId8"/>
    <p:sldLayoutId id="2147483686" r:id="rId9"/>
    <p:sldLayoutId id="2147483687" r:id="rId10"/>
    <p:sldLayoutId id="2147483688" r:id="rId11"/>
  </p:sldLayoutIdLst>
  <p:txStyles>
    <p:titleStyle>
      <a:lvl1pPr algn="l" defTabSz="914400" rtl="0" eaLnBrk="1" latinLnBrk="0" hangingPunct="1">
        <a:lnSpc>
          <a:spcPct val="85000"/>
        </a:lnSpc>
        <a:spcBef>
          <a:spcPct val="0"/>
        </a:spcBef>
        <a:buNone/>
        <a:defRPr sz="4800" kern="1200" spc="-50" baseline="0">
          <a:solidFill>
            <a:schemeClr val="tx1">
              <a:lumMod val="75000"/>
              <a:lumOff val="25000"/>
            </a:schemeClr>
          </a:solidFill>
          <a:latin typeface="+mj-lt"/>
          <a:ea typeface="+mj-ea"/>
          <a:cs typeface="+mj-cs"/>
        </a:defRPr>
      </a:lvl1pPr>
    </p:titleStyle>
    <p:bodyStyle>
      <a:lvl1pPr marL="91440" indent="-91440" algn="l" defTabSz="914400" rtl="0" eaLnBrk="1" latinLnBrk="0" hangingPunct="1">
        <a:lnSpc>
          <a:spcPct val="90000"/>
        </a:lnSpc>
        <a:spcBef>
          <a:spcPts val="1200"/>
        </a:spcBef>
        <a:spcAft>
          <a:spcPts val="200"/>
        </a:spcAft>
        <a:buClr>
          <a:schemeClr val="accent1"/>
        </a:buClr>
        <a:buSzPct val="100000"/>
        <a:buFont typeface="Calibri" panose="020F0502020204030204" pitchFamily="34" charset="0"/>
        <a:buChar char=" "/>
        <a:defRPr sz="2000" kern="1200">
          <a:solidFill>
            <a:schemeClr val="tx1">
              <a:lumMod val="75000"/>
              <a:lumOff val="25000"/>
            </a:schemeClr>
          </a:solidFill>
          <a:latin typeface="+mn-lt"/>
          <a:ea typeface="+mn-ea"/>
          <a:cs typeface="+mn-cs"/>
        </a:defRPr>
      </a:lvl1pPr>
      <a:lvl2pPr marL="384048" indent="-182880" algn="l" defTabSz="914400" rtl="0" eaLnBrk="1" latinLnBrk="0" hangingPunct="1">
        <a:lnSpc>
          <a:spcPct val="90000"/>
        </a:lnSpc>
        <a:spcBef>
          <a:spcPts val="200"/>
        </a:spcBef>
        <a:spcAft>
          <a:spcPts val="400"/>
        </a:spcAft>
        <a:buClr>
          <a:schemeClr val="accent1"/>
        </a:buClr>
        <a:buFont typeface="Calibri" pitchFamily="34" charset="0"/>
        <a:buChar char="◦"/>
        <a:defRPr sz="1800" kern="1200">
          <a:solidFill>
            <a:schemeClr val="tx1">
              <a:lumMod val="75000"/>
              <a:lumOff val="25000"/>
            </a:schemeClr>
          </a:solidFill>
          <a:latin typeface="+mn-lt"/>
          <a:ea typeface="+mn-ea"/>
          <a:cs typeface="+mn-cs"/>
        </a:defRPr>
      </a:lvl2pPr>
      <a:lvl3pPr marL="566928" indent="-18288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3pPr>
      <a:lvl4pPr marL="749808" indent="-18288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4pPr>
      <a:lvl5pPr marL="932688" indent="-18288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5pPr>
      <a:lvl6pPr marL="11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6pPr>
      <a:lvl7pPr marL="13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7pPr>
      <a:lvl8pPr marL="15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8pPr>
      <a:lvl9pPr marL="17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hyperlink" Target="https://www2.sgc.gov.co/sgc/mapas/Documents/Mapa%20Metalogenico%202020/DepositosGeneralizados_2020.kmz" TargetMode="Externa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hyperlink" Target="https://agupubs.onlinelibrary.wiley.com/doi/10.1002/2017JB014688" TargetMode="External"/><Relationship Id="rId2" Type="http://schemas.openxmlformats.org/officeDocument/2006/relationships/hyperlink" Target="https://www2.sgc.gov.co/sgc/mapas/Paginas/AtlasGeoquimico.aspx" TargetMode="External"/><Relationship Id="rId1" Type="http://schemas.openxmlformats.org/officeDocument/2006/relationships/slideLayout" Target="../slideLayouts/slideLayout2.xml"/><Relationship Id="rId6" Type="http://schemas.openxmlformats.org/officeDocument/2006/relationships/hyperlink" Target="https://www2.sgc.gov.co/MGC/Paginas/pev33ch03.aspx" TargetMode="External"/><Relationship Id="rId5" Type="http://schemas.openxmlformats.org/officeDocument/2006/relationships/hyperlink" Target="https://datos.icde.gov.co/search?collection=Dataset&amp;layout=grid&amp;tags=geociencias%2520b%25C3%25A1sicas" TargetMode="External"/><Relationship Id="rId4" Type="http://schemas.openxmlformats.org/officeDocument/2006/relationships/hyperlink" Target="https://datos.sgc.gov.co/datasets/e5988c0200f6405681d6571d92468e92_0/explore"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2.xml"/><Relationship Id="rId4" Type="http://schemas.openxmlformats.org/officeDocument/2006/relationships/image" Target="../media/image8.png"/></Relationships>
</file>

<file path=ppt/slides/_rels/slide8.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1.xml"/><Relationship Id="rId1" Type="http://schemas.openxmlformats.org/officeDocument/2006/relationships/slideLayout" Target="../slideLayouts/slideLayout2.xml"/><Relationship Id="rId4" Type="http://schemas.openxmlformats.org/officeDocument/2006/relationships/image" Target="../media/image22.png"/></Relationships>
</file>

<file path=ppt/slides/_rels/slide15.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2.xml"/><Relationship Id="rId1" Type="http://schemas.openxmlformats.org/officeDocument/2006/relationships/slideLayout" Target="../slideLayouts/slideLayout2.xml"/><Relationship Id="rId4" Type="http://schemas.openxmlformats.org/officeDocument/2006/relationships/image" Target="../media/image30.png"/></Relationships>
</file>

<file path=ppt/slides/_rels/slide21.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5.xml"/><Relationship Id="rId1" Type="http://schemas.openxmlformats.org/officeDocument/2006/relationships/slideLayout" Target="../slideLayouts/slideLayout2.xml"/><Relationship Id="rId4" Type="http://schemas.openxmlformats.org/officeDocument/2006/relationships/image" Target="../media/image34.png"/></Relationships>
</file>

<file path=ppt/slides/_rels/slide24.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image" Target="../media/image35.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6.xml"/><Relationship Id="rId1" Type="http://schemas.openxmlformats.org/officeDocument/2006/relationships/slideLayout" Target="../slideLayouts/slideLayout2.xml"/><Relationship Id="rId4" Type="http://schemas.openxmlformats.org/officeDocument/2006/relationships/image" Target="../media/image38.png"/></Relationships>
</file>

<file path=ppt/slides/_rels/slide26.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image" Target="../media/image40.png"/></Relationships>
</file>

<file path=ppt/slides/_rels/slide27.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image" Target="../media/image41.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notesSlide" Target="../notesSlides/notesSlide8.xml"/><Relationship Id="rId1" Type="http://schemas.openxmlformats.org/officeDocument/2006/relationships/slideLayout" Target="../slideLayouts/slideLayout2.xml"/><Relationship Id="rId5" Type="http://schemas.openxmlformats.org/officeDocument/2006/relationships/image" Target="../media/image45.png"/><Relationship Id="rId4" Type="http://schemas.openxmlformats.org/officeDocument/2006/relationships/image" Target="../media/image44.png"/></Relationships>
</file>

<file path=ppt/slides/_rels/slide29.xml.rels><?xml version="1.0" encoding="UTF-8" standalone="yes"?>
<Relationships xmlns="http://schemas.openxmlformats.org/package/2006/relationships"><Relationship Id="rId2" Type="http://schemas.openxmlformats.org/officeDocument/2006/relationships/image" Target="../media/image46.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image" Target="../media/image48.pn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image" Target="../media/image49.png"/><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image" Target="../media/image51.png"/><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8F8554F-B5C7-4670-B05E-9249A18F4CBC}"/>
              </a:ext>
            </a:extLst>
          </p:cNvPr>
          <p:cNvSpPr>
            <a:spLocks noGrp="1"/>
          </p:cNvSpPr>
          <p:nvPr>
            <p:ph type="ctrTitle"/>
          </p:nvPr>
        </p:nvSpPr>
        <p:spPr>
          <a:xfrm>
            <a:off x="433136" y="1942621"/>
            <a:ext cx="11863137" cy="2387600"/>
          </a:xfrm>
        </p:spPr>
        <p:txBody>
          <a:bodyPr>
            <a:normAutofit fontScale="90000"/>
          </a:bodyPr>
          <a:lstStyle/>
          <a:p>
            <a:r>
              <a:rPr lang="es-ES" dirty="0"/>
              <a:t>Estudio de la distribución espacial de depósitos Ígneo/Metamórficos en Colombia  </a:t>
            </a:r>
            <a:endParaRPr lang="es-CO" dirty="0"/>
          </a:p>
        </p:txBody>
      </p:sp>
      <p:sp>
        <p:nvSpPr>
          <p:cNvPr id="3" name="Subtítulo 2">
            <a:extLst>
              <a:ext uri="{FF2B5EF4-FFF2-40B4-BE49-F238E27FC236}">
                <a16:creationId xmlns:a16="http://schemas.microsoft.com/office/drawing/2014/main" id="{8D66E3D2-EEE9-45A3-AB3C-F3EA167E8576}"/>
              </a:ext>
            </a:extLst>
          </p:cNvPr>
          <p:cNvSpPr>
            <a:spLocks noGrp="1"/>
          </p:cNvSpPr>
          <p:nvPr>
            <p:ph type="subTitle" idx="1"/>
          </p:nvPr>
        </p:nvSpPr>
        <p:spPr>
          <a:xfrm>
            <a:off x="132789" y="4602558"/>
            <a:ext cx="9144000" cy="1655762"/>
          </a:xfrm>
        </p:spPr>
        <p:txBody>
          <a:bodyPr>
            <a:normAutofit lnSpcReduction="10000"/>
          </a:bodyPr>
          <a:lstStyle/>
          <a:p>
            <a:pPr algn="l"/>
            <a:endParaRPr lang="es-ES" dirty="0"/>
          </a:p>
          <a:p>
            <a:pPr algn="l"/>
            <a:endParaRPr lang="es-ES" dirty="0"/>
          </a:p>
          <a:p>
            <a:pPr algn="l"/>
            <a:r>
              <a:rPr lang="es-ES" dirty="0"/>
              <a:t>Presentación avance #2</a:t>
            </a:r>
            <a:br>
              <a:rPr lang="es-ES" dirty="0"/>
            </a:br>
            <a:r>
              <a:rPr lang="es-ES" dirty="0"/>
              <a:t>Geol. Santiago Cruz Alvarado</a:t>
            </a:r>
            <a:endParaRPr lang="es-CO" dirty="0"/>
          </a:p>
        </p:txBody>
      </p:sp>
    </p:spTree>
    <p:extLst>
      <p:ext uri="{BB962C8B-B14F-4D97-AF65-F5344CB8AC3E}">
        <p14:creationId xmlns:p14="http://schemas.microsoft.com/office/powerpoint/2010/main" val="342856955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6F5D401-215A-4D3B-BD3E-D6344C87800F}"/>
              </a:ext>
            </a:extLst>
          </p:cNvPr>
          <p:cNvSpPr>
            <a:spLocks noGrp="1"/>
          </p:cNvSpPr>
          <p:nvPr>
            <p:ph type="title"/>
          </p:nvPr>
        </p:nvSpPr>
        <p:spPr>
          <a:xfrm>
            <a:off x="-1951199" y="392151"/>
            <a:ext cx="8288032" cy="1096316"/>
          </a:xfrm>
        </p:spPr>
        <p:txBody>
          <a:bodyPr vert="horz" lIns="91440" tIns="45720" rIns="91440" bIns="45720" rtlCol="0" anchor="b">
            <a:normAutofit/>
          </a:bodyPr>
          <a:lstStyle/>
          <a:p>
            <a:pPr algn="ctr"/>
            <a:r>
              <a:rPr lang="en-US" sz="4800" kern="1200" dirty="0">
                <a:solidFill>
                  <a:schemeClr val="accent1"/>
                </a:solidFill>
                <a:latin typeface="+mj-lt"/>
                <a:ea typeface="+mj-ea"/>
                <a:cs typeface="+mj-cs"/>
              </a:rPr>
              <a:t>DF - </a:t>
            </a:r>
            <a:r>
              <a:rPr lang="en-US" sz="4800" kern="1200" dirty="0" err="1">
                <a:solidFill>
                  <a:schemeClr val="accent1"/>
                </a:solidFill>
                <a:latin typeface="+mj-lt"/>
                <a:ea typeface="+mj-ea"/>
                <a:cs typeface="+mj-cs"/>
              </a:rPr>
              <a:t>Eventos</a:t>
            </a:r>
            <a:endParaRPr lang="en-US" sz="4800" kern="1200" dirty="0">
              <a:solidFill>
                <a:schemeClr val="accent1"/>
              </a:solidFill>
              <a:latin typeface="+mj-lt"/>
              <a:ea typeface="+mj-ea"/>
              <a:cs typeface="+mj-cs"/>
            </a:endParaRPr>
          </a:p>
        </p:txBody>
      </p:sp>
      <p:sp>
        <p:nvSpPr>
          <p:cNvPr id="7" name="CuadroTexto 6">
            <a:extLst>
              <a:ext uri="{FF2B5EF4-FFF2-40B4-BE49-F238E27FC236}">
                <a16:creationId xmlns:a16="http://schemas.microsoft.com/office/drawing/2014/main" id="{F77E82BC-3712-4DB9-B205-42FD5B2CD664}"/>
              </a:ext>
            </a:extLst>
          </p:cNvPr>
          <p:cNvSpPr txBox="1"/>
          <p:nvPr/>
        </p:nvSpPr>
        <p:spPr>
          <a:xfrm>
            <a:off x="-2083547" y="5695833"/>
            <a:ext cx="8288032" cy="469122"/>
          </a:xfrm>
          <a:prstGeom prst="rect">
            <a:avLst/>
          </a:prstGeom>
        </p:spPr>
        <p:txBody>
          <a:bodyPr vert="horz" lIns="91440" tIns="45720" rIns="91440" bIns="45720" rtlCol="0" anchor="t">
            <a:normAutofit/>
          </a:bodyPr>
          <a:lstStyle/>
          <a:p>
            <a:pPr algn="ctr">
              <a:spcBef>
                <a:spcPts val="1000"/>
              </a:spcBef>
              <a:buClr>
                <a:schemeClr val="accent1"/>
              </a:buClr>
              <a:buSzPct val="80000"/>
            </a:pPr>
            <a:r>
              <a:rPr lang="en-US" i="0" u="none" strike="noStrike" dirty="0" err="1">
                <a:solidFill>
                  <a:schemeClr val="tx1">
                    <a:lumMod val="50000"/>
                    <a:lumOff val="50000"/>
                  </a:schemeClr>
                </a:solidFill>
                <a:effectLst/>
                <a:hlinkClick r:id="rId2">
                  <a:extLst>
                    <a:ext uri="{A12FA001-AC4F-418D-AE19-62706E023703}">
                      <ahyp:hlinkClr xmlns:ahyp="http://schemas.microsoft.com/office/drawing/2018/hyperlinkcolor" val="tx"/>
                    </a:ext>
                  </a:extLst>
                </a:hlinkClick>
              </a:rPr>
              <a:t>Depósitos</a:t>
            </a:r>
            <a:r>
              <a:rPr lang="en-US" i="0" u="none" strike="noStrike" dirty="0">
                <a:solidFill>
                  <a:schemeClr val="tx1">
                    <a:lumMod val="50000"/>
                    <a:lumOff val="50000"/>
                  </a:schemeClr>
                </a:solidFill>
                <a:effectLst/>
                <a:hlinkClick r:id="rId2">
                  <a:extLst>
                    <a:ext uri="{A12FA001-AC4F-418D-AE19-62706E023703}">
                      <ahyp:hlinkClr xmlns:ahyp="http://schemas.microsoft.com/office/drawing/2018/hyperlinkcolor" val="tx"/>
                    </a:ext>
                  </a:extLst>
                </a:hlinkClick>
              </a:rPr>
              <a:t> </a:t>
            </a:r>
            <a:r>
              <a:rPr lang="en-US" i="0" u="none" strike="noStrike" dirty="0" err="1">
                <a:solidFill>
                  <a:schemeClr val="tx1">
                    <a:lumMod val="50000"/>
                    <a:lumOff val="50000"/>
                  </a:schemeClr>
                </a:solidFill>
                <a:effectLst/>
                <a:hlinkClick r:id="rId2">
                  <a:extLst>
                    <a:ext uri="{A12FA001-AC4F-418D-AE19-62706E023703}">
                      <ahyp:hlinkClr xmlns:ahyp="http://schemas.microsoft.com/office/drawing/2018/hyperlinkcolor" val="tx"/>
                    </a:ext>
                  </a:extLst>
                </a:hlinkClick>
              </a:rPr>
              <a:t>Generalizados</a:t>
            </a:r>
            <a:r>
              <a:rPr lang="en-US" i="0" u="none" strike="noStrike" dirty="0">
                <a:solidFill>
                  <a:schemeClr val="tx1">
                    <a:lumMod val="50000"/>
                    <a:lumOff val="50000"/>
                  </a:schemeClr>
                </a:solidFill>
                <a:effectLst/>
                <a:hlinkClick r:id="rId2">
                  <a:extLst>
                    <a:ext uri="{A12FA001-AC4F-418D-AE19-62706E023703}">
                      <ahyp:hlinkClr xmlns:ahyp="http://schemas.microsoft.com/office/drawing/2018/hyperlinkcolor" val="tx"/>
                    </a:ext>
                  </a:extLst>
                </a:hlinkClick>
              </a:rPr>
              <a:t> 2020</a:t>
            </a:r>
            <a:r>
              <a:rPr lang="en-US" i="0" u="none" strike="noStrike" dirty="0">
                <a:solidFill>
                  <a:schemeClr val="tx1">
                    <a:lumMod val="50000"/>
                    <a:lumOff val="50000"/>
                  </a:schemeClr>
                </a:solidFill>
                <a:effectLst/>
              </a:rPr>
              <a:t>, SGC</a:t>
            </a:r>
            <a:endParaRPr lang="en-US" dirty="0">
              <a:solidFill>
                <a:schemeClr val="tx1">
                  <a:lumMod val="50000"/>
                  <a:lumOff val="50000"/>
                </a:schemeClr>
              </a:solidFill>
            </a:endParaRPr>
          </a:p>
        </p:txBody>
      </p:sp>
      <p:graphicFrame>
        <p:nvGraphicFramePr>
          <p:cNvPr id="3" name="Tabla 2">
            <a:extLst>
              <a:ext uri="{FF2B5EF4-FFF2-40B4-BE49-F238E27FC236}">
                <a16:creationId xmlns:a16="http://schemas.microsoft.com/office/drawing/2014/main" id="{F97976EA-597A-4935-B263-9F7B398F48BC}"/>
              </a:ext>
            </a:extLst>
          </p:cNvPr>
          <p:cNvGraphicFramePr>
            <a:graphicFrameLocks noGrp="1"/>
          </p:cNvGraphicFramePr>
          <p:nvPr>
            <p:extLst>
              <p:ext uri="{D42A27DB-BD31-4B8C-83A1-F6EECF244321}">
                <p14:modId xmlns:p14="http://schemas.microsoft.com/office/powerpoint/2010/main" val="973285731"/>
              </p:ext>
            </p:extLst>
          </p:nvPr>
        </p:nvGraphicFramePr>
        <p:xfrm>
          <a:off x="613611" y="2082398"/>
          <a:ext cx="10876545" cy="2982335"/>
        </p:xfrm>
        <a:graphic>
          <a:graphicData uri="http://schemas.openxmlformats.org/drawingml/2006/table">
            <a:tbl>
              <a:tblPr/>
              <a:tblGrid>
                <a:gridCol w="1019921">
                  <a:extLst>
                    <a:ext uri="{9D8B030D-6E8A-4147-A177-3AD203B41FA5}">
                      <a16:colId xmlns:a16="http://schemas.microsoft.com/office/drawing/2014/main" val="1524960898"/>
                    </a:ext>
                  </a:extLst>
                </a:gridCol>
                <a:gridCol w="568506">
                  <a:extLst>
                    <a:ext uri="{9D8B030D-6E8A-4147-A177-3AD203B41FA5}">
                      <a16:colId xmlns:a16="http://schemas.microsoft.com/office/drawing/2014/main" val="383271858"/>
                    </a:ext>
                  </a:extLst>
                </a:gridCol>
                <a:gridCol w="707001">
                  <a:extLst>
                    <a:ext uri="{9D8B030D-6E8A-4147-A177-3AD203B41FA5}">
                      <a16:colId xmlns:a16="http://schemas.microsoft.com/office/drawing/2014/main" val="1789058738"/>
                    </a:ext>
                  </a:extLst>
                </a:gridCol>
                <a:gridCol w="950380">
                  <a:extLst>
                    <a:ext uri="{9D8B030D-6E8A-4147-A177-3AD203B41FA5}">
                      <a16:colId xmlns:a16="http://schemas.microsoft.com/office/drawing/2014/main" val="1173725110"/>
                    </a:ext>
                  </a:extLst>
                </a:gridCol>
                <a:gridCol w="736586">
                  <a:extLst>
                    <a:ext uri="{9D8B030D-6E8A-4147-A177-3AD203B41FA5}">
                      <a16:colId xmlns:a16="http://schemas.microsoft.com/office/drawing/2014/main" val="1216905674"/>
                    </a:ext>
                  </a:extLst>
                </a:gridCol>
                <a:gridCol w="826801">
                  <a:extLst>
                    <a:ext uri="{9D8B030D-6E8A-4147-A177-3AD203B41FA5}">
                      <a16:colId xmlns:a16="http://schemas.microsoft.com/office/drawing/2014/main" val="3549717564"/>
                    </a:ext>
                  </a:extLst>
                </a:gridCol>
                <a:gridCol w="863138">
                  <a:extLst>
                    <a:ext uri="{9D8B030D-6E8A-4147-A177-3AD203B41FA5}">
                      <a16:colId xmlns:a16="http://schemas.microsoft.com/office/drawing/2014/main" val="3416094288"/>
                    </a:ext>
                  </a:extLst>
                </a:gridCol>
                <a:gridCol w="976077">
                  <a:extLst>
                    <a:ext uri="{9D8B030D-6E8A-4147-A177-3AD203B41FA5}">
                      <a16:colId xmlns:a16="http://schemas.microsoft.com/office/drawing/2014/main" val="865053541"/>
                    </a:ext>
                  </a:extLst>
                </a:gridCol>
                <a:gridCol w="2242926">
                  <a:extLst>
                    <a:ext uri="{9D8B030D-6E8A-4147-A177-3AD203B41FA5}">
                      <a16:colId xmlns:a16="http://schemas.microsoft.com/office/drawing/2014/main" val="640857650"/>
                    </a:ext>
                  </a:extLst>
                </a:gridCol>
                <a:gridCol w="1985209">
                  <a:extLst>
                    <a:ext uri="{9D8B030D-6E8A-4147-A177-3AD203B41FA5}">
                      <a16:colId xmlns:a16="http://schemas.microsoft.com/office/drawing/2014/main" val="3540763540"/>
                    </a:ext>
                  </a:extLst>
                </a:gridCol>
              </a:tblGrid>
              <a:tr h="148386">
                <a:tc>
                  <a:txBody>
                    <a:bodyPr/>
                    <a:lstStyle/>
                    <a:p>
                      <a:pPr algn="ctr" fontAlgn="b">
                        <a:buNone/>
                      </a:pPr>
                      <a:r>
                        <a:rPr lang="es-CO" sz="1000" b="1" i="0" u="none" strike="noStrike">
                          <a:solidFill>
                            <a:srgbClr val="FFFFFF"/>
                          </a:solidFill>
                          <a:effectLst/>
                          <a:latin typeface="Calibri" panose="020F0502020204030204" pitchFamily="34" charset="0"/>
                        </a:rPr>
                        <a:t>IG_EST</a:t>
                      </a:r>
                      <a:endParaRPr lang="es-CO" sz="1600" b="0" i="0" u="none" strike="noStrike">
                        <a:effectLst/>
                        <a:latin typeface="Arial" panose="020B0604020202020204" pitchFamily="34" charset="0"/>
                      </a:endParaRPr>
                    </a:p>
                  </a:txBody>
                  <a:tcPr marL="4565" marR="4565" marT="4565" marB="0" anchor="b">
                    <a:lnL w="6350" cap="flat" cmpd="sng" algn="ctr">
                      <a:solidFill>
                        <a:srgbClr val="8EA9DB"/>
                      </a:solidFill>
                      <a:prstDash val="solid"/>
                      <a:round/>
                      <a:headEnd type="none" w="med" len="med"/>
                      <a:tailEnd type="none" w="med" len="med"/>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4472C4"/>
                    </a:solidFill>
                  </a:tcPr>
                </a:tc>
                <a:tc>
                  <a:txBody>
                    <a:bodyPr/>
                    <a:lstStyle/>
                    <a:p>
                      <a:pPr algn="ctr" fontAlgn="b">
                        <a:buNone/>
                      </a:pPr>
                      <a:r>
                        <a:rPr lang="es-CO" sz="1000" b="1" i="0" u="none" strike="noStrike">
                          <a:solidFill>
                            <a:srgbClr val="FFFFFF"/>
                          </a:solidFill>
                          <a:effectLst/>
                          <a:latin typeface="Calibri" panose="020F0502020204030204" pitchFamily="34" charset="0"/>
                        </a:rPr>
                        <a:t>IG_DEP</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4472C4"/>
                    </a:solidFill>
                  </a:tcPr>
                </a:tc>
                <a:tc>
                  <a:txBody>
                    <a:bodyPr/>
                    <a:lstStyle/>
                    <a:p>
                      <a:pPr algn="ctr" fontAlgn="b">
                        <a:buNone/>
                      </a:pPr>
                      <a:r>
                        <a:rPr lang="es-CO" sz="1000" b="1" i="0" u="none" strike="noStrike">
                          <a:solidFill>
                            <a:srgbClr val="FFFFFF"/>
                          </a:solidFill>
                          <a:effectLst/>
                          <a:latin typeface="Calibri" panose="020F0502020204030204" pitchFamily="34" charset="0"/>
                        </a:rPr>
                        <a:t>IG_MUN</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4472C4"/>
                    </a:solidFill>
                  </a:tcPr>
                </a:tc>
                <a:tc>
                  <a:txBody>
                    <a:bodyPr/>
                    <a:lstStyle/>
                    <a:p>
                      <a:pPr algn="ctr" fontAlgn="b">
                        <a:buNone/>
                      </a:pPr>
                      <a:r>
                        <a:rPr lang="es-CO" sz="1000" b="1" i="0" u="none" strike="noStrike">
                          <a:solidFill>
                            <a:srgbClr val="FFFFFF"/>
                          </a:solidFill>
                          <a:effectLst/>
                          <a:latin typeface="Calibri" panose="020F0502020204030204" pitchFamily="34" charset="0"/>
                        </a:rPr>
                        <a:t>IG_POB</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4472C4"/>
                    </a:solidFill>
                  </a:tcPr>
                </a:tc>
                <a:tc>
                  <a:txBody>
                    <a:bodyPr/>
                    <a:lstStyle/>
                    <a:p>
                      <a:pPr algn="ctr" fontAlgn="b">
                        <a:buNone/>
                      </a:pPr>
                      <a:r>
                        <a:rPr lang="es-CO" sz="1000" b="1" i="0" u="none" strike="noStrike">
                          <a:solidFill>
                            <a:srgbClr val="FFFFFF"/>
                          </a:solidFill>
                          <a:effectLst/>
                          <a:latin typeface="Calibri" panose="020F0502020204030204" pitchFamily="34" charset="0"/>
                        </a:rPr>
                        <a:t>IG_LAT_W84</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4472C4"/>
                    </a:solidFill>
                  </a:tcPr>
                </a:tc>
                <a:tc>
                  <a:txBody>
                    <a:bodyPr/>
                    <a:lstStyle/>
                    <a:p>
                      <a:pPr algn="ctr" fontAlgn="b">
                        <a:buNone/>
                      </a:pPr>
                      <a:r>
                        <a:rPr lang="es-CO" sz="1000" b="1" i="0" u="none" strike="noStrike">
                          <a:solidFill>
                            <a:srgbClr val="FFFFFF"/>
                          </a:solidFill>
                          <a:effectLst/>
                          <a:latin typeface="Calibri" panose="020F0502020204030204" pitchFamily="34" charset="0"/>
                        </a:rPr>
                        <a:t>IG_LON_W84</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4472C4"/>
                    </a:solidFill>
                  </a:tcPr>
                </a:tc>
                <a:tc>
                  <a:txBody>
                    <a:bodyPr/>
                    <a:lstStyle/>
                    <a:p>
                      <a:pPr algn="ctr" fontAlgn="b">
                        <a:buNone/>
                      </a:pPr>
                      <a:r>
                        <a:rPr lang="es-CO" sz="1000" b="1" i="0" u="none" strike="noStrike">
                          <a:solidFill>
                            <a:srgbClr val="FFFFFF"/>
                          </a:solidFill>
                          <a:effectLst/>
                          <a:latin typeface="Calibri" panose="020F0502020204030204" pitchFamily="34" charset="0"/>
                        </a:rPr>
                        <a:t>D_PR_PAL1</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4472C4"/>
                    </a:solidFill>
                  </a:tcPr>
                </a:tc>
                <a:tc>
                  <a:txBody>
                    <a:bodyPr/>
                    <a:lstStyle/>
                    <a:p>
                      <a:pPr algn="ctr" fontAlgn="b">
                        <a:buNone/>
                      </a:pPr>
                      <a:r>
                        <a:rPr lang="es-CO" sz="1000" b="1" i="0" u="none" strike="noStrike">
                          <a:solidFill>
                            <a:srgbClr val="FFFFFF"/>
                          </a:solidFill>
                          <a:effectLst/>
                          <a:latin typeface="Calibri" panose="020F0502020204030204" pitchFamily="34" charset="0"/>
                        </a:rPr>
                        <a:t>D_MI_PAL1</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4472C4"/>
                    </a:solidFill>
                  </a:tcPr>
                </a:tc>
                <a:tc>
                  <a:txBody>
                    <a:bodyPr/>
                    <a:lstStyle/>
                    <a:p>
                      <a:pPr algn="ctr" fontAlgn="b">
                        <a:buNone/>
                      </a:pPr>
                      <a:r>
                        <a:rPr lang="es-CO" sz="1000" b="1" i="0" u="none" strike="noStrike">
                          <a:solidFill>
                            <a:srgbClr val="FFFFFF"/>
                          </a:solidFill>
                          <a:effectLst/>
                          <a:latin typeface="Calibri" panose="020F0502020204030204" pitchFamily="34" charset="0"/>
                        </a:rPr>
                        <a:t>D_CLAS_DEP</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4472C4"/>
                    </a:solidFill>
                  </a:tcPr>
                </a:tc>
                <a:tc>
                  <a:txBody>
                    <a:bodyPr/>
                    <a:lstStyle/>
                    <a:p>
                      <a:pPr algn="ctr" fontAlgn="b">
                        <a:buNone/>
                      </a:pPr>
                      <a:r>
                        <a:rPr lang="es-CO" sz="1000" b="1" i="0" u="none" strike="noStrike">
                          <a:solidFill>
                            <a:srgbClr val="FFFFFF"/>
                          </a:solidFill>
                          <a:effectLst/>
                          <a:latin typeface="Calibri" panose="020F0502020204030204" pitchFamily="34" charset="0"/>
                        </a:rPr>
                        <a:t>R_RO_HUES</a:t>
                      </a:r>
                      <a:endParaRPr lang="es-CO" sz="1600" b="0" i="0" u="none" strike="noStrike">
                        <a:effectLst/>
                        <a:latin typeface="Arial" panose="020B0604020202020204" pitchFamily="34" charset="0"/>
                      </a:endParaRPr>
                    </a:p>
                  </a:txBody>
                  <a:tcPr marL="4565" marR="4565" marT="4565" marB="0" anchor="b">
                    <a:lnL>
                      <a:noFill/>
                    </a:lnL>
                    <a:lnR w="6350" cap="flat" cmpd="sng" algn="ctr">
                      <a:solidFill>
                        <a:srgbClr val="8EA9DB"/>
                      </a:solidFill>
                      <a:prstDash val="solid"/>
                      <a:round/>
                      <a:headEnd type="none" w="med" len="med"/>
                      <a:tailEnd type="none" w="med" len="med"/>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4472C4"/>
                    </a:solidFill>
                  </a:tcPr>
                </a:tc>
                <a:extLst>
                  <a:ext uri="{0D108BD9-81ED-4DB2-BD59-A6C34878D82A}">
                    <a16:rowId xmlns:a16="http://schemas.microsoft.com/office/drawing/2014/main" val="2717072499"/>
                  </a:ext>
                </a:extLst>
              </a:tr>
              <a:tr h="148386">
                <a:tc>
                  <a:txBody>
                    <a:bodyPr/>
                    <a:lstStyle/>
                    <a:p>
                      <a:pPr algn="ctr" fontAlgn="b">
                        <a:buNone/>
                      </a:pPr>
                      <a:r>
                        <a:rPr lang="es-CO" sz="1000" b="0" i="0" u="none" strike="noStrike">
                          <a:solidFill>
                            <a:srgbClr val="000000"/>
                          </a:solidFill>
                          <a:effectLst/>
                          <a:latin typeface="Calibri" panose="020F0502020204030204" pitchFamily="34" charset="0"/>
                        </a:rPr>
                        <a:t>Ocurrencia</a:t>
                      </a:r>
                      <a:endParaRPr lang="es-CO" sz="1600" b="0" i="0" u="none" strike="noStrike">
                        <a:effectLst/>
                        <a:latin typeface="Arial" panose="020B0604020202020204" pitchFamily="34" charset="0"/>
                      </a:endParaRPr>
                    </a:p>
                  </a:txBody>
                  <a:tcPr marL="4565" marR="4565" marT="4565" marB="0" anchor="b">
                    <a:lnL w="6350" cap="flat" cmpd="sng" algn="ctr">
                      <a:solidFill>
                        <a:srgbClr val="8EA9DB"/>
                      </a:solidFill>
                      <a:prstDash val="solid"/>
                      <a:round/>
                      <a:headEnd type="none" w="med" len="med"/>
                      <a:tailEnd type="none" w="med" len="med"/>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D9E1F2"/>
                    </a:solidFill>
                  </a:tcPr>
                </a:tc>
                <a:tc>
                  <a:txBody>
                    <a:bodyPr/>
                    <a:lstStyle/>
                    <a:p>
                      <a:pPr algn="ctr" fontAlgn="b">
                        <a:buNone/>
                      </a:pPr>
                      <a:r>
                        <a:rPr lang="es-CO" sz="1000" b="0" i="0" u="none" strike="noStrike">
                          <a:solidFill>
                            <a:srgbClr val="000000"/>
                          </a:solidFill>
                          <a:effectLst/>
                          <a:latin typeface="Calibri" panose="020F0502020204030204" pitchFamily="34" charset="0"/>
                        </a:rPr>
                        <a:t>Antioquia</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D9E1F2"/>
                    </a:solidFill>
                  </a:tcPr>
                </a:tc>
                <a:tc>
                  <a:txBody>
                    <a:bodyPr/>
                    <a:lstStyle/>
                    <a:p>
                      <a:pPr algn="ctr" fontAlgn="b">
                        <a:buNone/>
                      </a:pPr>
                      <a:r>
                        <a:rPr lang="es-CO" sz="1000" b="0" i="0" u="none" strike="noStrike">
                          <a:solidFill>
                            <a:srgbClr val="000000"/>
                          </a:solidFill>
                          <a:effectLst/>
                          <a:latin typeface="Calibri" panose="020F0502020204030204" pitchFamily="34" charset="0"/>
                        </a:rPr>
                        <a:t>Amalfi</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D9E1F2"/>
                    </a:solidFill>
                  </a:tcPr>
                </a:tc>
                <a:tc>
                  <a:txBody>
                    <a:bodyPr/>
                    <a:lstStyle/>
                    <a:p>
                      <a:pPr algn="ctr" fontAlgn="b">
                        <a:buNone/>
                      </a:pPr>
                      <a:r>
                        <a:rPr lang="es-CO" sz="1000" b="0" i="0" u="none" strike="noStrike">
                          <a:solidFill>
                            <a:srgbClr val="000000"/>
                          </a:solidFill>
                          <a:effectLst/>
                          <a:latin typeface="Calibri" panose="020F0502020204030204" pitchFamily="34" charset="0"/>
                        </a:rPr>
                        <a:t>El Guiaco</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D9E1F2"/>
                    </a:solidFill>
                  </a:tcPr>
                </a:tc>
                <a:tc>
                  <a:txBody>
                    <a:bodyPr/>
                    <a:lstStyle/>
                    <a:p>
                      <a:pPr algn="ctr" fontAlgn="b">
                        <a:buNone/>
                      </a:pPr>
                      <a:r>
                        <a:rPr lang="es-CO" sz="1000" b="0" i="0" u="none" strike="noStrike">
                          <a:solidFill>
                            <a:srgbClr val="000000"/>
                          </a:solidFill>
                          <a:effectLst/>
                          <a:latin typeface="Calibri" panose="020F0502020204030204" pitchFamily="34" charset="0"/>
                        </a:rPr>
                        <a:t>6.870664</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D9E1F2"/>
                    </a:solidFill>
                  </a:tcPr>
                </a:tc>
                <a:tc>
                  <a:txBody>
                    <a:bodyPr/>
                    <a:lstStyle/>
                    <a:p>
                      <a:pPr algn="ctr" fontAlgn="b">
                        <a:buNone/>
                      </a:pPr>
                      <a:r>
                        <a:rPr lang="es-CO" sz="1000" b="0" i="0" u="none" strike="noStrike">
                          <a:solidFill>
                            <a:srgbClr val="000000"/>
                          </a:solidFill>
                          <a:effectLst/>
                          <a:latin typeface="Calibri" panose="020F0502020204030204" pitchFamily="34" charset="0"/>
                        </a:rPr>
                        <a:t>-75.154996</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D9E1F2"/>
                    </a:solidFill>
                  </a:tcPr>
                </a:tc>
                <a:tc>
                  <a:txBody>
                    <a:bodyPr/>
                    <a:lstStyle/>
                    <a:p>
                      <a:pPr algn="ctr" fontAlgn="b">
                        <a:buNone/>
                      </a:pPr>
                      <a:r>
                        <a:rPr lang="es-CO" sz="1000" b="0" i="0" u="none" strike="noStrike">
                          <a:solidFill>
                            <a:srgbClr val="000000"/>
                          </a:solidFill>
                          <a:effectLst/>
                          <a:latin typeface="Calibri" panose="020F0502020204030204" pitchFamily="34" charset="0"/>
                        </a:rPr>
                        <a:t>Oro-Au</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D9E1F2"/>
                    </a:solidFill>
                  </a:tcPr>
                </a:tc>
                <a:tc>
                  <a:txBody>
                    <a:bodyPr/>
                    <a:lstStyle/>
                    <a:p>
                      <a:pPr algn="ctr" fontAlgn="b">
                        <a:buNone/>
                      </a:pPr>
                      <a:r>
                        <a:rPr lang="es-CO" sz="1000" b="0" i="0" u="none" strike="noStrike">
                          <a:solidFill>
                            <a:srgbClr val="000000"/>
                          </a:solidFill>
                          <a:effectLst/>
                          <a:latin typeface="Calibri" panose="020F0502020204030204" pitchFamily="34" charset="0"/>
                        </a:rPr>
                        <a:t>Pirita-FeS2</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D9E1F2"/>
                    </a:solidFill>
                  </a:tcPr>
                </a:tc>
                <a:tc>
                  <a:txBody>
                    <a:bodyPr/>
                    <a:lstStyle/>
                    <a:p>
                      <a:pPr algn="ctr" fontAlgn="b">
                        <a:buNone/>
                      </a:pPr>
                      <a:r>
                        <a:rPr lang="es-CO" sz="1000" b="0" i="0" u="none" strike="noStrike">
                          <a:solidFill>
                            <a:srgbClr val="000000"/>
                          </a:solidFill>
                          <a:effectLst/>
                          <a:latin typeface="Calibri" panose="020F0502020204030204" pitchFamily="34" charset="0"/>
                        </a:rPr>
                        <a:t>Epitermal</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D9E1F2"/>
                    </a:solidFill>
                  </a:tcPr>
                </a:tc>
                <a:tc>
                  <a:txBody>
                    <a:bodyPr/>
                    <a:lstStyle/>
                    <a:p>
                      <a:pPr algn="ctr" fontAlgn="b">
                        <a:buNone/>
                      </a:pPr>
                      <a:r>
                        <a:rPr lang="es-CO" sz="1000" b="0" i="0" u="none" strike="noStrike">
                          <a:solidFill>
                            <a:srgbClr val="000000"/>
                          </a:solidFill>
                          <a:effectLst/>
                          <a:latin typeface="Calibri" panose="020F0502020204030204" pitchFamily="34" charset="0"/>
                        </a:rPr>
                        <a:t>ROCA METAMÓRFICA</a:t>
                      </a:r>
                      <a:endParaRPr lang="es-CO" sz="1600" b="0" i="0" u="none" strike="noStrike">
                        <a:effectLst/>
                        <a:latin typeface="Arial" panose="020B0604020202020204" pitchFamily="34" charset="0"/>
                      </a:endParaRPr>
                    </a:p>
                  </a:txBody>
                  <a:tcPr marL="4565" marR="4565" marT="4565" marB="0" anchor="b">
                    <a:lnL>
                      <a:noFill/>
                    </a:lnL>
                    <a:lnR w="6350" cap="flat" cmpd="sng" algn="ctr">
                      <a:solidFill>
                        <a:srgbClr val="8EA9DB"/>
                      </a:solidFill>
                      <a:prstDash val="solid"/>
                      <a:round/>
                      <a:headEnd type="none" w="med" len="med"/>
                      <a:tailEnd type="none" w="med" len="med"/>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D9E1F2"/>
                    </a:solidFill>
                  </a:tcPr>
                </a:tc>
                <a:extLst>
                  <a:ext uri="{0D108BD9-81ED-4DB2-BD59-A6C34878D82A}">
                    <a16:rowId xmlns:a16="http://schemas.microsoft.com/office/drawing/2014/main" val="1801141954"/>
                  </a:ext>
                </a:extLst>
              </a:tr>
              <a:tr h="148386">
                <a:tc>
                  <a:txBody>
                    <a:bodyPr/>
                    <a:lstStyle/>
                    <a:p>
                      <a:pPr algn="ctr" fontAlgn="b">
                        <a:buNone/>
                      </a:pPr>
                      <a:r>
                        <a:rPr lang="es-CO" sz="1000" b="0" i="0" u="none" strike="noStrike">
                          <a:solidFill>
                            <a:srgbClr val="000000"/>
                          </a:solidFill>
                          <a:effectLst/>
                          <a:latin typeface="Calibri" panose="020F0502020204030204" pitchFamily="34" charset="0"/>
                        </a:rPr>
                        <a:t>Ocurrencia</a:t>
                      </a:r>
                      <a:endParaRPr lang="es-CO" sz="1600" b="0" i="0" u="none" strike="noStrike">
                        <a:effectLst/>
                        <a:latin typeface="Arial" panose="020B0604020202020204" pitchFamily="34" charset="0"/>
                      </a:endParaRPr>
                    </a:p>
                  </a:txBody>
                  <a:tcPr marL="4565" marR="4565" marT="4565" marB="0" anchor="b">
                    <a:lnL w="6350" cap="flat" cmpd="sng" algn="ctr">
                      <a:solidFill>
                        <a:srgbClr val="8EA9DB"/>
                      </a:solidFill>
                      <a:prstDash val="solid"/>
                      <a:round/>
                      <a:headEnd type="none" w="med" len="med"/>
                      <a:tailEnd type="none" w="med" len="med"/>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noFill/>
                  </a:tcPr>
                </a:tc>
                <a:tc>
                  <a:txBody>
                    <a:bodyPr/>
                    <a:lstStyle/>
                    <a:p>
                      <a:pPr algn="ctr" fontAlgn="b">
                        <a:buNone/>
                      </a:pPr>
                      <a:r>
                        <a:rPr lang="es-CO" sz="1000" b="0" i="0" u="none" strike="noStrike">
                          <a:solidFill>
                            <a:srgbClr val="000000"/>
                          </a:solidFill>
                          <a:effectLst/>
                          <a:latin typeface="Calibri" panose="020F0502020204030204" pitchFamily="34" charset="0"/>
                        </a:rPr>
                        <a:t>Antioquia</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noFill/>
                  </a:tcPr>
                </a:tc>
                <a:tc>
                  <a:txBody>
                    <a:bodyPr/>
                    <a:lstStyle/>
                    <a:p>
                      <a:pPr algn="ctr" fontAlgn="b">
                        <a:buNone/>
                      </a:pPr>
                      <a:r>
                        <a:rPr lang="es-CO" sz="1000" b="0" i="0" u="none" strike="noStrike">
                          <a:solidFill>
                            <a:srgbClr val="000000"/>
                          </a:solidFill>
                          <a:effectLst/>
                          <a:latin typeface="Calibri" panose="020F0502020204030204" pitchFamily="34" charset="0"/>
                        </a:rPr>
                        <a:t>Andes</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noFill/>
                  </a:tcPr>
                </a:tc>
                <a:tc>
                  <a:txBody>
                    <a:bodyPr/>
                    <a:lstStyle/>
                    <a:p>
                      <a:pPr algn="ctr" fontAlgn="b">
                        <a:buNone/>
                      </a:pPr>
                      <a:r>
                        <a:rPr lang="es-CO" sz="1000" b="0" i="0" u="none" strike="noStrike">
                          <a:solidFill>
                            <a:srgbClr val="000000"/>
                          </a:solidFill>
                          <a:effectLst/>
                          <a:latin typeface="Calibri" panose="020F0502020204030204" pitchFamily="34" charset="0"/>
                        </a:rPr>
                        <a:t>La Avanzada</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noFill/>
                  </a:tcPr>
                </a:tc>
                <a:tc>
                  <a:txBody>
                    <a:bodyPr/>
                    <a:lstStyle/>
                    <a:p>
                      <a:pPr algn="ctr" fontAlgn="b">
                        <a:buNone/>
                      </a:pPr>
                      <a:r>
                        <a:rPr lang="es-CO" sz="1000" b="0" i="0" u="none" strike="noStrike">
                          <a:solidFill>
                            <a:srgbClr val="000000"/>
                          </a:solidFill>
                          <a:effectLst/>
                          <a:latin typeface="Calibri" panose="020F0502020204030204" pitchFamily="34" charset="0"/>
                        </a:rPr>
                        <a:t>5.549692</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noFill/>
                  </a:tcPr>
                </a:tc>
                <a:tc>
                  <a:txBody>
                    <a:bodyPr/>
                    <a:lstStyle/>
                    <a:p>
                      <a:pPr algn="ctr" fontAlgn="b">
                        <a:buNone/>
                      </a:pPr>
                      <a:r>
                        <a:rPr lang="es-CO" sz="1000" b="0" i="0" u="none" strike="noStrike">
                          <a:solidFill>
                            <a:srgbClr val="000000"/>
                          </a:solidFill>
                          <a:effectLst/>
                          <a:latin typeface="Calibri" panose="020F0502020204030204" pitchFamily="34" charset="0"/>
                        </a:rPr>
                        <a:t>-75.896268</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noFill/>
                  </a:tcPr>
                </a:tc>
                <a:tc>
                  <a:txBody>
                    <a:bodyPr/>
                    <a:lstStyle/>
                    <a:p>
                      <a:pPr algn="ctr" fontAlgn="b">
                        <a:buNone/>
                      </a:pPr>
                      <a:r>
                        <a:rPr lang="es-CO" sz="1000" b="0" i="0" u="none" strike="noStrike">
                          <a:solidFill>
                            <a:srgbClr val="000000"/>
                          </a:solidFill>
                          <a:effectLst/>
                          <a:latin typeface="Calibri" panose="020F0502020204030204" pitchFamily="34" charset="0"/>
                        </a:rPr>
                        <a:t>Oro-Au</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noFill/>
                  </a:tcPr>
                </a:tc>
                <a:tc>
                  <a:txBody>
                    <a:bodyPr/>
                    <a:lstStyle/>
                    <a:p>
                      <a:pPr algn="ctr" fontAlgn="b">
                        <a:buNone/>
                      </a:pPr>
                      <a:r>
                        <a:rPr lang="es-CO" sz="1000" b="0" i="0" u="none" strike="noStrike" dirty="0">
                          <a:solidFill>
                            <a:srgbClr val="000000"/>
                          </a:solidFill>
                          <a:effectLst/>
                          <a:latin typeface="Calibri" panose="020F0502020204030204" pitchFamily="34" charset="0"/>
                        </a:rPr>
                        <a:t>Pirita-FeS2</a:t>
                      </a:r>
                      <a:endParaRPr lang="es-CO" sz="1600" b="0" i="0" u="none" strike="noStrike" dirty="0">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noFill/>
                  </a:tcPr>
                </a:tc>
                <a:tc>
                  <a:txBody>
                    <a:bodyPr/>
                    <a:lstStyle/>
                    <a:p>
                      <a:pPr algn="ctr" fontAlgn="b">
                        <a:buNone/>
                      </a:pPr>
                      <a:r>
                        <a:rPr lang="es-CO" sz="1000" b="0" i="0" u="none" strike="noStrike">
                          <a:solidFill>
                            <a:srgbClr val="000000"/>
                          </a:solidFill>
                          <a:effectLst/>
                          <a:latin typeface="Calibri" panose="020F0502020204030204" pitchFamily="34" charset="0"/>
                        </a:rPr>
                        <a:t>Epitermal</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noFill/>
                  </a:tcPr>
                </a:tc>
                <a:tc>
                  <a:txBody>
                    <a:bodyPr/>
                    <a:lstStyle/>
                    <a:p>
                      <a:pPr algn="ctr" fontAlgn="b">
                        <a:buNone/>
                      </a:pPr>
                      <a:r>
                        <a:rPr lang="es-CO" sz="1000" b="0" i="0" u="none" strike="noStrike">
                          <a:solidFill>
                            <a:srgbClr val="000000"/>
                          </a:solidFill>
                          <a:effectLst/>
                          <a:latin typeface="Calibri" panose="020F0502020204030204" pitchFamily="34" charset="0"/>
                        </a:rPr>
                        <a:t>ROCA SEDIMENTARIA</a:t>
                      </a:r>
                      <a:endParaRPr lang="es-CO" sz="1600" b="0" i="0" u="none" strike="noStrike">
                        <a:effectLst/>
                        <a:latin typeface="Arial" panose="020B0604020202020204" pitchFamily="34" charset="0"/>
                      </a:endParaRPr>
                    </a:p>
                  </a:txBody>
                  <a:tcPr marL="4565" marR="4565" marT="4565" marB="0" anchor="b">
                    <a:lnL>
                      <a:noFill/>
                    </a:lnL>
                    <a:lnR w="6350" cap="flat" cmpd="sng" algn="ctr">
                      <a:solidFill>
                        <a:srgbClr val="8EA9DB"/>
                      </a:solidFill>
                      <a:prstDash val="solid"/>
                      <a:round/>
                      <a:headEnd type="none" w="med" len="med"/>
                      <a:tailEnd type="none" w="med" len="med"/>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noFill/>
                  </a:tcPr>
                </a:tc>
                <a:extLst>
                  <a:ext uri="{0D108BD9-81ED-4DB2-BD59-A6C34878D82A}">
                    <a16:rowId xmlns:a16="http://schemas.microsoft.com/office/drawing/2014/main" val="260157440"/>
                  </a:ext>
                </a:extLst>
              </a:tr>
              <a:tr h="148386">
                <a:tc>
                  <a:txBody>
                    <a:bodyPr/>
                    <a:lstStyle/>
                    <a:p>
                      <a:pPr algn="ctr" fontAlgn="b">
                        <a:buNone/>
                      </a:pPr>
                      <a:r>
                        <a:rPr lang="es-CO" sz="1000" b="0" i="0" u="none" strike="noStrike">
                          <a:solidFill>
                            <a:srgbClr val="000000"/>
                          </a:solidFill>
                          <a:effectLst/>
                          <a:latin typeface="Calibri" panose="020F0502020204030204" pitchFamily="34" charset="0"/>
                        </a:rPr>
                        <a:t>Ocurrencia</a:t>
                      </a:r>
                      <a:endParaRPr lang="es-CO" sz="1600" b="0" i="0" u="none" strike="noStrike">
                        <a:effectLst/>
                        <a:latin typeface="Arial" panose="020B0604020202020204" pitchFamily="34" charset="0"/>
                      </a:endParaRPr>
                    </a:p>
                  </a:txBody>
                  <a:tcPr marL="4565" marR="4565" marT="4565" marB="0" anchor="b">
                    <a:lnL w="6350" cap="flat" cmpd="sng" algn="ctr">
                      <a:solidFill>
                        <a:srgbClr val="8EA9DB"/>
                      </a:solidFill>
                      <a:prstDash val="solid"/>
                      <a:round/>
                      <a:headEnd type="none" w="med" len="med"/>
                      <a:tailEnd type="none" w="med" len="med"/>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D9E1F2"/>
                    </a:solidFill>
                  </a:tcPr>
                </a:tc>
                <a:tc>
                  <a:txBody>
                    <a:bodyPr/>
                    <a:lstStyle/>
                    <a:p>
                      <a:pPr algn="ctr" fontAlgn="b">
                        <a:buNone/>
                      </a:pPr>
                      <a:r>
                        <a:rPr lang="es-CO" sz="1000" b="0" i="0" u="none" strike="noStrike">
                          <a:solidFill>
                            <a:srgbClr val="000000"/>
                          </a:solidFill>
                          <a:effectLst/>
                          <a:latin typeface="Calibri" panose="020F0502020204030204" pitchFamily="34" charset="0"/>
                        </a:rPr>
                        <a:t>Antioquia</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D9E1F2"/>
                    </a:solidFill>
                  </a:tcPr>
                </a:tc>
                <a:tc>
                  <a:txBody>
                    <a:bodyPr/>
                    <a:lstStyle/>
                    <a:p>
                      <a:pPr algn="ctr" fontAlgn="b">
                        <a:buNone/>
                      </a:pPr>
                      <a:r>
                        <a:rPr lang="es-CO" sz="1000" b="0" i="0" u="none" strike="noStrike">
                          <a:solidFill>
                            <a:srgbClr val="000000"/>
                          </a:solidFill>
                          <a:effectLst/>
                          <a:latin typeface="Calibri" panose="020F0502020204030204" pitchFamily="34" charset="0"/>
                        </a:rPr>
                        <a:t>Andes</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D9E1F2"/>
                    </a:solidFill>
                  </a:tcPr>
                </a:tc>
                <a:tc>
                  <a:txBody>
                    <a:bodyPr/>
                    <a:lstStyle/>
                    <a:p>
                      <a:pPr algn="ctr" fontAlgn="b">
                        <a:buNone/>
                      </a:pPr>
                      <a:r>
                        <a:rPr lang="es-CO" sz="1000" b="0" i="0" u="none" strike="noStrike">
                          <a:solidFill>
                            <a:srgbClr val="000000"/>
                          </a:solidFill>
                          <a:effectLst/>
                          <a:latin typeface="Calibri" panose="020F0502020204030204" pitchFamily="34" charset="0"/>
                        </a:rPr>
                        <a:t>La Borraja</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D9E1F2"/>
                    </a:solidFill>
                  </a:tcPr>
                </a:tc>
                <a:tc>
                  <a:txBody>
                    <a:bodyPr/>
                    <a:lstStyle/>
                    <a:p>
                      <a:pPr algn="ctr" fontAlgn="b">
                        <a:buNone/>
                      </a:pPr>
                      <a:r>
                        <a:rPr lang="es-CO" sz="1000" b="0" i="0" u="none" strike="noStrike">
                          <a:solidFill>
                            <a:srgbClr val="000000"/>
                          </a:solidFill>
                          <a:effectLst/>
                          <a:latin typeface="Calibri" panose="020F0502020204030204" pitchFamily="34" charset="0"/>
                        </a:rPr>
                        <a:t>5.549473</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D9E1F2"/>
                    </a:solidFill>
                  </a:tcPr>
                </a:tc>
                <a:tc>
                  <a:txBody>
                    <a:bodyPr/>
                    <a:lstStyle/>
                    <a:p>
                      <a:pPr algn="ctr" fontAlgn="b">
                        <a:buNone/>
                      </a:pPr>
                      <a:r>
                        <a:rPr lang="es-CO" sz="1000" b="0" i="0" u="none" strike="noStrike">
                          <a:solidFill>
                            <a:srgbClr val="000000"/>
                          </a:solidFill>
                          <a:effectLst/>
                          <a:latin typeface="Calibri" panose="020F0502020204030204" pitchFamily="34" charset="0"/>
                        </a:rPr>
                        <a:t>-75.90873</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D9E1F2"/>
                    </a:solidFill>
                  </a:tcPr>
                </a:tc>
                <a:tc>
                  <a:txBody>
                    <a:bodyPr/>
                    <a:lstStyle/>
                    <a:p>
                      <a:pPr algn="ctr" fontAlgn="b">
                        <a:buNone/>
                      </a:pPr>
                      <a:r>
                        <a:rPr lang="es-CO" sz="1000" b="0" i="0" u="none" strike="noStrike">
                          <a:solidFill>
                            <a:srgbClr val="000000"/>
                          </a:solidFill>
                          <a:effectLst/>
                          <a:latin typeface="Calibri" panose="020F0502020204030204" pitchFamily="34" charset="0"/>
                        </a:rPr>
                        <a:t>Oro-Au</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D9E1F2"/>
                    </a:solidFill>
                  </a:tcPr>
                </a:tc>
                <a:tc>
                  <a:txBody>
                    <a:bodyPr/>
                    <a:lstStyle/>
                    <a:p>
                      <a:pPr algn="ctr" fontAlgn="b">
                        <a:buNone/>
                      </a:pPr>
                      <a:r>
                        <a:rPr lang="es-CO" sz="1000" b="0" i="0" u="none" strike="noStrike">
                          <a:solidFill>
                            <a:srgbClr val="000000"/>
                          </a:solidFill>
                          <a:effectLst/>
                          <a:latin typeface="Calibri" panose="020F0502020204030204" pitchFamily="34" charset="0"/>
                        </a:rPr>
                        <a:t> </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D9E1F2"/>
                    </a:solidFill>
                  </a:tcPr>
                </a:tc>
                <a:tc>
                  <a:txBody>
                    <a:bodyPr/>
                    <a:lstStyle/>
                    <a:p>
                      <a:pPr algn="ctr" fontAlgn="b">
                        <a:buNone/>
                      </a:pPr>
                      <a:r>
                        <a:rPr lang="es-CO" sz="1000" b="0" i="0" u="none" strike="noStrike">
                          <a:solidFill>
                            <a:srgbClr val="000000"/>
                          </a:solidFill>
                          <a:effectLst/>
                          <a:latin typeface="Calibri" panose="020F0502020204030204" pitchFamily="34" charset="0"/>
                        </a:rPr>
                        <a:t>Epitermal</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D9E1F2"/>
                    </a:solidFill>
                  </a:tcPr>
                </a:tc>
                <a:tc>
                  <a:txBody>
                    <a:bodyPr/>
                    <a:lstStyle/>
                    <a:p>
                      <a:pPr algn="ctr" fontAlgn="b">
                        <a:buNone/>
                      </a:pPr>
                      <a:r>
                        <a:rPr lang="es-CO" sz="1000" b="0" i="0" u="none" strike="noStrike">
                          <a:solidFill>
                            <a:srgbClr val="000000"/>
                          </a:solidFill>
                          <a:effectLst/>
                          <a:latin typeface="Calibri" panose="020F0502020204030204" pitchFamily="34" charset="0"/>
                        </a:rPr>
                        <a:t>ROCA SEDIMENTARIA</a:t>
                      </a:r>
                      <a:endParaRPr lang="es-CO" sz="1600" b="0" i="0" u="none" strike="noStrike">
                        <a:effectLst/>
                        <a:latin typeface="Arial" panose="020B0604020202020204" pitchFamily="34" charset="0"/>
                      </a:endParaRPr>
                    </a:p>
                  </a:txBody>
                  <a:tcPr marL="4565" marR="4565" marT="4565" marB="0" anchor="b">
                    <a:lnL>
                      <a:noFill/>
                    </a:lnL>
                    <a:lnR w="6350" cap="flat" cmpd="sng" algn="ctr">
                      <a:solidFill>
                        <a:srgbClr val="8EA9DB"/>
                      </a:solidFill>
                      <a:prstDash val="solid"/>
                      <a:round/>
                      <a:headEnd type="none" w="med" len="med"/>
                      <a:tailEnd type="none" w="med" len="med"/>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D9E1F2"/>
                    </a:solidFill>
                  </a:tcPr>
                </a:tc>
                <a:extLst>
                  <a:ext uri="{0D108BD9-81ED-4DB2-BD59-A6C34878D82A}">
                    <a16:rowId xmlns:a16="http://schemas.microsoft.com/office/drawing/2014/main" val="946968934"/>
                  </a:ext>
                </a:extLst>
              </a:tr>
              <a:tr h="148386">
                <a:tc>
                  <a:txBody>
                    <a:bodyPr/>
                    <a:lstStyle/>
                    <a:p>
                      <a:pPr algn="ctr" fontAlgn="b">
                        <a:buNone/>
                      </a:pPr>
                      <a:r>
                        <a:rPr lang="es-CO" sz="1000" b="0" i="0" u="none" strike="noStrike">
                          <a:solidFill>
                            <a:srgbClr val="000000"/>
                          </a:solidFill>
                          <a:effectLst/>
                          <a:latin typeface="Calibri" panose="020F0502020204030204" pitchFamily="34" charset="0"/>
                        </a:rPr>
                        <a:t>Ocurrencia</a:t>
                      </a:r>
                      <a:endParaRPr lang="es-CO" sz="1600" b="0" i="0" u="none" strike="noStrike">
                        <a:effectLst/>
                        <a:latin typeface="Arial" panose="020B0604020202020204" pitchFamily="34" charset="0"/>
                      </a:endParaRPr>
                    </a:p>
                  </a:txBody>
                  <a:tcPr marL="4565" marR="4565" marT="4565" marB="0" anchor="b">
                    <a:lnL w="6350" cap="flat" cmpd="sng" algn="ctr">
                      <a:solidFill>
                        <a:srgbClr val="8EA9DB"/>
                      </a:solidFill>
                      <a:prstDash val="solid"/>
                      <a:round/>
                      <a:headEnd type="none" w="med" len="med"/>
                      <a:tailEnd type="none" w="med" len="med"/>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noFill/>
                  </a:tcPr>
                </a:tc>
                <a:tc>
                  <a:txBody>
                    <a:bodyPr/>
                    <a:lstStyle/>
                    <a:p>
                      <a:pPr algn="ctr" fontAlgn="b">
                        <a:buNone/>
                      </a:pPr>
                      <a:r>
                        <a:rPr lang="es-CO" sz="1000" b="0" i="0" u="none" strike="noStrike">
                          <a:solidFill>
                            <a:srgbClr val="000000"/>
                          </a:solidFill>
                          <a:effectLst/>
                          <a:latin typeface="Calibri" panose="020F0502020204030204" pitchFamily="34" charset="0"/>
                        </a:rPr>
                        <a:t>Antioquia</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noFill/>
                  </a:tcPr>
                </a:tc>
                <a:tc>
                  <a:txBody>
                    <a:bodyPr/>
                    <a:lstStyle/>
                    <a:p>
                      <a:pPr algn="ctr" fontAlgn="b">
                        <a:buNone/>
                      </a:pPr>
                      <a:r>
                        <a:rPr lang="es-CO" sz="1000" b="0" i="0" u="none" strike="noStrike">
                          <a:solidFill>
                            <a:srgbClr val="000000"/>
                          </a:solidFill>
                          <a:effectLst/>
                          <a:latin typeface="Calibri" panose="020F0502020204030204" pitchFamily="34" charset="0"/>
                        </a:rPr>
                        <a:t>Andes</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noFill/>
                  </a:tcPr>
                </a:tc>
                <a:tc>
                  <a:txBody>
                    <a:bodyPr/>
                    <a:lstStyle/>
                    <a:p>
                      <a:pPr algn="ctr" fontAlgn="b">
                        <a:buNone/>
                      </a:pPr>
                      <a:r>
                        <a:rPr lang="es-CO" sz="1000" b="0" i="0" u="none" strike="noStrike">
                          <a:solidFill>
                            <a:srgbClr val="000000"/>
                          </a:solidFill>
                          <a:effectLst/>
                          <a:latin typeface="Calibri" panose="020F0502020204030204" pitchFamily="34" charset="0"/>
                        </a:rPr>
                        <a:t>La Clara</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noFill/>
                  </a:tcPr>
                </a:tc>
                <a:tc>
                  <a:txBody>
                    <a:bodyPr/>
                    <a:lstStyle/>
                    <a:p>
                      <a:pPr algn="ctr" fontAlgn="b">
                        <a:buNone/>
                      </a:pPr>
                      <a:r>
                        <a:rPr lang="es-CO" sz="1000" b="0" i="0" u="none" strike="noStrike">
                          <a:solidFill>
                            <a:srgbClr val="000000"/>
                          </a:solidFill>
                          <a:effectLst/>
                          <a:latin typeface="Calibri" panose="020F0502020204030204" pitchFamily="34" charset="0"/>
                        </a:rPr>
                        <a:t>5.610284</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noFill/>
                  </a:tcPr>
                </a:tc>
                <a:tc>
                  <a:txBody>
                    <a:bodyPr/>
                    <a:lstStyle/>
                    <a:p>
                      <a:pPr algn="ctr" fontAlgn="b">
                        <a:buNone/>
                      </a:pPr>
                      <a:r>
                        <a:rPr lang="es-CO" sz="1000" b="0" i="0" u="none" strike="noStrike">
                          <a:solidFill>
                            <a:srgbClr val="000000"/>
                          </a:solidFill>
                          <a:effectLst/>
                          <a:latin typeface="Calibri" panose="020F0502020204030204" pitchFamily="34" charset="0"/>
                        </a:rPr>
                        <a:t>-75.905117</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noFill/>
                  </a:tcPr>
                </a:tc>
                <a:tc>
                  <a:txBody>
                    <a:bodyPr/>
                    <a:lstStyle/>
                    <a:p>
                      <a:pPr algn="ctr" fontAlgn="b">
                        <a:buNone/>
                      </a:pPr>
                      <a:r>
                        <a:rPr lang="es-CO" sz="1000" b="0" i="0" u="none" strike="noStrike">
                          <a:solidFill>
                            <a:srgbClr val="000000"/>
                          </a:solidFill>
                          <a:effectLst/>
                          <a:latin typeface="Calibri" panose="020F0502020204030204" pitchFamily="34" charset="0"/>
                        </a:rPr>
                        <a:t>Oro-Au</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noFill/>
                  </a:tcPr>
                </a:tc>
                <a:tc>
                  <a:txBody>
                    <a:bodyPr/>
                    <a:lstStyle/>
                    <a:p>
                      <a:pPr algn="ctr" fontAlgn="b">
                        <a:buNone/>
                      </a:pPr>
                      <a:r>
                        <a:rPr lang="es-CO" sz="1000" b="0" i="0" u="none" strike="noStrike">
                          <a:solidFill>
                            <a:srgbClr val="000000"/>
                          </a:solidFill>
                          <a:effectLst/>
                          <a:latin typeface="Calibri" panose="020F0502020204030204" pitchFamily="34" charset="0"/>
                        </a:rPr>
                        <a:t> </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noFill/>
                  </a:tcPr>
                </a:tc>
                <a:tc>
                  <a:txBody>
                    <a:bodyPr/>
                    <a:lstStyle/>
                    <a:p>
                      <a:pPr algn="ctr" fontAlgn="b">
                        <a:buNone/>
                      </a:pPr>
                      <a:r>
                        <a:rPr lang="es-CO" sz="1000" b="0" i="0" u="none" strike="noStrike">
                          <a:solidFill>
                            <a:srgbClr val="000000"/>
                          </a:solidFill>
                          <a:effectLst/>
                          <a:latin typeface="Calibri" panose="020F0502020204030204" pitchFamily="34" charset="0"/>
                        </a:rPr>
                        <a:t>Epitermal</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noFill/>
                  </a:tcPr>
                </a:tc>
                <a:tc>
                  <a:txBody>
                    <a:bodyPr/>
                    <a:lstStyle/>
                    <a:p>
                      <a:pPr algn="ctr" fontAlgn="b">
                        <a:buNone/>
                      </a:pPr>
                      <a:r>
                        <a:rPr lang="es-CO" sz="1000" b="0" i="0" u="none" strike="noStrike">
                          <a:solidFill>
                            <a:srgbClr val="000000"/>
                          </a:solidFill>
                          <a:effectLst/>
                          <a:latin typeface="Calibri" panose="020F0502020204030204" pitchFamily="34" charset="0"/>
                        </a:rPr>
                        <a:t>ROCA SEDIMENTARIA</a:t>
                      </a:r>
                      <a:endParaRPr lang="es-CO" sz="1600" b="0" i="0" u="none" strike="noStrike">
                        <a:effectLst/>
                        <a:latin typeface="Arial" panose="020B0604020202020204" pitchFamily="34" charset="0"/>
                      </a:endParaRPr>
                    </a:p>
                  </a:txBody>
                  <a:tcPr marL="4565" marR="4565" marT="4565" marB="0" anchor="b">
                    <a:lnL>
                      <a:noFill/>
                    </a:lnL>
                    <a:lnR w="6350" cap="flat" cmpd="sng" algn="ctr">
                      <a:solidFill>
                        <a:srgbClr val="8EA9DB"/>
                      </a:solidFill>
                      <a:prstDash val="solid"/>
                      <a:round/>
                      <a:headEnd type="none" w="med" len="med"/>
                      <a:tailEnd type="none" w="med" len="med"/>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noFill/>
                  </a:tcPr>
                </a:tc>
                <a:extLst>
                  <a:ext uri="{0D108BD9-81ED-4DB2-BD59-A6C34878D82A}">
                    <a16:rowId xmlns:a16="http://schemas.microsoft.com/office/drawing/2014/main" val="3094175500"/>
                  </a:ext>
                </a:extLst>
              </a:tr>
              <a:tr h="148386">
                <a:tc>
                  <a:txBody>
                    <a:bodyPr/>
                    <a:lstStyle/>
                    <a:p>
                      <a:pPr algn="ctr" fontAlgn="b">
                        <a:buNone/>
                      </a:pPr>
                      <a:r>
                        <a:rPr lang="es-CO" sz="1000" b="0" i="0" u="none" strike="noStrike">
                          <a:solidFill>
                            <a:srgbClr val="000000"/>
                          </a:solidFill>
                          <a:effectLst/>
                          <a:latin typeface="Calibri" panose="020F0502020204030204" pitchFamily="34" charset="0"/>
                        </a:rPr>
                        <a:t>Ocurrencia</a:t>
                      </a:r>
                      <a:endParaRPr lang="es-CO" sz="1600" b="0" i="0" u="none" strike="noStrike">
                        <a:effectLst/>
                        <a:latin typeface="Arial" panose="020B0604020202020204" pitchFamily="34" charset="0"/>
                      </a:endParaRPr>
                    </a:p>
                  </a:txBody>
                  <a:tcPr marL="4565" marR="4565" marT="4565" marB="0" anchor="b">
                    <a:lnL w="6350" cap="flat" cmpd="sng" algn="ctr">
                      <a:solidFill>
                        <a:srgbClr val="8EA9DB"/>
                      </a:solidFill>
                      <a:prstDash val="solid"/>
                      <a:round/>
                      <a:headEnd type="none" w="med" len="med"/>
                      <a:tailEnd type="none" w="med" len="med"/>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D9E1F2"/>
                    </a:solidFill>
                  </a:tcPr>
                </a:tc>
                <a:tc>
                  <a:txBody>
                    <a:bodyPr/>
                    <a:lstStyle/>
                    <a:p>
                      <a:pPr algn="ctr" fontAlgn="b">
                        <a:buNone/>
                      </a:pPr>
                      <a:r>
                        <a:rPr lang="es-CO" sz="1000" b="0" i="0" u="none" strike="noStrike">
                          <a:solidFill>
                            <a:srgbClr val="000000"/>
                          </a:solidFill>
                          <a:effectLst/>
                          <a:latin typeface="Calibri" panose="020F0502020204030204" pitchFamily="34" charset="0"/>
                        </a:rPr>
                        <a:t>Antioquia</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D9E1F2"/>
                    </a:solidFill>
                  </a:tcPr>
                </a:tc>
                <a:tc>
                  <a:txBody>
                    <a:bodyPr/>
                    <a:lstStyle/>
                    <a:p>
                      <a:pPr algn="ctr" fontAlgn="b">
                        <a:buNone/>
                      </a:pPr>
                      <a:r>
                        <a:rPr lang="es-CO" sz="1000" b="0" i="0" u="none" strike="noStrike">
                          <a:solidFill>
                            <a:srgbClr val="000000"/>
                          </a:solidFill>
                          <a:effectLst/>
                          <a:latin typeface="Calibri" panose="020F0502020204030204" pitchFamily="34" charset="0"/>
                        </a:rPr>
                        <a:t>Andes</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D9E1F2"/>
                    </a:solidFill>
                  </a:tcPr>
                </a:tc>
                <a:tc>
                  <a:txBody>
                    <a:bodyPr/>
                    <a:lstStyle/>
                    <a:p>
                      <a:pPr algn="ctr" fontAlgn="b">
                        <a:buNone/>
                      </a:pPr>
                      <a:r>
                        <a:rPr lang="es-CO" sz="1000" b="0" i="0" u="none" strike="noStrike">
                          <a:solidFill>
                            <a:srgbClr val="000000"/>
                          </a:solidFill>
                          <a:effectLst/>
                          <a:latin typeface="Calibri" panose="020F0502020204030204" pitchFamily="34" charset="0"/>
                        </a:rPr>
                        <a:t>La Mesenia</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D9E1F2"/>
                    </a:solidFill>
                  </a:tcPr>
                </a:tc>
                <a:tc>
                  <a:txBody>
                    <a:bodyPr/>
                    <a:lstStyle/>
                    <a:p>
                      <a:pPr algn="ctr" fontAlgn="b">
                        <a:buNone/>
                      </a:pPr>
                      <a:r>
                        <a:rPr lang="es-CO" sz="1000" b="0" i="0" u="none" strike="noStrike">
                          <a:solidFill>
                            <a:srgbClr val="000000"/>
                          </a:solidFill>
                          <a:effectLst/>
                          <a:latin typeface="Calibri" panose="020F0502020204030204" pitchFamily="34" charset="0"/>
                        </a:rPr>
                        <a:t>5.520984</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D9E1F2"/>
                    </a:solidFill>
                  </a:tcPr>
                </a:tc>
                <a:tc>
                  <a:txBody>
                    <a:bodyPr/>
                    <a:lstStyle/>
                    <a:p>
                      <a:pPr algn="ctr" fontAlgn="b">
                        <a:buNone/>
                      </a:pPr>
                      <a:r>
                        <a:rPr lang="es-CO" sz="1000" b="0" i="0" u="none" strike="noStrike">
                          <a:solidFill>
                            <a:srgbClr val="000000"/>
                          </a:solidFill>
                          <a:effectLst/>
                          <a:latin typeface="Calibri" panose="020F0502020204030204" pitchFamily="34" charset="0"/>
                        </a:rPr>
                        <a:t>-75.908668</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D9E1F2"/>
                    </a:solidFill>
                  </a:tcPr>
                </a:tc>
                <a:tc>
                  <a:txBody>
                    <a:bodyPr/>
                    <a:lstStyle/>
                    <a:p>
                      <a:pPr algn="ctr" fontAlgn="b">
                        <a:buNone/>
                      </a:pPr>
                      <a:r>
                        <a:rPr lang="es-CO" sz="1000" b="0" i="0" u="none" strike="noStrike">
                          <a:solidFill>
                            <a:srgbClr val="000000"/>
                          </a:solidFill>
                          <a:effectLst/>
                          <a:latin typeface="Calibri" panose="020F0502020204030204" pitchFamily="34" charset="0"/>
                        </a:rPr>
                        <a:t>Oro-Au</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D9E1F2"/>
                    </a:solidFill>
                  </a:tcPr>
                </a:tc>
                <a:tc>
                  <a:txBody>
                    <a:bodyPr/>
                    <a:lstStyle/>
                    <a:p>
                      <a:pPr algn="ctr" fontAlgn="b">
                        <a:buNone/>
                      </a:pPr>
                      <a:r>
                        <a:rPr lang="es-CO" sz="1000" b="0" i="0" u="none" strike="noStrike">
                          <a:solidFill>
                            <a:srgbClr val="000000"/>
                          </a:solidFill>
                          <a:effectLst/>
                          <a:latin typeface="Calibri" panose="020F0502020204030204" pitchFamily="34" charset="0"/>
                        </a:rPr>
                        <a:t> </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D9E1F2"/>
                    </a:solidFill>
                  </a:tcPr>
                </a:tc>
                <a:tc>
                  <a:txBody>
                    <a:bodyPr/>
                    <a:lstStyle/>
                    <a:p>
                      <a:pPr algn="ctr" fontAlgn="b">
                        <a:buNone/>
                      </a:pPr>
                      <a:r>
                        <a:rPr lang="es-CO" sz="1000" b="0" i="0" u="none" strike="noStrike">
                          <a:solidFill>
                            <a:srgbClr val="000000"/>
                          </a:solidFill>
                          <a:effectLst/>
                          <a:latin typeface="Calibri" panose="020F0502020204030204" pitchFamily="34" charset="0"/>
                        </a:rPr>
                        <a:t>Epitermal</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D9E1F2"/>
                    </a:solidFill>
                  </a:tcPr>
                </a:tc>
                <a:tc>
                  <a:txBody>
                    <a:bodyPr/>
                    <a:lstStyle/>
                    <a:p>
                      <a:pPr algn="ctr" fontAlgn="b">
                        <a:buNone/>
                      </a:pPr>
                      <a:r>
                        <a:rPr lang="es-CO" sz="1000" b="0" i="0" u="none" strike="noStrike">
                          <a:solidFill>
                            <a:srgbClr val="000000"/>
                          </a:solidFill>
                          <a:effectLst/>
                          <a:latin typeface="Calibri" panose="020F0502020204030204" pitchFamily="34" charset="0"/>
                        </a:rPr>
                        <a:t>ROCA SEDIMENTARIA</a:t>
                      </a:r>
                      <a:endParaRPr lang="es-CO" sz="1600" b="0" i="0" u="none" strike="noStrike">
                        <a:effectLst/>
                        <a:latin typeface="Arial" panose="020B0604020202020204" pitchFamily="34" charset="0"/>
                      </a:endParaRPr>
                    </a:p>
                  </a:txBody>
                  <a:tcPr marL="4565" marR="4565" marT="4565" marB="0" anchor="b">
                    <a:lnL>
                      <a:noFill/>
                    </a:lnL>
                    <a:lnR w="6350" cap="flat" cmpd="sng" algn="ctr">
                      <a:solidFill>
                        <a:srgbClr val="8EA9DB"/>
                      </a:solidFill>
                      <a:prstDash val="solid"/>
                      <a:round/>
                      <a:headEnd type="none" w="med" len="med"/>
                      <a:tailEnd type="none" w="med" len="med"/>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D9E1F2"/>
                    </a:solidFill>
                  </a:tcPr>
                </a:tc>
                <a:extLst>
                  <a:ext uri="{0D108BD9-81ED-4DB2-BD59-A6C34878D82A}">
                    <a16:rowId xmlns:a16="http://schemas.microsoft.com/office/drawing/2014/main" val="2793797569"/>
                  </a:ext>
                </a:extLst>
              </a:tr>
              <a:tr h="148386">
                <a:tc>
                  <a:txBody>
                    <a:bodyPr/>
                    <a:lstStyle/>
                    <a:p>
                      <a:pPr algn="ctr" fontAlgn="b">
                        <a:buNone/>
                      </a:pPr>
                      <a:r>
                        <a:rPr lang="es-CO" sz="1000" b="0" i="0" u="none" strike="noStrike">
                          <a:solidFill>
                            <a:srgbClr val="000000"/>
                          </a:solidFill>
                          <a:effectLst/>
                          <a:latin typeface="Calibri" panose="020F0502020204030204" pitchFamily="34" charset="0"/>
                        </a:rPr>
                        <a:t>Ocurrencia</a:t>
                      </a:r>
                      <a:endParaRPr lang="es-CO" sz="1600" b="0" i="0" u="none" strike="noStrike">
                        <a:effectLst/>
                        <a:latin typeface="Arial" panose="020B0604020202020204" pitchFamily="34" charset="0"/>
                      </a:endParaRPr>
                    </a:p>
                  </a:txBody>
                  <a:tcPr marL="4565" marR="4565" marT="4565" marB="0" anchor="b">
                    <a:lnL w="6350" cap="flat" cmpd="sng" algn="ctr">
                      <a:solidFill>
                        <a:srgbClr val="8EA9DB"/>
                      </a:solidFill>
                      <a:prstDash val="solid"/>
                      <a:round/>
                      <a:headEnd type="none" w="med" len="med"/>
                      <a:tailEnd type="none" w="med" len="med"/>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noFill/>
                  </a:tcPr>
                </a:tc>
                <a:tc>
                  <a:txBody>
                    <a:bodyPr/>
                    <a:lstStyle/>
                    <a:p>
                      <a:pPr algn="ctr" fontAlgn="b">
                        <a:buNone/>
                      </a:pPr>
                      <a:r>
                        <a:rPr lang="es-CO" sz="1000" b="0" i="0" u="none" strike="noStrike">
                          <a:solidFill>
                            <a:srgbClr val="000000"/>
                          </a:solidFill>
                          <a:effectLst/>
                          <a:latin typeface="Calibri" panose="020F0502020204030204" pitchFamily="34" charset="0"/>
                        </a:rPr>
                        <a:t>Antioquia</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noFill/>
                  </a:tcPr>
                </a:tc>
                <a:tc>
                  <a:txBody>
                    <a:bodyPr/>
                    <a:lstStyle/>
                    <a:p>
                      <a:pPr algn="ctr" fontAlgn="b">
                        <a:buNone/>
                      </a:pPr>
                      <a:r>
                        <a:rPr lang="es-CO" sz="1000" b="0" i="0" u="none" strike="noStrike">
                          <a:solidFill>
                            <a:srgbClr val="000000"/>
                          </a:solidFill>
                          <a:effectLst/>
                          <a:latin typeface="Calibri" panose="020F0502020204030204" pitchFamily="34" charset="0"/>
                        </a:rPr>
                        <a:t>Andes</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noFill/>
                  </a:tcPr>
                </a:tc>
                <a:tc>
                  <a:txBody>
                    <a:bodyPr/>
                    <a:lstStyle/>
                    <a:p>
                      <a:pPr algn="ctr" fontAlgn="b">
                        <a:buNone/>
                      </a:pPr>
                      <a:r>
                        <a:rPr lang="es-CO" sz="1000" b="0" i="0" u="none" strike="noStrike">
                          <a:solidFill>
                            <a:srgbClr val="000000"/>
                          </a:solidFill>
                          <a:effectLst/>
                          <a:latin typeface="Calibri" panose="020F0502020204030204" pitchFamily="34" charset="0"/>
                        </a:rPr>
                        <a:t>La Piedra</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noFill/>
                  </a:tcPr>
                </a:tc>
                <a:tc>
                  <a:txBody>
                    <a:bodyPr/>
                    <a:lstStyle/>
                    <a:p>
                      <a:pPr algn="ctr" fontAlgn="b">
                        <a:buNone/>
                      </a:pPr>
                      <a:r>
                        <a:rPr lang="es-CO" sz="1000" b="0" i="0" u="none" strike="noStrike">
                          <a:solidFill>
                            <a:srgbClr val="000000"/>
                          </a:solidFill>
                          <a:effectLst/>
                          <a:latin typeface="Calibri" panose="020F0502020204030204" pitchFamily="34" charset="0"/>
                        </a:rPr>
                        <a:t>5.637197</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noFill/>
                  </a:tcPr>
                </a:tc>
                <a:tc>
                  <a:txBody>
                    <a:bodyPr/>
                    <a:lstStyle/>
                    <a:p>
                      <a:pPr algn="ctr" fontAlgn="b">
                        <a:buNone/>
                      </a:pPr>
                      <a:r>
                        <a:rPr lang="es-CO" sz="1000" b="0" i="0" u="none" strike="noStrike">
                          <a:solidFill>
                            <a:srgbClr val="000000"/>
                          </a:solidFill>
                          <a:effectLst/>
                          <a:latin typeface="Calibri" panose="020F0502020204030204" pitchFamily="34" charset="0"/>
                        </a:rPr>
                        <a:t>-75.941661</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noFill/>
                  </a:tcPr>
                </a:tc>
                <a:tc>
                  <a:txBody>
                    <a:bodyPr/>
                    <a:lstStyle/>
                    <a:p>
                      <a:pPr algn="ctr" fontAlgn="b">
                        <a:buNone/>
                      </a:pPr>
                      <a:r>
                        <a:rPr lang="es-CO" sz="1000" b="0" i="0" u="none" strike="noStrike">
                          <a:solidFill>
                            <a:srgbClr val="000000"/>
                          </a:solidFill>
                          <a:effectLst/>
                          <a:latin typeface="Calibri" panose="020F0502020204030204" pitchFamily="34" charset="0"/>
                        </a:rPr>
                        <a:t>Oro-Au</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noFill/>
                  </a:tcPr>
                </a:tc>
                <a:tc>
                  <a:txBody>
                    <a:bodyPr/>
                    <a:lstStyle/>
                    <a:p>
                      <a:pPr algn="ctr" fontAlgn="b">
                        <a:buNone/>
                      </a:pPr>
                      <a:r>
                        <a:rPr lang="es-CO" sz="1000" b="0" i="0" u="none" strike="noStrike">
                          <a:solidFill>
                            <a:srgbClr val="000000"/>
                          </a:solidFill>
                          <a:effectLst/>
                          <a:latin typeface="Calibri" panose="020F0502020204030204" pitchFamily="34" charset="0"/>
                        </a:rPr>
                        <a:t>Pirita-FeS2</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noFill/>
                  </a:tcPr>
                </a:tc>
                <a:tc>
                  <a:txBody>
                    <a:bodyPr/>
                    <a:lstStyle/>
                    <a:p>
                      <a:pPr algn="ctr" fontAlgn="b">
                        <a:buNone/>
                      </a:pPr>
                      <a:r>
                        <a:rPr lang="es-CO" sz="1000" b="0" i="0" u="none" strike="noStrike">
                          <a:solidFill>
                            <a:srgbClr val="000000"/>
                          </a:solidFill>
                          <a:effectLst/>
                          <a:latin typeface="Calibri" panose="020F0502020204030204" pitchFamily="34" charset="0"/>
                        </a:rPr>
                        <a:t>Epitermal</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noFill/>
                  </a:tcPr>
                </a:tc>
                <a:tc>
                  <a:txBody>
                    <a:bodyPr/>
                    <a:lstStyle/>
                    <a:p>
                      <a:pPr algn="ctr" fontAlgn="b">
                        <a:buNone/>
                      </a:pPr>
                      <a:r>
                        <a:rPr lang="es-CO" sz="1000" b="0" i="0" u="none" strike="noStrike">
                          <a:solidFill>
                            <a:srgbClr val="000000"/>
                          </a:solidFill>
                          <a:effectLst/>
                          <a:latin typeface="Calibri" panose="020F0502020204030204" pitchFamily="34" charset="0"/>
                        </a:rPr>
                        <a:t>ROCA SEDIMENTARIA</a:t>
                      </a:r>
                      <a:endParaRPr lang="es-CO" sz="1600" b="0" i="0" u="none" strike="noStrike">
                        <a:effectLst/>
                        <a:latin typeface="Arial" panose="020B0604020202020204" pitchFamily="34" charset="0"/>
                      </a:endParaRPr>
                    </a:p>
                  </a:txBody>
                  <a:tcPr marL="4565" marR="4565" marT="4565" marB="0" anchor="b">
                    <a:lnL>
                      <a:noFill/>
                    </a:lnL>
                    <a:lnR w="6350" cap="flat" cmpd="sng" algn="ctr">
                      <a:solidFill>
                        <a:srgbClr val="8EA9DB"/>
                      </a:solidFill>
                      <a:prstDash val="solid"/>
                      <a:round/>
                      <a:headEnd type="none" w="med" len="med"/>
                      <a:tailEnd type="none" w="med" len="med"/>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noFill/>
                  </a:tcPr>
                </a:tc>
                <a:extLst>
                  <a:ext uri="{0D108BD9-81ED-4DB2-BD59-A6C34878D82A}">
                    <a16:rowId xmlns:a16="http://schemas.microsoft.com/office/drawing/2014/main" val="2479133622"/>
                  </a:ext>
                </a:extLst>
              </a:tr>
              <a:tr h="148386">
                <a:tc>
                  <a:txBody>
                    <a:bodyPr/>
                    <a:lstStyle/>
                    <a:p>
                      <a:pPr algn="ctr" fontAlgn="b">
                        <a:buNone/>
                      </a:pPr>
                      <a:r>
                        <a:rPr lang="es-CO" sz="1000" b="0" i="0" u="none" strike="noStrike">
                          <a:solidFill>
                            <a:srgbClr val="000000"/>
                          </a:solidFill>
                          <a:effectLst/>
                          <a:latin typeface="Calibri" panose="020F0502020204030204" pitchFamily="34" charset="0"/>
                        </a:rPr>
                        <a:t>Ocurrencia</a:t>
                      </a:r>
                      <a:endParaRPr lang="es-CO" sz="1600" b="0" i="0" u="none" strike="noStrike">
                        <a:effectLst/>
                        <a:latin typeface="Arial" panose="020B0604020202020204" pitchFamily="34" charset="0"/>
                      </a:endParaRPr>
                    </a:p>
                  </a:txBody>
                  <a:tcPr marL="4565" marR="4565" marT="4565" marB="0" anchor="b">
                    <a:lnL w="6350" cap="flat" cmpd="sng" algn="ctr">
                      <a:solidFill>
                        <a:srgbClr val="8EA9DB"/>
                      </a:solidFill>
                      <a:prstDash val="solid"/>
                      <a:round/>
                      <a:headEnd type="none" w="med" len="med"/>
                      <a:tailEnd type="none" w="med" len="med"/>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D9E1F2"/>
                    </a:solidFill>
                  </a:tcPr>
                </a:tc>
                <a:tc>
                  <a:txBody>
                    <a:bodyPr/>
                    <a:lstStyle/>
                    <a:p>
                      <a:pPr algn="ctr" fontAlgn="b">
                        <a:buNone/>
                      </a:pPr>
                      <a:r>
                        <a:rPr lang="es-CO" sz="1000" b="0" i="0" u="none" strike="noStrike">
                          <a:solidFill>
                            <a:srgbClr val="000000"/>
                          </a:solidFill>
                          <a:effectLst/>
                          <a:latin typeface="Calibri" panose="020F0502020204030204" pitchFamily="34" charset="0"/>
                        </a:rPr>
                        <a:t>Antioquia</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D9E1F2"/>
                    </a:solidFill>
                  </a:tcPr>
                </a:tc>
                <a:tc>
                  <a:txBody>
                    <a:bodyPr/>
                    <a:lstStyle/>
                    <a:p>
                      <a:pPr algn="ctr" fontAlgn="b">
                        <a:buNone/>
                      </a:pPr>
                      <a:r>
                        <a:rPr lang="es-CO" sz="1000" b="0" i="0" u="none" strike="noStrike">
                          <a:solidFill>
                            <a:srgbClr val="000000"/>
                          </a:solidFill>
                          <a:effectLst/>
                          <a:latin typeface="Calibri" panose="020F0502020204030204" pitchFamily="34" charset="0"/>
                        </a:rPr>
                        <a:t>Andes</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D9E1F2"/>
                    </a:solidFill>
                  </a:tcPr>
                </a:tc>
                <a:tc>
                  <a:txBody>
                    <a:bodyPr/>
                    <a:lstStyle/>
                    <a:p>
                      <a:pPr algn="ctr" fontAlgn="b">
                        <a:buNone/>
                      </a:pPr>
                      <a:r>
                        <a:rPr lang="es-CO" sz="1000" b="0" i="0" u="none" strike="noStrike">
                          <a:solidFill>
                            <a:srgbClr val="000000"/>
                          </a:solidFill>
                          <a:effectLst/>
                          <a:latin typeface="Calibri" panose="020F0502020204030204" pitchFamily="34" charset="0"/>
                        </a:rPr>
                        <a:t>La Piedra</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D9E1F2"/>
                    </a:solidFill>
                  </a:tcPr>
                </a:tc>
                <a:tc>
                  <a:txBody>
                    <a:bodyPr/>
                    <a:lstStyle/>
                    <a:p>
                      <a:pPr algn="ctr" fontAlgn="b">
                        <a:buNone/>
                      </a:pPr>
                      <a:r>
                        <a:rPr lang="es-CO" sz="1000" b="0" i="0" u="none" strike="noStrike">
                          <a:solidFill>
                            <a:srgbClr val="000000"/>
                          </a:solidFill>
                          <a:effectLst/>
                          <a:latin typeface="Calibri" panose="020F0502020204030204" pitchFamily="34" charset="0"/>
                        </a:rPr>
                        <a:t>5.637731</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D9E1F2"/>
                    </a:solidFill>
                  </a:tcPr>
                </a:tc>
                <a:tc>
                  <a:txBody>
                    <a:bodyPr/>
                    <a:lstStyle/>
                    <a:p>
                      <a:pPr algn="ctr" fontAlgn="b">
                        <a:buNone/>
                      </a:pPr>
                      <a:r>
                        <a:rPr lang="es-CO" sz="1000" b="0" i="0" u="none" strike="noStrike">
                          <a:solidFill>
                            <a:srgbClr val="000000"/>
                          </a:solidFill>
                          <a:effectLst/>
                          <a:latin typeface="Calibri" panose="020F0502020204030204" pitchFamily="34" charset="0"/>
                        </a:rPr>
                        <a:t>-75.942157</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D9E1F2"/>
                    </a:solidFill>
                  </a:tcPr>
                </a:tc>
                <a:tc>
                  <a:txBody>
                    <a:bodyPr/>
                    <a:lstStyle/>
                    <a:p>
                      <a:pPr algn="ctr" fontAlgn="b">
                        <a:buNone/>
                      </a:pPr>
                      <a:r>
                        <a:rPr lang="es-CO" sz="1000" b="0" i="0" u="none" strike="noStrike">
                          <a:solidFill>
                            <a:srgbClr val="000000"/>
                          </a:solidFill>
                          <a:effectLst/>
                          <a:latin typeface="Calibri" panose="020F0502020204030204" pitchFamily="34" charset="0"/>
                        </a:rPr>
                        <a:t>Oro-Au</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D9E1F2"/>
                    </a:solidFill>
                  </a:tcPr>
                </a:tc>
                <a:tc>
                  <a:txBody>
                    <a:bodyPr/>
                    <a:lstStyle/>
                    <a:p>
                      <a:pPr algn="ctr" fontAlgn="b">
                        <a:buNone/>
                      </a:pPr>
                      <a:r>
                        <a:rPr lang="es-CO" sz="1000" b="0" i="0" u="none" strike="noStrike">
                          <a:solidFill>
                            <a:srgbClr val="000000"/>
                          </a:solidFill>
                          <a:effectLst/>
                          <a:latin typeface="Calibri" panose="020F0502020204030204" pitchFamily="34" charset="0"/>
                        </a:rPr>
                        <a:t>Pirita-FeS2</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D9E1F2"/>
                    </a:solidFill>
                  </a:tcPr>
                </a:tc>
                <a:tc>
                  <a:txBody>
                    <a:bodyPr/>
                    <a:lstStyle/>
                    <a:p>
                      <a:pPr algn="ctr" fontAlgn="b">
                        <a:buNone/>
                      </a:pPr>
                      <a:r>
                        <a:rPr lang="es-CO" sz="1000" b="0" i="0" u="none" strike="noStrike">
                          <a:solidFill>
                            <a:srgbClr val="000000"/>
                          </a:solidFill>
                          <a:effectLst/>
                          <a:latin typeface="Calibri" panose="020F0502020204030204" pitchFamily="34" charset="0"/>
                        </a:rPr>
                        <a:t>Epitermal</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D9E1F2"/>
                    </a:solidFill>
                  </a:tcPr>
                </a:tc>
                <a:tc>
                  <a:txBody>
                    <a:bodyPr/>
                    <a:lstStyle/>
                    <a:p>
                      <a:pPr algn="ctr" fontAlgn="b">
                        <a:buNone/>
                      </a:pPr>
                      <a:r>
                        <a:rPr lang="es-CO" sz="1000" b="0" i="0" u="none" strike="noStrike">
                          <a:solidFill>
                            <a:srgbClr val="000000"/>
                          </a:solidFill>
                          <a:effectLst/>
                          <a:latin typeface="Calibri" panose="020F0502020204030204" pitchFamily="34" charset="0"/>
                        </a:rPr>
                        <a:t>ROCA SEDIMENTARIA</a:t>
                      </a:r>
                      <a:endParaRPr lang="es-CO" sz="1600" b="0" i="0" u="none" strike="noStrike">
                        <a:effectLst/>
                        <a:latin typeface="Arial" panose="020B0604020202020204" pitchFamily="34" charset="0"/>
                      </a:endParaRPr>
                    </a:p>
                  </a:txBody>
                  <a:tcPr marL="4565" marR="4565" marT="4565" marB="0" anchor="b">
                    <a:lnL>
                      <a:noFill/>
                    </a:lnL>
                    <a:lnR w="6350" cap="flat" cmpd="sng" algn="ctr">
                      <a:solidFill>
                        <a:srgbClr val="8EA9DB"/>
                      </a:solidFill>
                      <a:prstDash val="solid"/>
                      <a:round/>
                      <a:headEnd type="none" w="med" len="med"/>
                      <a:tailEnd type="none" w="med" len="med"/>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D9E1F2"/>
                    </a:solidFill>
                  </a:tcPr>
                </a:tc>
                <a:extLst>
                  <a:ext uri="{0D108BD9-81ED-4DB2-BD59-A6C34878D82A}">
                    <a16:rowId xmlns:a16="http://schemas.microsoft.com/office/drawing/2014/main" val="1573703037"/>
                  </a:ext>
                </a:extLst>
              </a:tr>
              <a:tr h="148386">
                <a:tc>
                  <a:txBody>
                    <a:bodyPr/>
                    <a:lstStyle/>
                    <a:p>
                      <a:pPr algn="ctr" fontAlgn="b">
                        <a:buNone/>
                      </a:pPr>
                      <a:r>
                        <a:rPr lang="es-CO" sz="1000" b="0" i="0" u="none" strike="noStrike">
                          <a:solidFill>
                            <a:srgbClr val="000000"/>
                          </a:solidFill>
                          <a:effectLst/>
                          <a:latin typeface="Calibri" panose="020F0502020204030204" pitchFamily="34" charset="0"/>
                        </a:rPr>
                        <a:t>Ocurrencia</a:t>
                      </a:r>
                      <a:endParaRPr lang="es-CO" sz="1600" b="0" i="0" u="none" strike="noStrike">
                        <a:effectLst/>
                        <a:latin typeface="Arial" panose="020B0604020202020204" pitchFamily="34" charset="0"/>
                      </a:endParaRPr>
                    </a:p>
                  </a:txBody>
                  <a:tcPr marL="4565" marR="4565" marT="4565" marB="0" anchor="b">
                    <a:lnL w="6350" cap="flat" cmpd="sng" algn="ctr">
                      <a:solidFill>
                        <a:srgbClr val="8EA9DB"/>
                      </a:solidFill>
                      <a:prstDash val="solid"/>
                      <a:round/>
                      <a:headEnd type="none" w="med" len="med"/>
                      <a:tailEnd type="none" w="med" len="med"/>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noFill/>
                  </a:tcPr>
                </a:tc>
                <a:tc>
                  <a:txBody>
                    <a:bodyPr/>
                    <a:lstStyle/>
                    <a:p>
                      <a:pPr algn="ctr" fontAlgn="b">
                        <a:buNone/>
                      </a:pPr>
                      <a:r>
                        <a:rPr lang="es-CO" sz="1000" b="0" i="0" u="none" strike="noStrike">
                          <a:solidFill>
                            <a:srgbClr val="000000"/>
                          </a:solidFill>
                          <a:effectLst/>
                          <a:latin typeface="Calibri" panose="020F0502020204030204" pitchFamily="34" charset="0"/>
                        </a:rPr>
                        <a:t>Antioquia</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noFill/>
                  </a:tcPr>
                </a:tc>
                <a:tc>
                  <a:txBody>
                    <a:bodyPr/>
                    <a:lstStyle/>
                    <a:p>
                      <a:pPr algn="ctr" fontAlgn="b">
                        <a:buNone/>
                      </a:pPr>
                      <a:r>
                        <a:rPr lang="es-CO" sz="1000" b="0" i="0" u="none" strike="noStrike">
                          <a:solidFill>
                            <a:srgbClr val="000000"/>
                          </a:solidFill>
                          <a:effectLst/>
                          <a:latin typeface="Calibri" panose="020F0502020204030204" pitchFamily="34" charset="0"/>
                        </a:rPr>
                        <a:t>Andes</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noFill/>
                  </a:tcPr>
                </a:tc>
                <a:tc>
                  <a:txBody>
                    <a:bodyPr/>
                    <a:lstStyle/>
                    <a:p>
                      <a:pPr algn="ctr" fontAlgn="b">
                        <a:buNone/>
                      </a:pPr>
                      <a:r>
                        <a:rPr lang="es-CO" sz="1000" b="0" i="0" u="none" strike="noStrike">
                          <a:solidFill>
                            <a:srgbClr val="000000"/>
                          </a:solidFill>
                          <a:effectLst/>
                          <a:latin typeface="Calibri" panose="020F0502020204030204" pitchFamily="34" charset="0"/>
                        </a:rPr>
                        <a:t>La Piedra</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noFill/>
                  </a:tcPr>
                </a:tc>
                <a:tc>
                  <a:txBody>
                    <a:bodyPr/>
                    <a:lstStyle/>
                    <a:p>
                      <a:pPr algn="ctr" fontAlgn="b">
                        <a:buNone/>
                      </a:pPr>
                      <a:r>
                        <a:rPr lang="es-CO" sz="1000" b="0" i="0" u="none" strike="noStrike">
                          <a:solidFill>
                            <a:srgbClr val="000000"/>
                          </a:solidFill>
                          <a:effectLst/>
                          <a:latin typeface="Calibri" panose="020F0502020204030204" pitchFamily="34" charset="0"/>
                        </a:rPr>
                        <a:t>5.63848</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noFill/>
                  </a:tcPr>
                </a:tc>
                <a:tc>
                  <a:txBody>
                    <a:bodyPr/>
                    <a:lstStyle/>
                    <a:p>
                      <a:pPr algn="ctr" fontAlgn="b">
                        <a:buNone/>
                      </a:pPr>
                      <a:r>
                        <a:rPr lang="es-CO" sz="1000" b="0" i="0" u="none" strike="noStrike">
                          <a:solidFill>
                            <a:srgbClr val="000000"/>
                          </a:solidFill>
                          <a:effectLst/>
                          <a:latin typeface="Calibri" panose="020F0502020204030204" pitchFamily="34" charset="0"/>
                        </a:rPr>
                        <a:t>-75.941352</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noFill/>
                  </a:tcPr>
                </a:tc>
                <a:tc>
                  <a:txBody>
                    <a:bodyPr/>
                    <a:lstStyle/>
                    <a:p>
                      <a:pPr algn="ctr" fontAlgn="b">
                        <a:buNone/>
                      </a:pPr>
                      <a:r>
                        <a:rPr lang="es-CO" sz="1000" b="0" i="0" u="none" strike="noStrike">
                          <a:solidFill>
                            <a:srgbClr val="000000"/>
                          </a:solidFill>
                          <a:effectLst/>
                          <a:latin typeface="Calibri" panose="020F0502020204030204" pitchFamily="34" charset="0"/>
                        </a:rPr>
                        <a:t>Oro-Au</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noFill/>
                  </a:tcPr>
                </a:tc>
                <a:tc>
                  <a:txBody>
                    <a:bodyPr/>
                    <a:lstStyle/>
                    <a:p>
                      <a:pPr algn="ctr" fontAlgn="b">
                        <a:buNone/>
                      </a:pPr>
                      <a:r>
                        <a:rPr lang="es-CO" sz="1000" b="0" i="0" u="none" strike="noStrike">
                          <a:solidFill>
                            <a:srgbClr val="000000"/>
                          </a:solidFill>
                          <a:effectLst/>
                          <a:latin typeface="Calibri" panose="020F0502020204030204" pitchFamily="34" charset="0"/>
                        </a:rPr>
                        <a:t>Pirita-FeS2</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noFill/>
                  </a:tcPr>
                </a:tc>
                <a:tc>
                  <a:txBody>
                    <a:bodyPr/>
                    <a:lstStyle/>
                    <a:p>
                      <a:pPr algn="ctr" fontAlgn="b">
                        <a:buNone/>
                      </a:pPr>
                      <a:r>
                        <a:rPr lang="es-CO" sz="1000" b="0" i="0" u="none" strike="noStrike">
                          <a:solidFill>
                            <a:srgbClr val="000000"/>
                          </a:solidFill>
                          <a:effectLst/>
                          <a:latin typeface="Calibri" panose="020F0502020204030204" pitchFamily="34" charset="0"/>
                        </a:rPr>
                        <a:t>Epitermal</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noFill/>
                  </a:tcPr>
                </a:tc>
                <a:tc>
                  <a:txBody>
                    <a:bodyPr/>
                    <a:lstStyle/>
                    <a:p>
                      <a:pPr algn="ctr" fontAlgn="b">
                        <a:buNone/>
                      </a:pPr>
                      <a:r>
                        <a:rPr lang="es-CO" sz="1000" b="0" i="0" u="none" strike="noStrike">
                          <a:solidFill>
                            <a:srgbClr val="000000"/>
                          </a:solidFill>
                          <a:effectLst/>
                          <a:latin typeface="Calibri" panose="020F0502020204030204" pitchFamily="34" charset="0"/>
                        </a:rPr>
                        <a:t>ROCA SEDIMENTARIA</a:t>
                      </a:r>
                      <a:endParaRPr lang="es-CO" sz="1600" b="0" i="0" u="none" strike="noStrike">
                        <a:effectLst/>
                        <a:latin typeface="Arial" panose="020B0604020202020204" pitchFamily="34" charset="0"/>
                      </a:endParaRPr>
                    </a:p>
                  </a:txBody>
                  <a:tcPr marL="4565" marR="4565" marT="4565" marB="0" anchor="b">
                    <a:lnL>
                      <a:noFill/>
                    </a:lnL>
                    <a:lnR w="6350" cap="flat" cmpd="sng" algn="ctr">
                      <a:solidFill>
                        <a:srgbClr val="8EA9DB"/>
                      </a:solidFill>
                      <a:prstDash val="solid"/>
                      <a:round/>
                      <a:headEnd type="none" w="med" len="med"/>
                      <a:tailEnd type="none" w="med" len="med"/>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noFill/>
                  </a:tcPr>
                </a:tc>
                <a:extLst>
                  <a:ext uri="{0D108BD9-81ED-4DB2-BD59-A6C34878D82A}">
                    <a16:rowId xmlns:a16="http://schemas.microsoft.com/office/drawing/2014/main" val="2799545305"/>
                  </a:ext>
                </a:extLst>
              </a:tr>
              <a:tr h="148386">
                <a:tc>
                  <a:txBody>
                    <a:bodyPr/>
                    <a:lstStyle/>
                    <a:p>
                      <a:pPr algn="ctr" fontAlgn="b">
                        <a:buNone/>
                      </a:pPr>
                      <a:r>
                        <a:rPr lang="es-CO" sz="1000" b="0" i="0" u="none" strike="noStrike">
                          <a:solidFill>
                            <a:srgbClr val="000000"/>
                          </a:solidFill>
                          <a:effectLst/>
                          <a:latin typeface="Calibri" panose="020F0502020204030204" pitchFamily="34" charset="0"/>
                        </a:rPr>
                        <a:t>Ocurrencia</a:t>
                      </a:r>
                      <a:endParaRPr lang="es-CO" sz="1600" b="0" i="0" u="none" strike="noStrike">
                        <a:effectLst/>
                        <a:latin typeface="Arial" panose="020B0604020202020204" pitchFamily="34" charset="0"/>
                      </a:endParaRPr>
                    </a:p>
                  </a:txBody>
                  <a:tcPr marL="4565" marR="4565" marT="4565" marB="0" anchor="b">
                    <a:lnL w="6350" cap="flat" cmpd="sng" algn="ctr">
                      <a:solidFill>
                        <a:srgbClr val="8EA9DB"/>
                      </a:solidFill>
                      <a:prstDash val="solid"/>
                      <a:round/>
                      <a:headEnd type="none" w="med" len="med"/>
                      <a:tailEnd type="none" w="med" len="med"/>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D9E1F2"/>
                    </a:solidFill>
                  </a:tcPr>
                </a:tc>
                <a:tc>
                  <a:txBody>
                    <a:bodyPr/>
                    <a:lstStyle/>
                    <a:p>
                      <a:pPr algn="ctr" fontAlgn="b">
                        <a:buNone/>
                      </a:pPr>
                      <a:r>
                        <a:rPr lang="es-CO" sz="1000" b="0" i="0" u="none" strike="noStrike">
                          <a:solidFill>
                            <a:srgbClr val="000000"/>
                          </a:solidFill>
                          <a:effectLst/>
                          <a:latin typeface="Calibri" panose="020F0502020204030204" pitchFamily="34" charset="0"/>
                        </a:rPr>
                        <a:t>Antioquia</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D9E1F2"/>
                    </a:solidFill>
                  </a:tcPr>
                </a:tc>
                <a:tc>
                  <a:txBody>
                    <a:bodyPr/>
                    <a:lstStyle/>
                    <a:p>
                      <a:pPr algn="ctr" fontAlgn="b">
                        <a:buNone/>
                      </a:pPr>
                      <a:r>
                        <a:rPr lang="es-CO" sz="1000" b="0" i="0" u="none" strike="noStrike">
                          <a:solidFill>
                            <a:srgbClr val="000000"/>
                          </a:solidFill>
                          <a:effectLst/>
                          <a:latin typeface="Calibri" panose="020F0502020204030204" pitchFamily="34" charset="0"/>
                        </a:rPr>
                        <a:t>Andes</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D9E1F2"/>
                    </a:solidFill>
                  </a:tcPr>
                </a:tc>
                <a:tc>
                  <a:txBody>
                    <a:bodyPr/>
                    <a:lstStyle/>
                    <a:p>
                      <a:pPr algn="ctr" fontAlgn="b">
                        <a:buNone/>
                      </a:pPr>
                      <a:r>
                        <a:rPr lang="es-CO" sz="1000" b="0" i="0" u="none" strike="noStrike">
                          <a:solidFill>
                            <a:srgbClr val="000000"/>
                          </a:solidFill>
                          <a:effectLst/>
                          <a:latin typeface="Calibri" panose="020F0502020204030204" pitchFamily="34" charset="0"/>
                        </a:rPr>
                        <a:t>La Piedra</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D9E1F2"/>
                    </a:solidFill>
                  </a:tcPr>
                </a:tc>
                <a:tc>
                  <a:txBody>
                    <a:bodyPr/>
                    <a:lstStyle/>
                    <a:p>
                      <a:pPr algn="ctr" fontAlgn="b">
                        <a:buNone/>
                      </a:pPr>
                      <a:r>
                        <a:rPr lang="es-CO" sz="1000" b="0" i="0" u="none" strike="noStrike">
                          <a:solidFill>
                            <a:srgbClr val="000000"/>
                          </a:solidFill>
                          <a:effectLst/>
                          <a:latin typeface="Calibri" panose="020F0502020204030204" pitchFamily="34" charset="0"/>
                        </a:rPr>
                        <a:t>5.639934</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D9E1F2"/>
                    </a:solidFill>
                  </a:tcPr>
                </a:tc>
                <a:tc>
                  <a:txBody>
                    <a:bodyPr/>
                    <a:lstStyle/>
                    <a:p>
                      <a:pPr algn="ctr" fontAlgn="b">
                        <a:buNone/>
                      </a:pPr>
                      <a:r>
                        <a:rPr lang="es-CO" sz="1000" b="0" i="0" u="none" strike="noStrike">
                          <a:solidFill>
                            <a:srgbClr val="000000"/>
                          </a:solidFill>
                          <a:effectLst/>
                          <a:latin typeface="Calibri" panose="020F0502020204030204" pitchFamily="34" charset="0"/>
                        </a:rPr>
                        <a:t>-75.940591</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D9E1F2"/>
                    </a:solidFill>
                  </a:tcPr>
                </a:tc>
                <a:tc>
                  <a:txBody>
                    <a:bodyPr/>
                    <a:lstStyle/>
                    <a:p>
                      <a:pPr algn="ctr" fontAlgn="b">
                        <a:buNone/>
                      </a:pPr>
                      <a:r>
                        <a:rPr lang="es-CO" sz="1000" b="0" i="0" u="none" strike="noStrike">
                          <a:solidFill>
                            <a:srgbClr val="000000"/>
                          </a:solidFill>
                          <a:effectLst/>
                          <a:latin typeface="Calibri" panose="020F0502020204030204" pitchFamily="34" charset="0"/>
                        </a:rPr>
                        <a:t>Oro-Au</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D9E1F2"/>
                    </a:solidFill>
                  </a:tcPr>
                </a:tc>
                <a:tc>
                  <a:txBody>
                    <a:bodyPr/>
                    <a:lstStyle/>
                    <a:p>
                      <a:pPr algn="ctr" fontAlgn="b">
                        <a:buNone/>
                      </a:pPr>
                      <a:r>
                        <a:rPr lang="es-CO" sz="1000" b="0" i="0" u="none" strike="noStrike">
                          <a:solidFill>
                            <a:srgbClr val="000000"/>
                          </a:solidFill>
                          <a:effectLst/>
                          <a:latin typeface="Calibri" panose="020F0502020204030204" pitchFamily="34" charset="0"/>
                        </a:rPr>
                        <a:t> </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D9E1F2"/>
                    </a:solidFill>
                  </a:tcPr>
                </a:tc>
                <a:tc>
                  <a:txBody>
                    <a:bodyPr/>
                    <a:lstStyle/>
                    <a:p>
                      <a:pPr algn="ctr" fontAlgn="b">
                        <a:buNone/>
                      </a:pPr>
                      <a:r>
                        <a:rPr lang="es-CO" sz="1000" b="0" i="0" u="none" strike="noStrike">
                          <a:solidFill>
                            <a:srgbClr val="000000"/>
                          </a:solidFill>
                          <a:effectLst/>
                          <a:latin typeface="Calibri" panose="020F0502020204030204" pitchFamily="34" charset="0"/>
                        </a:rPr>
                        <a:t>Epitermal</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D9E1F2"/>
                    </a:solidFill>
                  </a:tcPr>
                </a:tc>
                <a:tc>
                  <a:txBody>
                    <a:bodyPr/>
                    <a:lstStyle/>
                    <a:p>
                      <a:pPr algn="ctr" fontAlgn="b">
                        <a:buNone/>
                      </a:pPr>
                      <a:r>
                        <a:rPr lang="es-CO" sz="1000" b="0" i="0" u="none" strike="noStrike">
                          <a:solidFill>
                            <a:srgbClr val="000000"/>
                          </a:solidFill>
                          <a:effectLst/>
                          <a:latin typeface="Calibri" panose="020F0502020204030204" pitchFamily="34" charset="0"/>
                        </a:rPr>
                        <a:t>ROCA SEDIMENTARIA</a:t>
                      </a:r>
                      <a:endParaRPr lang="es-CO" sz="1600" b="0" i="0" u="none" strike="noStrike">
                        <a:effectLst/>
                        <a:latin typeface="Arial" panose="020B0604020202020204" pitchFamily="34" charset="0"/>
                      </a:endParaRPr>
                    </a:p>
                  </a:txBody>
                  <a:tcPr marL="4565" marR="4565" marT="4565" marB="0" anchor="b">
                    <a:lnL>
                      <a:noFill/>
                    </a:lnL>
                    <a:lnR w="6350" cap="flat" cmpd="sng" algn="ctr">
                      <a:solidFill>
                        <a:srgbClr val="8EA9DB"/>
                      </a:solidFill>
                      <a:prstDash val="solid"/>
                      <a:round/>
                      <a:headEnd type="none" w="med" len="med"/>
                      <a:tailEnd type="none" w="med" len="med"/>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D9E1F2"/>
                    </a:solidFill>
                  </a:tcPr>
                </a:tc>
                <a:extLst>
                  <a:ext uri="{0D108BD9-81ED-4DB2-BD59-A6C34878D82A}">
                    <a16:rowId xmlns:a16="http://schemas.microsoft.com/office/drawing/2014/main" val="2339940810"/>
                  </a:ext>
                </a:extLst>
              </a:tr>
              <a:tr h="148386">
                <a:tc>
                  <a:txBody>
                    <a:bodyPr/>
                    <a:lstStyle/>
                    <a:p>
                      <a:pPr algn="ctr" fontAlgn="b">
                        <a:buNone/>
                      </a:pPr>
                      <a:r>
                        <a:rPr lang="es-CO" sz="1000" b="0" i="0" u="none" strike="noStrike">
                          <a:solidFill>
                            <a:srgbClr val="000000"/>
                          </a:solidFill>
                          <a:effectLst/>
                          <a:latin typeface="Calibri" panose="020F0502020204030204" pitchFamily="34" charset="0"/>
                        </a:rPr>
                        <a:t>Ocurrencia</a:t>
                      </a:r>
                      <a:endParaRPr lang="es-CO" sz="1600" b="0" i="0" u="none" strike="noStrike">
                        <a:effectLst/>
                        <a:latin typeface="Arial" panose="020B0604020202020204" pitchFamily="34" charset="0"/>
                      </a:endParaRPr>
                    </a:p>
                  </a:txBody>
                  <a:tcPr marL="4565" marR="4565" marT="4565" marB="0" anchor="b">
                    <a:lnL w="6350" cap="flat" cmpd="sng" algn="ctr">
                      <a:solidFill>
                        <a:srgbClr val="8EA9DB"/>
                      </a:solidFill>
                      <a:prstDash val="solid"/>
                      <a:round/>
                      <a:headEnd type="none" w="med" len="med"/>
                      <a:tailEnd type="none" w="med" len="med"/>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noFill/>
                  </a:tcPr>
                </a:tc>
                <a:tc>
                  <a:txBody>
                    <a:bodyPr/>
                    <a:lstStyle/>
                    <a:p>
                      <a:pPr algn="ctr" fontAlgn="b">
                        <a:buNone/>
                      </a:pPr>
                      <a:r>
                        <a:rPr lang="es-CO" sz="1000" b="0" i="0" u="none" strike="noStrike">
                          <a:solidFill>
                            <a:srgbClr val="000000"/>
                          </a:solidFill>
                          <a:effectLst/>
                          <a:latin typeface="Calibri" panose="020F0502020204030204" pitchFamily="34" charset="0"/>
                        </a:rPr>
                        <a:t>Antioquia</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noFill/>
                  </a:tcPr>
                </a:tc>
                <a:tc>
                  <a:txBody>
                    <a:bodyPr/>
                    <a:lstStyle/>
                    <a:p>
                      <a:pPr algn="ctr" fontAlgn="b">
                        <a:buNone/>
                      </a:pPr>
                      <a:r>
                        <a:rPr lang="es-CO" sz="1000" b="0" i="0" u="none" strike="noStrike">
                          <a:solidFill>
                            <a:srgbClr val="000000"/>
                          </a:solidFill>
                          <a:effectLst/>
                          <a:latin typeface="Calibri" panose="020F0502020204030204" pitchFamily="34" charset="0"/>
                        </a:rPr>
                        <a:t>Andes</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noFill/>
                  </a:tcPr>
                </a:tc>
                <a:tc>
                  <a:txBody>
                    <a:bodyPr/>
                    <a:lstStyle/>
                    <a:p>
                      <a:pPr algn="ctr" fontAlgn="b">
                        <a:buNone/>
                      </a:pPr>
                      <a:r>
                        <a:rPr lang="es-CO" sz="1000" b="0" i="0" u="none" strike="noStrike">
                          <a:solidFill>
                            <a:srgbClr val="000000"/>
                          </a:solidFill>
                          <a:effectLst/>
                          <a:latin typeface="Calibri" panose="020F0502020204030204" pitchFamily="34" charset="0"/>
                        </a:rPr>
                        <a:t>La Piedra</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noFill/>
                  </a:tcPr>
                </a:tc>
                <a:tc>
                  <a:txBody>
                    <a:bodyPr/>
                    <a:lstStyle/>
                    <a:p>
                      <a:pPr algn="ctr" fontAlgn="b">
                        <a:buNone/>
                      </a:pPr>
                      <a:r>
                        <a:rPr lang="es-CO" sz="1000" b="0" i="0" u="none" strike="noStrike">
                          <a:solidFill>
                            <a:srgbClr val="000000"/>
                          </a:solidFill>
                          <a:effectLst/>
                          <a:latin typeface="Calibri" panose="020F0502020204030204" pitchFamily="34" charset="0"/>
                        </a:rPr>
                        <a:t>5.642589</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noFill/>
                  </a:tcPr>
                </a:tc>
                <a:tc>
                  <a:txBody>
                    <a:bodyPr/>
                    <a:lstStyle/>
                    <a:p>
                      <a:pPr algn="ctr" fontAlgn="b">
                        <a:buNone/>
                      </a:pPr>
                      <a:r>
                        <a:rPr lang="es-CO" sz="1000" b="0" i="0" u="none" strike="noStrike">
                          <a:solidFill>
                            <a:srgbClr val="000000"/>
                          </a:solidFill>
                          <a:effectLst/>
                          <a:latin typeface="Calibri" panose="020F0502020204030204" pitchFamily="34" charset="0"/>
                        </a:rPr>
                        <a:t>-75.943456</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noFill/>
                  </a:tcPr>
                </a:tc>
                <a:tc>
                  <a:txBody>
                    <a:bodyPr/>
                    <a:lstStyle/>
                    <a:p>
                      <a:pPr algn="ctr" fontAlgn="b">
                        <a:buNone/>
                      </a:pPr>
                      <a:r>
                        <a:rPr lang="es-CO" sz="1000" b="0" i="0" u="none" strike="noStrike">
                          <a:solidFill>
                            <a:srgbClr val="000000"/>
                          </a:solidFill>
                          <a:effectLst/>
                          <a:latin typeface="Calibri" panose="020F0502020204030204" pitchFamily="34" charset="0"/>
                        </a:rPr>
                        <a:t>Oro-Au</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noFill/>
                  </a:tcPr>
                </a:tc>
                <a:tc>
                  <a:txBody>
                    <a:bodyPr/>
                    <a:lstStyle/>
                    <a:p>
                      <a:pPr algn="ctr" fontAlgn="b">
                        <a:buNone/>
                      </a:pPr>
                      <a:r>
                        <a:rPr lang="es-CO" sz="1000" b="0" i="0" u="none" strike="noStrike">
                          <a:solidFill>
                            <a:srgbClr val="000000"/>
                          </a:solidFill>
                          <a:effectLst/>
                          <a:latin typeface="Calibri" panose="020F0502020204030204" pitchFamily="34" charset="0"/>
                        </a:rPr>
                        <a:t> </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noFill/>
                  </a:tcPr>
                </a:tc>
                <a:tc>
                  <a:txBody>
                    <a:bodyPr/>
                    <a:lstStyle/>
                    <a:p>
                      <a:pPr algn="ctr" fontAlgn="b">
                        <a:buNone/>
                      </a:pPr>
                      <a:r>
                        <a:rPr lang="es-CO" sz="1000" b="0" i="0" u="none" strike="noStrike">
                          <a:solidFill>
                            <a:srgbClr val="000000"/>
                          </a:solidFill>
                          <a:effectLst/>
                          <a:latin typeface="Calibri" panose="020F0502020204030204" pitchFamily="34" charset="0"/>
                        </a:rPr>
                        <a:t>Epitermal</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noFill/>
                  </a:tcPr>
                </a:tc>
                <a:tc>
                  <a:txBody>
                    <a:bodyPr/>
                    <a:lstStyle/>
                    <a:p>
                      <a:pPr algn="ctr" fontAlgn="b">
                        <a:buNone/>
                      </a:pPr>
                      <a:r>
                        <a:rPr lang="es-CO" sz="1000" b="0" i="0" u="none" strike="noStrike">
                          <a:solidFill>
                            <a:srgbClr val="000000"/>
                          </a:solidFill>
                          <a:effectLst/>
                          <a:latin typeface="Calibri" panose="020F0502020204030204" pitchFamily="34" charset="0"/>
                        </a:rPr>
                        <a:t>ROCA SEDIMENTARIA</a:t>
                      </a:r>
                      <a:endParaRPr lang="es-CO" sz="1600" b="0" i="0" u="none" strike="noStrike">
                        <a:effectLst/>
                        <a:latin typeface="Arial" panose="020B0604020202020204" pitchFamily="34" charset="0"/>
                      </a:endParaRPr>
                    </a:p>
                  </a:txBody>
                  <a:tcPr marL="4565" marR="4565" marT="4565" marB="0" anchor="b">
                    <a:lnL>
                      <a:noFill/>
                    </a:lnL>
                    <a:lnR w="6350" cap="flat" cmpd="sng" algn="ctr">
                      <a:solidFill>
                        <a:srgbClr val="8EA9DB"/>
                      </a:solidFill>
                      <a:prstDash val="solid"/>
                      <a:round/>
                      <a:headEnd type="none" w="med" len="med"/>
                      <a:tailEnd type="none" w="med" len="med"/>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noFill/>
                  </a:tcPr>
                </a:tc>
                <a:extLst>
                  <a:ext uri="{0D108BD9-81ED-4DB2-BD59-A6C34878D82A}">
                    <a16:rowId xmlns:a16="http://schemas.microsoft.com/office/drawing/2014/main" val="390475491"/>
                  </a:ext>
                </a:extLst>
              </a:tr>
              <a:tr h="148386">
                <a:tc>
                  <a:txBody>
                    <a:bodyPr/>
                    <a:lstStyle/>
                    <a:p>
                      <a:pPr algn="ctr" fontAlgn="b">
                        <a:buNone/>
                      </a:pPr>
                      <a:r>
                        <a:rPr lang="es-CO" sz="1000" b="0" i="0" u="none" strike="noStrike">
                          <a:solidFill>
                            <a:srgbClr val="000000"/>
                          </a:solidFill>
                          <a:effectLst/>
                          <a:latin typeface="Calibri" panose="020F0502020204030204" pitchFamily="34" charset="0"/>
                        </a:rPr>
                        <a:t>Ocurrencia</a:t>
                      </a:r>
                      <a:endParaRPr lang="es-CO" sz="1600" b="0" i="0" u="none" strike="noStrike">
                        <a:effectLst/>
                        <a:latin typeface="Arial" panose="020B0604020202020204" pitchFamily="34" charset="0"/>
                      </a:endParaRPr>
                    </a:p>
                  </a:txBody>
                  <a:tcPr marL="4565" marR="4565" marT="4565" marB="0" anchor="b">
                    <a:lnL w="6350" cap="flat" cmpd="sng" algn="ctr">
                      <a:solidFill>
                        <a:srgbClr val="8EA9DB"/>
                      </a:solidFill>
                      <a:prstDash val="solid"/>
                      <a:round/>
                      <a:headEnd type="none" w="med" len="med"/>
                      <a:tailEnd type="none" w="med" len="med"/>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D9E1F2"/>
                    </a:solidFill>
                  </a:tcPr>
                </a:tc>
                <a:tc>
                  <a:txBody>
                    <a:bodyPr/>
                    <a:lstStyle/>
                    <a:p>
                      <a:pPr algn="ctr" fontAlgn="b">
                        <a:buNone/>
                      </a:pPr>
                      <a:r>
                        <a:rPr lang="es-CO" sz="1000" b="0" i="0" u="none" strike="noStrike">
                          <a:solidFill>
                            <a:srgbClr val="000000"/>
                          </a:solidFill>
                          <a:effectLst/>
                          <a:latin typeface="Calibri" panose="020F0502020204030204" pitchFamily="34" charset="0"/>
                        </a:rPr>
                        <a:t>Antioquia</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D9E1F2"/>
                    </a:solidFill>
                  </a:tcPr>
                </a:tc>
                <a:tc>
                  <a:txBody>
                    <a:bodyPr/>
                    <a:lstStyle/>
                    <a:p>
                      <a:pPr algn="ctr" fontAlgn="b">
                        <a:buNone/>
                      </a:pPr>
                      <a:r>
                        <a:rPr lang="es-CO" sz="1000" b="0" i="0" u="none" strike="noStrike">
                          <a:solidFill>
                            <a:srgbClr val="000000"/>
                          </a:solidFill>
                          <a:effectLst/>
                          <a:latin typeface="Calibri" panose="020F0502020204030204" pitchFamily="34" charset="0"/>
                        </a:rPr>
                        <a:t>Andes</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D9E1F2"/>
                    </a:solidFill>
                  </a:tcPr>
                </a:tc>
                <a:tc>
                  <a:txBody>
                    <a:bodyPr/>
                    <a:lstStyle/>
                    <a:p>
                      <a:pPr algn="ctr" fontAlgn="b">
                        <a:buNone/>
                      </a:pPr>
                      <a:r>
                        <a:rPr lang="es-CO" sz="1000" b="0" i="0" u="none" strike="noStrike">
                          <a:solidFill>
                            <a:srgbClr val="000000"/>
                          </a:solidFill>
                          <a:effectLst/>
                          <a:latin typeface="Calibri" panose="020F0502020204030204" pitchFamily="34" charset="0"/>
                        </a:rPr>
                        <a:t>Reserva Forestal</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D9E1F2"/>
                    </a:solidFill>
                  </a:tcPr>
                </a:tc>
                <a:tc>
                  <a:txBody>
                    <a:bodyPr/>
                    <a:lstStyle/>
                    <a:p>
                      <a:pPr algn="ctr" fontAlgn="b">
                        <a:buNone/>
                      </a:pPr>
                      <a:r>
                        <a:rPr lang="es-CO" sz="1000" b="0" i="0" u="none" strike="noStrike">
                          <a:solidFill>
                            <a:srgbClr val="000000"/>
                          </a:solidFill>
                          <a:effectLst/>
                          <a:latin typeface="Calibri" panose="020F0502020204030204" pitchFamily="34" charset="0"/>
                        </a:rPr>
                        <a:t>5.604718</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D9E1F2"/>
                    </a:solidFill>
                  </a:tcPr>
                </a:tc>
                <a:tc>
                  <a:txBody>
                    <a:bodyPr/>
                    <a:lstStyle/>
                    <a:p>
                      <a:pPr algn="ctr" fontAlgn="b">
                        <a:buNone/>
                      </a:pPr>
                      <a:r>
                        <a:rPr lang="es-CO" sz="1000" b="0" i="0" u="none" strike="noStrike">
                          <a:solidFill>
                            <a:srgbClr val="000000"/>
                          </a:solidFill>
                          <a:effectLst/>
                          <a:latin typeface="Calibri" panose="020F0502020204030204" pitchFamily="34" charset="0"/>
                        </a:rPr>
                        <a:t>-75.949305</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D9E1F2"/>
                    </a:solidFill>
                  </a:tcPr>
                </a:tc>
                <a:tc>
                  <a:txBody>
                    <a:bodyPr/>
                    <a:lstStyle/>
                    <a:p>
                      <a:pPr algn="ctr" fontAlgn="b">
                        <a:buNone/>
                      </a:pPr>
                      <a:r>
                        <a:rPr lang="es-CO" sz="1000" b="0" i="0" u="none" strike="noStrike">
                          <a:solidFill>
                            <a:srgbClr val="000000"/>
                          </a:solidFill>
                          <a:effectLst/>
                          <a:latin typeface="Calibri" panose="020F0502020204030204" pitchFamily="34" charset="0"/>
                        </a:rPr>
                        <a:t>Oro-Au</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D9E1F2"/>
                    </a:solidFill>
                  </a:tcPr>
                </a:tc>
                <a:tc>
                  <a:txBody>
                    <a:bodyPr/>
                    <a:lstStyle/>
                    <a:p>
                      <a:pPr algn="ctr" fontAlgn="b">
                        <a:buNone/>
                      </a:pPr>
                      <a:r>
                        <a:rPr lang="es-CO" sz="1000" b="0" i="0" u="none" strike="noStrike">
                          <a:solidFill>
                            <a:srgbClr val="000000"/>
                          </a:solidFill>
                          <a:effectLst/>
                          <a:latin typeface="Calibri" panose="020F0502020204030204" pitchFamily="34" charset="0"/>
                        </a:rPr>
                        <a:t> </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D9E1F2"/>
                    </a:solidFill>
                  </a:tcPr>
                </a:tc>
                <a:tc>
                  <a:txBody>
                    <a:bodyPr/>
                    <a:lstStyle/>
                    <a:p>
                      <a:pPr algn="ctr" fontAlgn="b">
                        <a:buNone/>
                      </a:pPr>
                      <a:r>
                        <a:rPr lang="es-CO" sz="1000" b="0" i="0" u="none" strike="noStrike">
                          <a:solidFill>
                            <a:srgbClr val="000000"/>
                          </a:solidFill>
                          <a:effectLst/>
                          <a:latin typeface="Calibri" panose="020F0502020204030204" pitchFamily="34" charset="0"/>
                        </a:rPr>
                        <a:t>Epitermal</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D9E1F2"/>
                    </a:solidFill>
                  </a:tcPr>
                </a:tc>
                <a:tc>
                  <a:txBody>
                    <a:bodyPr/>
                    <a:lstStyle/>
                    <a:p>
                      <a:pPr algn="ctr" fontAlgn="b">
                        <a:buNone/>
                      </a:pPr>
                      <a:r>
                        <a:rPr lang="es-CO" sz="1000" b="0" i="0" u="none" strike="noStrike">
                          <a:solidFill>
                            <a:srgbClr val="000000"/>
                          </a:solidFill>
                          <a:effectLst/>
                          <a:latin typeface="Calibri" panose="020F0502020204030204" pitchFamily="34" charset="0"/>
                        </a:rPr>
                        <a:t>ROCA ÍGNEA PLUTÓNICA</a:t>
                      </a:r>
                      <a:endParaRPr lang="es-CO" sz="1600" b="0" i="0" u="none" strike="noStrike">
                        <a:effectLst/>
                        <a:latin typeface="Arial" panose="020B0604020202020204" pitchFamily="34" charset="0"/>
                      </a:endParaRPr>
                    </a:p>
                  </a:txBody>
                  <a:tcPr marL="4565" marR="4565" marT="4565" marB="0" anchor="b">
                    <a:lnL>
                      <a:noFill/>
                    </a:lnL>
                    <a:lnR w="6350" cap="flat" cmpd="sng" algn="ctr">
                      <a:solidFill>
                        <a:srgbClr val="8EA9DB"/>
                      </a:solidFill>
                      <a:prstDash val="solid"/>
                      <a:round/>
                      <a:headEnd type="none" w="med" len="med"/>
                      <a:tailEnd type="none" w="med" len="med"/>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D9E1F2"/>
                    </a:solidFill>
                  </a:tcPr>
                </a:tc>
                <a:extLst>
                  <a:ext uri="{0D108BD9-81ED-4DB2-BD59-A6C34878D82A}">
                    <a16:rowId xmlns:a16="http://schemas.microsoft.com/office/drawing/2014/main" val="2684968348"/>
                  </a:ext>
                </a:extLst>
              </a:tr>
              <a:tr h="148386">
                <a:tc>
                  <a:txBody>
                    <a:bodyPr/>
                    <a:lstStyle/>
                    <a:p>
                      <a:pPr algn="ctr" fontAlgn="b">
                        <a:buNone/>
                      </a:pPr>
                      <a:r>
                        <a:rPr lang="es-CO" sz="1000" b="0" i="0" u="none" strike="noStrike">
                          <a:solidFill>
                            <a:srgbClr val="000000"/>
                          </a:solidFill>
                          <a:effectLst/>
                          <a:latin typeface="Calibri" panose="020F0502020204030204" pitchFamily="34" charset="0"/>
                        </a:rPr>
                        <a:t>Ocurrencia</a:t>
                      </a:r>
                      <a:endParaRPr lang="es-CO" sz="1600" b="0" i="0" u="none" strike="noStrike">
                        <a:effectLst/>
                        <a:latin typeface="Arial" panose="020B0604020202020204" pitchFamily="34" charset="0"/>
                      </a:endParaRPr>
                    </a:p>
                  </a:txBody>
                  <a:tcPr marL="4565" marR="4565" marT="4565" marB="0" anchor="b">
                    <a:lnL w="6350" cap="flat" cmpd="sng" algn="ctr">
                      <a:solidFill>
                        <a:srgbClr val="8EA9DB"/>
                      </a:solidFill>
                      <a:prstDash val="solid"/>
                      <a:round/>
                      <a:headEnd type="none" w="med" len="med"/>
                      <a:tailEnd type="none" w="med" len="med"/>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noFill/>
                  </a:tcPr>
                </a:tc>
                <a:tc>
                  <a:txBody>
                    <a:bodyPr/>
                    <a:lstStyle/>
                    <a:p>
                      <a:pPr algn="ctr" fontAlgn="b">
                        <a:buNone/>
                      </a:pPr>
                      <a:r>
                        <a:rPr lang="es-CO" sz="1000" b="0" i="0" u="none" strike="noStrike">
                          <a:solidFill>
                            <a:srgbClr val="000000"/>
                          </a:solidFill>
                          <a:effectLst/>
                          <a:latin typeface="Calibri" panose="020F0502020204030204" pitchFamily="34" charset="0"/>
                        </a:rPr>
                        <a:t>Antioquia</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noFill/>
                  </a:tcPr>
                </a:tc>
                <a:tc>
                  <a:txBody>
                    <a:bodyPr/>
                    <a:lstStyle/>
                    <a:p>
                      <a:pPr algn="ctr" fontAlgn="b">
                        <a:buNone/>
                      </a:pPr>
                      <a:r>
                        <a:rPr lang="es-CO" sz="1000" b="0" i="0" u="none" strike="noStrike">
                          <a:solidFill>
                            <a:srgbClr val="000000"/>
                          </a:solidFill>
                          <a:effectLst/>
                          <a:latin typeface="Calibri" panose="020F0502020204030204" pitchFamily="34" charset="0"/>
                        </a:rPr>
                        <a:t>Andes</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noFill/>
                  </a:tcPr>
                </a:tc>
                <a:tc>
                  <a:txBody>
                    <a:bodyPr/>
                    <a:lstStyle/>
                    <a:p>
                      <a:pPr algn="ctr" fontAlgn="b">
                        <a:buNone/>
                      </a:pPr>
                      <a:r>
                        <a:rPr lang="es-CO" sz="1000" b="0" i="0" u="none" strike="noStrike">
                          <a:solidFill>
                            <a:srgbClr val="000000"/>
                          </a:solidFill>
                          <a:effectLst/>
                          <a:latin typeface="Calibri" panose="020F0502020204030204" pitchFamily="34" charset="0"/>
                        </a:rPr>
                        <a:t>Reserva Forestal</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noFill/>
                  </a:tcPr>
                </a:tc>
                <a:tc>
                  <a:txBody>
                    <a:bodyPr/>
                    <a:lstStyle/>
                    <a:p>
                      <a:pPr algn="ctr" fontAlgn="b">
                        <a:buNone/>
                      </a:pPr>
                      <a:r>
                        <a:rPr lang="es-CO" sz="1000" b="0" i="0" u="none" strike="noStrike">
                          <a:solidFill>
                            <a:srgbClr val="000000"/>
                          </a:solidFill>
                          <a:effectLst/>
                          <a:latin typeface="Calibri" panose="020F0502020204030204" pitchFamily="34" charset="0"/>
                        </a:rPr>
                        <a:t>5.605054</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noFill/>
                  </a:tcPr>
                </a:tc>
                <a:tc>
                  <a:txBody>
                    <a:bodyPr/>
                    <a:lstStyle/>
                    <a:p>
                      <a:pPr algn="ctr" fontAlgn="b">
                        <a:buNone/>
                      </a:pPr>
                      <a:r>
                        <a:rPr lang="es-CO" sz="1000" b="0" i="0" u="none" strike="noStrike">
                          <a:solidFill>
                            <a:srgbClr val="000000"/>
                          </a:solidFill>
                          <a:effectLst/>
                          <a:latin typeface="Calibri" panose="020F0502020204030204" pitchFamily="34" charset="0"/>
                        </a:rPr>
                        <a:t>-75.950153</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noFill/>
                  </a:tcPr>
                </a:tc>
                <a:tc>
                  <a:txBody>
                    <a:bodyPr/>
                    <a:lstStyle/>
                    <a:p>
                      <a:pPr algn="ctr" fontAlgn="b">
                        <a:buNone/>
                      </a:pPr>
                      <a:r>
                        <a:rPr lang="es-CO" sz="1000" b="0" i="0" u="none" strike="noStrike">
                          <a:solidFill>
                            <a:srgbClr val="000000"/>
                          </a:solidFill>
                          <a:effectLst/>
                          <a:latin typeface="Calibri" panose="020F0502020204030204" pitchFamily="34" charset="0"/>
                        </a:rPr>
                        <a:t>Oro-Au</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noFill/>
                  </a:tcPr>
                </a:tc>
                <a:tc>
                  <a:txBody>
                    <a:bodyPr/>
                    <a:lstStyle/>
                    <a:p>
                      <a:pPr algn="ctr" fontAlgn="b">
                        <a:buNone/>
                      </a:pPr>
                      <a:r>
                        <a:rPr lang="es-CO" sz="1000" b="0" i="0" u="none" strike="noStrike">
                          <a:solidFill>
                            <a:srgbClr val="000000"/>
                          </a:solidFill>
                          <a:effectLst/>
                          <a:latin typeface="Calibri" panose="020F0502020204030204" pitchFamily="34" charset="0"/>
                        </a:rPr>
                        <a:t>Pirita-FeS2</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noFill/>
                  </a:tcPr>
                </a:tc>
                <a:tc>
                  <a:txBody>
                    <a:bodyPr/>
                    <a:lstStyle/>
                    <a:p>
                      <a:pPr algn="ctr" fontAlgn="b">
                        <a:buNone/>
                      </a:pPr>
                      <a:r>
                        <a:rPr lang="es-CO" sz="1000" b="0" i="0" u="none" strike="noStrike">
                          <a:solidFill>
                            <a:srgbClr val="000000"/>
                          </a:solidFill>
                          <a:effectLst/>
                          <a:latin typeface="Calibri" panose="020F0502020204030204" pitchFamily="34" charset="0"/>
                        </a:rPr>
                        <a:t>Epitermal</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noFill/>
                  </a:tcPr>
                </a:tc>
                <a:tc>
                  <a:txBody>
                    <a:bodyPr/>
                    <a:lstStyle/>
                    <a:p>
                      <a:pPr algn="ctr" fontAlgn="b">
                        <a:buNone/>
                      </a:pPr>
                      <a:r>
                        <a:rPr lang="es-CO" sz="1000" b="0" i="0" u="none" strike="noStrike">
                          <a:solidFill>
                            <a:srgbClr val="000000"/>
                          </a:solidFill>
                          <a:effectLst/>
                          <a:latin typeface="Calibri" panose="020F0502020204030204" pitchFamily="34" charset="0"/>
                        </a:rPr>
                        <a:t>ROCA ÍGNEA PLUTÓNICA</a:t>
                      </a:r>
                      <a:endParaRPr lang="es-CO" sz="1600" b="0" i="0" u="none" strike="noStrike">
                        <a:effectLst/>
                        <a:latin typeface="Arial" panose="020B0604020202020204" pitchFamily="34" charset="0"/>
                      </a:endParaRPr>
                    </a:p>
                  </a:txBody>
                  <a:tcPr marL="4565" marR="4565" marT="4565" marB="0" anchor="b">
                    <a:lnL>
                      <a:noFill/>
                    </a:lnL>
                    <a:lnR w="6350" cap="flat" cmpd="sng" algn="ctr">
                      <a:solidFill>
                        <a:srgbClr val="8EA9DB"/>
                      </a:solidFill>
                      <a:prstDash val="solid"/>
                      <a:round/>
                      <a:headEnd type="none" w="med" len="med"/>
                      <a:tailEnd type="none" w="med" len="med"/>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noFill/>
                  </a:tcPr>
                </a:tc>
                <a:extLst>
                  <a:ext uri="{0D108BD9-81ED-4DB2-BD59-A6C34878D82A}">
                    <a16:rowId xmlns:a16="http://schemas.microsoft.com/office/drawing/2014/main" val="2962078325"/>
                  </a:ext>
                </a:extLst>
              </a:tr>
              <a:tr h="148386">
                <a:tc>
                  <a:txBody>
                    <a:bodyPr/>
                    <a:lstStyle/>
                    <a:p>
                      <a:pPr algn="ctr" fontAlgn="b">
                        <a:buNone/>
                      </a:pPr>
                      <a:r>
                        <a:rPr lang="es-CO" sz="1000" b="0" i="0" u="none" strike="noStrike">
                          <a:solidFill>
                            <a:srgbClr val="000000"/>
                          </a:solidFill>
                          <a:effectLst/>
                          <a:latin typeface="Calibri" panose="020F0502020204030204" pitchFamily="34" charset="0"/>
                        </a:rPr>
                        <a:t>Ocurrencia</a:t>
                      </a:r>
                      <a:endParaRPr lang="es-CO" sz="1600" b="0" i="0" u="none" strike="noStrike">
                        <a:effectLst/>
                        <a:latin typeface="Arial" panose="020B0604020202020204" pitchFamily="34" charset="0"/>
                      </a:endParaRPr>
                    </a:p>
                  </a:txBody>
                  <a:tcPr marL="4565" marR="4565" marT="4565" marB="0" anchor="b">
                    <a:lnL w="6350" cap="flat" cmpd="sng" algn="ctr">
                      <a:solidFill>
                        <a:srgbClr val="8EA9DB"/>
                      </a:solidFill>
                      <a:prstDash val="solid"/>
                      <a:round/>
                      <a:headEnd type="none" w="med" len="med"/>
                      <a:tailEnd type="none" w="med" len="med"/>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D9E1F2"/>
                    </a:solidFill>
                  </a:tcPr>
                </a:tc>
                <a:tc>
                  <a:txBody>
                    <a:bodyPr/>
                    <a:lstStyle/>
                    <a:p>
                      <a:pPr algn="ctr" fontAlgn="b">
                        <a:buNone/>
                      </a:pPr>
                      <a:r>
                        <a:rPr lang="es-CO" sz="1000" b="0" i="0" u="none" strike="noStrike">
                          <a:solidFill>
                            <a:srgbClr val="000000"/>
                          </a:solidFill>
                          <a:effectLst/>
                          <a:latin typeface="Calibri" panose="020F0502020204030204" pitchFamily="34" charset="0"/>
                        </a:rPr>
                        <a:t>Antioquia</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D9E1F2"/>
                    </a:solidFill>
                  </a:tcPr>
                </a:tc>
                <a:tc>
                  <a:txBody>
                    <a:bodyPr/>
                    <a:lstStyle/>
                    <a:p>
                      <a:pPr algn="ctr" fontAlgn="b">
                        <a:buNone/>
                      </a:pPr>
                      <a:r>
                        <a:rPr lang="es-CO" sz="1000" b="0" i="0" u="none" strike="noStrike">
                          <a:solidFill>
                            <a:srgbClr val="000000"/>
                          </a:solidFill>
                          <a:effectLst/>
                          <a:latin typeface="Calibri" panose="020F0502020204030204" pitchFamily="34" charset="0"/>
                        </a:rPr>
                        <a:t>Andes</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D9E1F2"/>
                    </a:solidFill>
                  </a:tcPr>
                </a:tc>
                <a:tc>
                  <a:txBody>
                    <a:bodyPr/>
                    <a:lstStyle/>
                    <a:p>
                      <a:pPr algn="ctr" fontAlgn="b">
                        <a:buNone/>
                      </a:pPr>
                      <a:r>
                        <a:rPr lang="es-CO" sz="1000" b="0" i="0" u="none" strike="noStrike">
                          <a:solidFill>
                            <a:srgbClr val="000000"/>
                          </a:solidFill>
                          <a:effectLst/>
                          <a:latin typeface="Calibri" panose="020F0502020204030204" pitchFamily="34" charset="0"/>
                        </a:rPr>
                        <a:t>San Antonio</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D9E1F2"/>
                    </a:solidFill>
                  </a:tcPr>
                </a:tc>
                <a:tc>
                  <a:txBody>
                    <a:bodyPr/>
                    <a:lstStyle/>
                    <a:p>
                      <a:pPr algn="ctr" fontAlgn="b">
                        <a:buNone/>
                      </a:pPr>
                      <a:r>
                        <a:rPr lang="es-CO" sz="1000" b="0" i="0" u="none" strike="noStrike">
                          <a:solidFill>
                            <a:srgbClr val="000000"/>
                          </a:solidFill>
                          <a:effectLst/>
                          <a:latin typeface="Calibri" panose="020F0502020204030204" pitchFamily="34" charset="0"/>
                        </a:rPr>
                        <a:t>5.580549</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D9E1F2"/>
                    </a:solidFill>
                  </a:tcPr>
                </a:tc>
                <a:tc>
                  <a:txBody>
                    <a:bodyPr/>
                    <a:lstStyle/>
                    <a:p>
                      <a:pPr algn="ctr" fontAlgn="b">
                        <a:buNone/>
                      </a:pPr>
                      <a:r>
                        <a:rPr lang="es-CO" sz="1000" b="0" i="0" u="none" strike="noStrike">
                          <a:solidFill>
                            <a:srgbClr val="000000"/>
                          </a:solidFill>
                          <a:effectLst/>
                          <a:latin typeface="Calibri" panose="020F0502020204030204" pitchFamily="34" charset="0"/>
                        </a:rPr>
                        <a:t>-75.896604</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D9E1F2"/>
                    </a:solidFill>
                  </a:tcPr>
                </a:tc>
                <a:tc>
                  <a:txBody>
                    <a:bodyPr/>
                    <a:lstStyle/>
                    <a:p>
                      <a:pPr algn="ctr" fontAlgn="b">
                        <a:buNone/>
                      </a:pPr>
                      <a:r>
                        <a:rPr lang="es-CO" sz="1000" b="0" i="0" u="none" strike="noStrike">
                          <a:solidFill>
                            <a:srgbClr val="000000"/>
                          </a:solidFill>
                          <a:effectLst/>
                          <a:latin typeface="Calibri" panose="020F0502020204030204" pitchFamily="34" charset="0"/>
                        </a:rPr>
                        <a:t>Oro-Au</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D9E1F2"/>
                    </a:solidFill>
                  </a:tcPr>
                </a:tc>
                <a:tc>
                  <a:txBody>
                    <a:bodyPr/>
                    <a:lstStyle/>
                    <a:p>
                      <a:pPr algn="ctr" fontAlgn="b">
                        <a:buNone/>
                      </a:pPr>
                      <a:r>
                        <a:rPr lang="es-CO" sz="1000" b="0" i="0" u="none" strike="noStrike">
                          <a:solidFill>
                            <a:srgbClr val="000000"/>
                          </a:solidFill>
                          <a:effectLst/>
                          <a:latin typeface="Calibri" panose="020F0502020204030204" pitchFamily="34" charset="0"/>
                        </a:rPr>
                        <a:t> </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D9E1F2"/>
                    </a:solidFill>
                  </a:tcPr>
                </a:tc>
                <a:tc>
                  <a:txBody>
                    <a:bodyPr/>
                    <a:lstStyle/>
                    <a:p>
                      <a:pPr algn="ctr" fontAlgn="b">
                        <a:buNone/>
                      </a:pPr>
                      <a:r>
                        <a:rPr lang="es-CO" sz="1000" b="0" i="0" u="none" strike="noStrike">
                          <a:solidFill>
                            <a:srgbClr val="000000"/>
                          </a:solidFill>
                          <a:effectLst/>
                          <a:latin typeface="Calibri" panose="020F0502020204030204" pitchFamily="34" charset="0"/>
                        </a:rPr>
                        <a:t>Epitermal</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D9E1F2"/>
                    </a:solidFill>
                  </a:tcPr>
                </a:tc>
                <a:tc>
                  <a:txBody>
                    <a:bodyPr/>
                    <a:lstStyle/>
                    <a:p>
                      <a:pPr algn="ctr" fontAlgn="b">
                        <a:buNone/>
                      </a:pPr>
                      <a:r>
                        <a:rPr lang="es-CO" sz="1000" b="0" i="0" u="none" strike="noStrike">
                          <a:solidFill>
                            <a:srgbClr val="000000"/>
                          </a:solidFill>
                          <a:effectLst/>
                          <a:latin typeface="Calibri" panose="020F0502020204030204" pitchFamily="34" charset="0"/>
                        </a:rPr>
                        <a:t>ROCA SEDIMENTARIA</a:t>
                      </a:r>
                      <a:endParaRPr lang="es-CO" sz="1600" b="0" i="0" u="none" strike="noStrike">
                        <a:effectLst/>
                        <a:latin typeface="Arial" panose="020B0604020202020204" pitchFamily="34" charset="0"/>
                      </a:endParaRPr>
                    </a:p>
                  </a:txBody>
                  <a:tcPr marL="4565" marR="4565" marT="4565" marB="0" anchor="b">
                    <a:lnL>
                      <a:noFill/>
                    </a:lnL>
                    <a:lnR w="6350" cap="flat" cmpd="sng" algn="ctr">
                      <a:solidFill>
                        <a:srgbClr val="8EA9DB"/>
                      </a:solidFill>
                      <a:prstDash val="solid"/>
                      <a:round/>
                      <a:headEnd type="none" w="med" len="med"/>
                      <a:tailEnd type="none" w="med" len="med"/>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D9E1F2"/>
                    </a:solidFill>
                  </a:tcPr>
                </a:tc>
                <a:extLst>
                  <a:ext uri="{0D108BD9-81ED-4DB2-BD59-A6C34878D82A}">
                    <a16:rowId xmlns:a16="http://schemas.microsoft.com/office/drawing/2014/main" val="4210596010"/>
                  </a:ext>
                </a:extLst>
              </a:tr>
              <a:tr h="148386">
                <a:tc>
                  <a:txBody>
                    <a:bodyPr/>
                    <a:lstStyle/>
                    <a:p>
                      <a:pPr algn="ctr" fontAlgn="b">
                        <a:buNone/>
                      </a:pPr>
                      <a:r>
                        <a:rPr lang="es-CO" sz="1000" b="0" i="0" u="none" strike="noStrike">
                          <a:solidFill>
                            <a:srgbClr val="000000"/>
                          </a:solidFill>
                          <a:effectLst/>
                          <a:latin typeface="Calibri" panose="020F0502020204030204" pitchFamily="34" charset="0"/>
                        </a:rPr>
                        <a:t>Ocurrencia</a:t>
                      </a:r>
                      <a:endParaRPr lang="es-CO" sz="1600" b="0" i="0" u="none" strike="noStrike">
                        <a:effectLst/>
                        <a:latin typeface="Arial" panose="020B0604020202020204" pitchFamily="34" charset="0"/>
                      </a:endParaRPr>
                    </a:p>
                  </a:txBody>
                  <a:tcPr marL="4565" marR="4565" marT="4565" marB="0" anchor="b">
                    <a:lnL w="6350" cap="flat" cmpd="sng" algn="ctr">
                      <a:solidFill>
                        <a:srgbClr val="8EA9DB"/>
                      </a:solidFill>
                      <a:prstDash val="solid"/>
                      <a:round/>
                      <a:headEnd type="none" w="med" len="med"/>
                      <a:tailEnd type="none" w="med" len="med"/>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noFill/>
                  </a:tcPr>
                </a:tc>
                <a:tc>
                  <a:txBody>
                    <a:bodyPr/>
                    <a:lstStyle/>
                    <a:p>
                      <a:pPr algn="ctr" fontAlgn="b">
                        <a:buNone/>
                      </a:pPr>
                      <a:r>
                        <a:rPr lang="es-CO" sz="1000" b="0" i="0" u="none" strike="noStrike">
                          <a:solidFill>
                            <a:srgbClr val="000000"/>
                          </a:solidFill>
                          <a:effectLst/>
                          <a:latin typeface="Calibri" panose="020F0502020204030204" pitchFamily="34" charset="0"/>
                        </a:rPr>
                        <a:t>Antioquia</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noFill/>
                  </a:tcPr>
                </a:tc>
                <a:tc>
                  <a:txBody>
                    <a:bodyPr/>
                    <a:lstStyle/>
                    <a:p>
                      <a:pPr algn="ctr" fontAlgn="b">
                        <a:buNone/>
                      </a:pPr>
                      <a:r>
                        <a:rPr lang="es-CO" sz="1000" b="0" i="0" u="none" strike="noStrike">
                          <a:solidFill>
                            <a:srgbClr val="000000"/>
                          </a:solidFill>
                          <a:effectLst/>
                          <a:latin typeface="Calibri" panose="020F0502020204030204" pitchFamily="34" charset="0"/>
                        </a:rPr>
                        <a:t>Andes</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noFill/>
                  </a:tcPr>
                </a:tc>
                <a:tc>
                  <a:txBody>
                    <a:bodyPr/>
                    <a:lstStyle/>
                    <a:p>
                      <a:pPr algn="ctr" fontAlgn="b">
                        <a:buNone/>
                      </a:pPr>
                      <a:r>
                        <a:rPr lang="es-CO" sz="1000" b="0" i="0" u="none" strike="noStrike">
                          <a:solidFill>
                            <a:srgbClr val="000000"/>
                          </a:solidFill>
                          <a:effectLst/>
                          <a:latin typeface="Calibri" panose="020F0502020204030204" pitchFamily="34" charset="0"/>
                        </a:rPr>
                        <a:t>San Antonio</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noFill/>
                  </a:tcPr>
                </a:tc>
                <a:tc>
                  <a:txBody>
                    <a:bodyPr/>
                    <a:lstStyle/>
                    <a:p>
                      <a:pPr algn="ctr" fontAlgn="b">
                        <a:buNone/>
                      </a:pPr>
                      <a:r>
                        <a:rPr lang="es-CO" sz="1000" b="0" i="0" u="none" strike="noStrike">
                          <a:solidFill>
                            <a:srgbClr val="000000"/>
                          </a:solidFill>
                          <a:effectLst/>
                          <a:latin typeface="Calibri" panose="020F0502020204030204" pitchFamily="34" charset="0"/>
                        </a:rPr>
                        <a:t>5.590575</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noFill/>
                  </a:tcPr>
                </a:tc>
                <a:tc>
                  <a:txBody>
                    <a:bodyPr/>
                    <a:lstStyle/>
                    <a:p>
                      <a:pPr algn="ctr" fontAlgn="b">
                        <a:buNone/>
                      </a:pPr>
                      <a:r>
                        <a:rPr lang="es-CO" sz="1000" b="0" i="0" u="none" strike="noStrike">
                          <a:solidFill>
                            <a:srgbClr val="000000"/>
                          </a:solidFill>
                          <a:effectLst/>
                          <a:latin typeface="Calibri" panose="020F0502020204030204" pitchFamily="34" charset="0"/>
                        </a:rPr>
                        <a:t>-75.918882</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noFill/>
                  </a:tcPr>
                </a:tc>
                <a:tc>
                  <a:txBody>
                    <a:bodyPr/>
                    <a:lstStyle/>
                    <a:p>
                      <a:pPr algn="ctr" fontAlgn="b">
                        <a:buNone/>
                      </a:pPr>
                      <a:r>
                        <a:rPr lang="es-CO" sz="1000" b="0" i="0" u="none" strike="noStrike">
                          <a:solidFill>
                            <a:srgbClr val="000000"/>
                          </a:solidFill>
                          <a:effectLst/>
                          <a:latin typeface="Calibri" panose="020F0502020204030204" pitchFamily="34" charset="0"/>
                        </a:rPr>
                        <a:t>Oro-Au</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noFill/>
                  </a:tcPr>
                </a:tc>
                <a:tc>
                  <a:txBody>
                    <a:bodyPr/>
                    <a:lstStyle/>
                    <a:p>
                      <a:pPr algn="ctr" fontAlgn="b">
                        <a:buNone/>
                      </a:pPr>
                      <a:r>
                        <a:rPr lang="es-CO" sz="1000" b="0" i="0" u="none" strike="noStrike">
                          <a:solidFill>
                            <a:srgbClr val="000000"/>
                          </a:solidFill>
                          <a:effectLst/>
                          <a:latin typeface="Calibri" panose="020F0502020204030204" pitchFamily="34" charset="0"/>
                        </a:rPr>
                        <a:t> </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noFill/>
                  </a:tcPr>
                </a:tc>
                <a:tc>
                  <a:txBody>
                    <a:bodyPr/>
                    <a:lstStyle/>
                    <a:p>
                      <a:pPr algn="ctr" fontAlgn="b">
                        <a:buNone/>
                      </a:pPr>
                      <a:r>
                        <a:rPr lang="es-CO" sz="1000" b="0" i="0" u="none" strike="noStrike">
                          <a:solidFill>
                            <a:srgbClr val="000000"/>
                          </a:solidFill>
                          <a:effectLst/>
                          <a:latin typeface="Calibri" panose="020F0502020204030204" pitchFamily="34" charset="0"/>
                        </a:rPr>
                        <a:t>Epitermal</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noFill/>
                  </a:tcPr>
                </a:tc>
                <a:tc>
                  <a:txBody>
                    <a:bodyPr/>
                    <a:lstStyle/>
                    <a:p>
                      <a:pPr algn="ctr" fontAlgn="b">
                        <a:buNone/>
                      </a:pPr>
                      <a:r>
                        <a:rPr lang="es-CO" sz="1000" b="0" i="0" u="none" strike="noStrike">
                          <a:solidFill>
                            <a:srgbClr val="000000"/>
                          </a:solidFill>
                          <a:effectLst/>
                          <a:latin typeface="Calibri" panose="020F0502020204030204" pitchFamily="34" charset="0"/>
                        </a:rPr>
                        <a:t>ROCA SEDIMENTARIA</a:t>
                      </a:r>
                      <a:endParaRPr lang="es-CO" sz="1600" b="0" i="0" u="none" strike="noStrike">
                        <a:effectLst/>
                        <a:latin typeface="Arial" panose="020B0604020202020204" pitchFamily="34" charset="0"/>
                      </a:endParaRPr>
                    </a:p>
                  </a:txBody>
                  <a:tcPr marL="4565" marR="4565" marT="4565" marB="0" anchor="b">
                    <a:lnL>
                      <a:noFill/>
                    </a:lnL>
                    <a:lnR w="6350" cap="flat" cmpd="sng" algn="ctr">
                      <a:solidFill>
                        <a:srgbClr val="8EA9DB"/>
                      </a:solidFill>
                      <a:prstDash val="solid"/>
                      <a:round/>
                      <a:headEnd type="none" w="med" len="med"/>
                      <a:tailEnd type="none" w="med" len="med"/>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noFill/>
                  </a:tcPr>
                </a:tc>
                <a:extLst>
                  <a:ext uri="{0D108BD9-81ED-4DB2-BD59-A6C34878D82A}">
                    <a16:rowId xmlns:a16="http://schemas.microsoft.com/office/drawing/2014/main" val="3812665494"/>
                  </a:ext>
                </a:extLst>
              </a:tr>
              <a:tr h="148386">
                <a:tc>
                  <a:txBody>
                    <a:bodyPr/>
                    <a:lstStyle/>
                    <a:p>
                      <a:pPr algn="ctr" fontAlgn="b">
                        <a:buNone/>
                      </a:pPr>
                      <a:r>
                        <a:rPr lang="es-CO" sz="1000" b="0" i="0" u="none" strike="noStrike">
                          <a:solidFill>
                            <a:srgbClr val="000000"/>
                          </a:solidFill>
                          <a:effectLst/>
                          <a:latin typeface="Calibri" panose="020F0502020204030204" pitchFamily="34" charset="0"/>
                        </a:rPr>
                        <a:t>ocurrencia</a:t>
                      </a:r>
                      <a:endParaRPr lang="es-CO" sz="1600" b="0" i="0" u="none" strike="noStrike">
                        <a:effectLst/>
                        <a:latin typeface="Arial" panose="020B0604020202020204" pitchFamily="34" charset="0"/>
                      </a:endParaRPr>
                    </a:p>
                  </a:txBody>
                  <a:tcPr marL="4565" marR="4565" marT="4565" marB="0" anchor="b">
                    <a:lnL w="6350" cap="flat" cmpd="sng" algn="ctr">
                      <a:solidFill>
                        <a:srgbClr val="8EA9DB"/>
                      </a:solidFill>
                      <a:prstDash val="solid"/>
                      <a:round/>
                      <a:headEnd type="none" w="med" len="med"/>
                      <a:tailEnd type="none" w="med" len="med"/>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D9E1F2"/>
                    </a:solidFill>
                  </a:tcPr>
                </a:tc>
                <a:tc>
                  <a:txBody>
                    <a:bodyPr/>
                    <a:lstStyle/>
                    <a:p>
                      <a:pPr algn="ctr" fontAlgn="b">
                        <a:buNone/>
                      </a:pPr>
                      <a:r>
                        <a:rPr lang="es-CO" sz="1000" b="0" i="0" u="none" strike="noStrike">
                          <a:solidFill>
                            <a:srgbClr val="000000"/>
                          </a:solidFill>
                          <a:effectLst/>
                          <a:latin typeface="Calibri" panose="020F0502020204030204" pitchFamily="34" charset="0"/>
                        </a:rPr>
                        <a:t>Antioquia</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D9E1F2"/>
                    </a:solidFill>
                  </a:tcPr>
                </a:tc>
                <a:tc>
                  <a:txBody>
                    <a:bodyPr/>
                    <a:lstStyle/>
                    <a:p>
                      <a:pPr algn="ctr" fontAlgn="b">
                        <a:buNone/>
                      </a:pPr>
                      <a:r>
                        <a:rPr lang="es-CO" sz="1000" b="0" i="0" u="none" strike="noStrike">
                          <a:solidFill>
                            <a:srgbClr val="000000"/>
                          </a:solidFill>
                          <a:effectLst/>
                          <a:latin typeface="Calibri" panose="020F0502020204030204" pitchFamily="34" charset="0"/>
                        </a:rPr>
                        <a:t>Caicedo</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D9E1F2"/>
                    </a:solidFill>
                  </a:tcPr>
                </a:tc>
                <a:tc>
                  <a:txBody>
                    <a:bodyPr/>
                    <a:lstStyle/>
                    <a:p>
                      <a:pPr algn="ctr" fontAlgn="b">
                        <a:buNone/>
                      </a:pPr>
                      <a:r>
                        <a:rPr lang="es-CO" sz="1000" b="0" i="0" u="none" strike="noStrike">
                          <a:solidFill>
                            <a:srgbClr val="000000"/>
                          </a:solidFill>
                          <a:effectLst/>
                          <a:latin typeface="Calibri" panose="020F0502020204030204" pitchFamily="34" charset="0"/>
                        </a:rPr>
                        <a:t>Caicedo</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D9E1F2"/>
                    </a:solidFill>
                  </a:tcPr>
                </a:tc>
                <a:tc>
                  <a:txBody>
                    <a:bodyPr/>
                    <a:lstStyle/>
                    <a:p>
                      <a:pPr algn="ctr" fontAlgn="b">
                        <a:buNone/>
                      </a:pPr>
                      <a:r>
                        <a:rPr lang="es-CO" sz="1000" b="0" i="0" u="none" strike="noStrike">
                          <a:solidFill>
                            <a:srgbClr val="000000"/>
                          </a:solidFill>
                          <a:effectLst/>
                          <a:latin typeface="Calibri" panose="020F0502020204030204" pitchFamily="34" charset="0"/>
                        </a:rPr>
                        <a:t>6.457478</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D9E1F2"/>
                    </a:solidFill>
                  </a:tcPr>
                </a:tc>
                <a:tc>
                  <a:txBody>
                    <a:bodyPr/>
                    <a:lstStyle/>
                    <a:p>
                      <a:pPr algn="ctr" fontAlgn="b">
                        <a:buNone/>
                      </a:pPr>
                      <a:r>
                        <a:rPr lang="es-CO" sz="1000" b="0" i="0" u="none" strike="noStrike">
                          <a:solidFill>
                            <a:srgbClr val="000000"/>
                          </a:solidFill>
                          <a:effectLst/>
                          <a:latin typeface="Calibri" panose="020F0502020204030204" pitchFamily="34" charset="0"/>
                        </a:rPr>
                        <a:t>-76.03649</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D9E1F2"/>
                    </a:solidFill>
                  </a:tcPr>
                </a:tc>
                <a:tc>
                  <a:txBody>
                    <a:bodyPr/>
                    <a:lstStyle/>
                    <a:p>
                      <a:pPr algn="ctr" fontAlgn="b">
                        <a:buNone/>
                      </a:pPr>
                      <a:r>
                        <a:rPr lang="es-CO" sz="1000" b="0" i="0" u="none" strike="noStrike">
                          <a:solidFill>
                            <a:srgbClr val="000000"/>
                          </a:solidFill>
                          <a:effectLst/>
                          <a:latin typeface="Calibri" panose="020F0502020204030204" pitchFamily="34" charset="0"/>
                        </a:rPr>
                        <a:t>Oro-Au</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D9E1F2"/>
                    </a:solidFill>
                  </a:tcPr>
                </a:tc>
                <a:tc>
                  <a:txBody>
                    <a:bodyPr/>
                    <a:lstStyle/>
                    <a:p>
                      <a:pPr algn="ctr" fontAlgn="b">
                        <a:buNone/>
                      </a:pPr>
                      <a:r>
                        <a:rPr lang="es-CO" sz="1000" b="0" i="0" u="none" strike="noStrike">
                          <a:solidFill>
                            <a:srgbClr val="000000"/>
                          </a:solidFill>
                          <a:effectLst/>
                          <a:latin typeface="Calibri" panose="020F0502020204030204" pitchFamily="34" charset="0"/>
                        </a:rPr>
                        <a:t>Oro-Au</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D9E1F2"/>
                    </a:solidFill>
                  </a:tcPr>
                </a:tc>
                <a:tc>
                  <a:txBody>
                    <a:bodyPr/>
                    <a:lstStyle/>
                    <a:p>
                      <a:pPr algn="ctr" fontAlgn="b">
                        <a:buNone/>
                      </a:pPr>
                      <a:r>
                        <a:rPr lang="es-CO" sz="1000" b="0" i="0" u="none" strike="noStrike">
                          <a:solidFill>
                            <a:srgbClr val="000000"/>
                          </a:solidFill>
                          <a:effectLst/>
                          <a:latin typeface="Calibri" panose="020F0502020204030204" pitchFamily="34" charset="0"/>
                        </a:rPr>
                        <a:t>Sin_Clasificar</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D9E1F2"/>
                    </a:solidFill>
                  </a:tcPr>
                </a:tc>
                <a:tc>
                  <a:txBody>
                    <a:bodyPr/>
                    <a:lstStyle/>
                    <a:p>
                      <a:pPr algn="ctr" fontAlgn="b">
                        <a:buNone/>
                      </a:pPr>
                      <a:r>
                        <a:rPr lang="es-CO" sz="1000" b="0" i="0" u="none" strike="noStrike">
                          <a:solidFill>
                            <a:srgbClr val="000000"/>
                          </a:solidFill>
                          <a:effectLst/>
                          <a:latin typeface="Calibri" panose="020F0502020204030204" pitchFamily="34" charset="0"/>
                        </a:rPr>
                        <a:t>ROCA_ÍGNEA_PLUTÓNICA</a:t>
                      </a:r>
                      <a:endParaRPr lang="es-CO" sz="1600" b="0" i="0" u="none" strike="noStrike">
                        <a:effectLst/>
                        <a:latin typeface="Arial" panose="020B0604020202020204" pitchFamily="34" charset="0"/>
                      </a:endParaRPr>
                    </a:p>
                  </a:txBody>
                  <a:tcPr marL="4565" marR="4565" marT="4565" marB="0" anchor="b">
                    <a:lnL>
                      <a:noFill/>
                    </a:lnL>
                    <a:lnR w="6350" cap="flat" cmpd="sng" algn="ctr">
                      <a:solidFill>
                        <a:srgbClr val="8EA9DB"/>
                      </a:solidFill>
                      <a:prstDash val="solid"/>
                      <a:round/>
                      <a:headEnd type="none" w="med" len="med"/>
                      <a:tailEnd type="none" w="med" len="med"/>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D9E1F2"/>
                    </a:solidFill>
                  </a:tcPr>
                </a:tc>
                <a:extLst>
                  <a:ext uri="{0D108BD9-81ED-4DB2-BD59-A6C34878D82A}">
                    <a16:rowId xmlns:a16="http://schemas.microsoft.com/office/drawing/2014/main" val="2588874884"/>
                  </a:ext>
                </a:extLst>
              </a:tr>
              <a:tr h="148386">
                <a:tc>
                  <a:txBody>
                    <a:bodyPr/>
                    <a:lstStyle/>
                    <a:p>
                      <a:pPr algn="ctr" fontAlgn="b">
                        <a:buNone/>
                      </a:pPr>
                      <a:r>
                        <a:rPr lang="es-CO" sz="1000" b="0" i="0" u="none" strike="noStrike">
                          <a:solidFill>
                            <a:srgbClr val="000000"/>
                          </a:solidFill>
                          <a:effectLst/>
                          <a:latin typeface="Calibri" panose="020F0502020204030204" pitchFamily="34" charset="0"/>
                        </a:rPr>
                        <a:t>Ocurrencia</a:t>
                      </a:r>
                      <a:endParaRPr lang="es-CO" sz="1600" b="0" i="0" u="none" strike="noStrike">
                        <a:effectLst/>
                        <a:latin typeface="Arial" panose="020B0604020202020204" pitchFamily="34" charset="0"/>
                      </a:endParaRPr>
                    </a:p>
                  </a:txBody>
                  <a:tcPr marL="4565" marR="4565" marT="4565" marB="0" anchor="b">
                    <a:lnL w="6350" cap="flat" cmpd="sng" algn="ctr">
                      <a:solidFill>
                        <a:srgbClr val="8EA9DB"/>
                      </a:solidFill>
                      <a:prstDash val="solid"/>
                      <a:round/>
                      <a:headEnd type="none" w="med" len="med"/>
                      <a:tailEnd type="none" w="med" len="med"/>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noFill/>
                  </a:tcPr>
                </a:tc>
                <a:tc>
                  <a:txBody>
                    <a:bodyPr/>
                    <a:lstStyle/>
                    <a:p>
                      <a:pPr algn="ctr" fontAlgn="b">
                        <a:buNone/>
                      </a:pPr>
                      <a:r>
                        <a:rPr lang="es-CO" sz="1000" b="0" i="0" u="none" strike="noStrike">
                          <a:solidFill>
                            <a:srgbClr val="000000"/>
                          </a:solidFill>
                          <a:effectLst/>
                          <a:latin typeface="Calibri" panose="020F0502020204030204" pitchFamily="34" charset="0"/>
                        </a:rPr>
                        <a:t>Antioquia</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noFill/>
                  </a:tcPr>
                </a:tc>
                <a:tc>
                  <a:txBody>
                    <a:bodyPr/>
                    <a:lstStyle/>
                    <a:p>
                      <a:pPr algn="ctr" fontAlgn="b">
                        <a:buNone/>
                      </a:pPr>
                      <a:r>
                        <a:rPr lang="es-CO" sz="1000" b="0" i="0" u="none" strike="noStrike">
                          <a:solidFill>
                            <a:srgbClr val="000000"/>
                          </a:solidFill>
                          <a:effectLst/>
                          <a:latin typeface="Calibri" panose="020F0502020204030204" pitchFamily="34" charset="0"/>
                        </a:rPr>
                        <a:t>Gómez Plata</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noFill/>
                  </a:tcPr>
                </a:tc>
                <a:tc>
                  <a:txBody>
                    <a:bodyPr/>
                    <a:lstStyle/>
                    <a:p>
                      <a:pPr algn="ctr" fontAlgn="b">
                        <a:buNone/>
                      </a:pPr>
                      <a:r>
                        <a:rPr lang="es-CO" sz="1000" b="0" i="0" u="none" strike="noStrike">
                          <a:solidFill>
                            <a:srgbClr val="000000"/>
                          </a:solidFill>
                          <a:effectLst/>
                          <a:latin typeface="Calibri" panose="020F0502020204030204" pitchFamily="34" charset="0"/>
                        </a:rPr>
                        <a:t>Cañaveral</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noFill/>
                  </a:tcPr>
                </a:tc>
                <a:tc>
                  <a:txBody>
                    <a:bodyPr/>
                    <a:lstStyle/>
                    <a:p>
                      <a:pPr algn="ctr" fontAlgn="b">
                        <a:buNone/>
                      </a:pPr>
                      <a:r>
                        <a:rPr lang="es-CO" sz="1000" b="0" i="0" u="none" strike="noStrike">
                          <a:solidFill>
                            <a:srgbClr val="000000"/>
                          </a:solidFill>
                          <a:effectLst/>
                          <a:latin typeface="Calibri" panose="020F0502020204030204" pitchFamily="34" charset="0"/>
                        </a:rPr>
                        <a:t>6.786686</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noFill/>
                  </a:tcPr>
                </a:tc>
                <a:tc>
                  <a:txBody>
                    <a:bodyPr/>
                    <a:lstStyle/>
                    <a:p>
                      <a:pPr algn="ctr" fontAlgn="b">
                        <a:buNone/>
                      </a:pPr>
                      <a:r>
                        <a:rPr lang="es-CO" sz="1000" b="0" i="0" u="none" strike="noStrike">
                          <a:solidFill>
                            <a:srgbClr val="000000"/>
                          </a:solidFill>
                          <a:effectLst/>
                          <a:latin typeface="Calibri" panose="020F0502020204030204" pitchFamily="34" charset="0"/>
                        </a:rPr>
                        <a:t>-75.198087</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noFill/>
                  </a:tcPr>
                </a:tc>
                <a:tc>
                  <a:txBody>
                    <a:bodyPr/>
                    <a:lstStyle/>
                    <a:p>
                      <a:pPr algn="ctr" fontAlgn="b">
                        <a:buNone/>
                      </a:pPr>
                      <a:r>
                        <a:rPr lang="es-CO" sz="1000" b="0" i="0" u="none" strike="noStrike">
                          <a:solidFill>
                            <a:srgbClr val="000000"/>
                          </a:solidFill>
                          <a:effectLst/>
                          <a:latin typeface="Calibri" panose="020F0502020204030204" pitchFamily="34" charset="0"/>
                        </a:rPr>
                        <a:t>Antimonio-Sb</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noFill/>
                  </a:tcPr>
                </a:tc>
                <a:tc>
                  <a:txBody>
                    <a:bodyPr/>
                    <a:lstStyle/>
                    <a:p>
                      <a:pPr algn="ctr" fontAlgn="b">
                        <a:buNone/>
                      </a:pPr>
                      <a:r>
                        <a:rPr lang="es-CO" sz="1000" b="0" i="0" u="none" strike="noStrike" dirty="0">
                          <a:solidFill>
                            <a:srgbClr val="000000"/>
                          </a:solidFill>
                          <a:effectLst/>
                          <a:latin typeface="Calibri" panose="020F0502020204030204" pitchFamily="34" charset="0"/>
                        </a:rPr>
                        <a:t>Pirita-FeS2</a:t>
                      </a:r>
                      <a:endParaRPr lang="es-CO" sz="1600" b="0" i="0" u="none" strike="noStrike" dirty="0">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noFill/>
                  </a:tcPr>
                </a:tc>
                <a:tc>
                  <a:txBody>
                    <a:bodyPr/>
                    <a:lstStyle/>
                    <a:p>
                      <a:pPr algn="ctr" fontAlgn="b">
                        <a:buNone/>
                      </a:pPr>
                      <a:r>
                        <a:rPr lang="es-CO" sz="1000" b="0" i="0" u="none" strike="noStrike">
                          <a:solidFill>
                            <a:srgbClr val="000000"/>
                          </a:solidFill>
                          <a:effectLst/>
                          <a:latin typeface="Calibri" panose="020F0502020204030204" pitchFamily="34" charset="0"/>
                        </a:rPr>
                        <a:t>Epitermal</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noFill/>
                  </a:tcPr>
                </a:tc>
                <a:tc>
                  <a:txBody>
                    <a:bodyPr/>
                    <a:lstStyle/>
                    <a:p>
                      <a:pPr algn="ctr" fontAlgn="b">
                        <a:buNone/>
                      </a:pPr>
                      <a:r>
                        <a:rPr lang="es-CO" sz="1000" b="0" i="0" u="none" strike="noStrike">
                          <a:solidFill>
                            <a:srgbClr val="000000"/>
                          </a:solidFill>
                          <a:effectLst/>
                          <a:latin typeface="Calibri" panose="020F0502020204030204" pitchFamily="34" charset="0"/>
                        </a:rPr>
                        <a:t>ROCA ÍGNEA VOLCÁNICA</a:t>
                      </a:r>
                      <a:endParaRPr lang="es-CO" sz="1600" b="0" i="0" u="none" strike="noStrike">
                        <a:effectLst/>
                        <a:latin typeface="Arial" panose="020B0604020202020204" pitchFamily="34" charset="0"/>
                      </a:endParaRPr>
                    </a:p>
                  </a:txBody>
                  <a:tcPr marL="4565" marR="4565" marT="4565" marB="0" anchor="b">
                    <a:lnL>
                      <a:noFill/>
                    </a:lnL>
                    <a:lnR w="6350" cap="flat" cmpd="sng" algn="ctr">
                      <a:solidFill>
                        <a:srgbClr val="8EA9DB"/>
                      </a:solidFill>
                      <a:prstDash val="solid"/>
                      <a:round/>
                      <a:headEnd type="none" w="med" len="med"/>
                      <a:tailEnd type="none" w="med" len="med"/>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noFill/>
                  </a:tcPr>
                </a:tc>
                <a:extLst>
                  <a:ext uri="{0D108BD9-81ED-4DB2-BD59-A6C34878D82A}">
                    <a16:rowId xmlns:a16="http://schemas.microsoft.com/office/drawing/2014/main" val="3290279418"/>
                  </a:ext>
                </a:extLst>
              </a:tr>
              <a:tr h="146050">
                <a:tc>
                  <a:txBody>
                    <a:bodyPr/>
                    <a:lstStyle/>
                    <a:p>
                      <a:pPr algn="ctr" fontAlgn="b">
                        <a:buNone/>
                      </a:pPr>
                      <a:r>
                        <a:rPr lang="es-CO" sz="1000" b="0" i="0" u="none" strike="noStrike" dirty="0">
                          <a:solidFill>
                            <a:srgbClr val="000000"/>
                          </a:solidFill>
                          <a:effectLst/>
                          <a:latin typeface="Calibri" panose="020F0502020204030204" pitchFamily="34" charset="0"/>
                        </a:rPr>
                        <a:t>Ocurrencia</a:t>
                      </a:r>
                      <a:endParaRPr lang="es-CO" sz="1600" b="0" i="0" u="none" strike="noStrike" dirty="0">
                        <a:effectLst/>
                        <a:latin typeface="Arial" panose="020B0604020202020204" pitchFamily="34" charset="0"/>
                      </a:endParaRPr>
                    </a:p>
                  </a:txBody>
                  <a:tcPr marL="4565" marR="4565" marT="4565" marB="0" anchor="b">
                    <a:lnL w="6350" cap="flat" cmpd="sng" algn="ctr">
                      <a:solidFill>
                        <a:srgbClr val="8EA9DB"/>
                      </a:solidFill>
                      <a:prstDash val="solid"/>
                      <a:round/>
                      <a:headEnd type="none" w="med" len="med"/>
                      <a:tailEnd type="none" w="med" len="med"/>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D9E1F2"/>
                    </a:solidFill>
                  </a:tcPr>
                </a:tc>
                <a:tc>
                  <a:txBody>
                    <a:bodyPr/>
                    <a:lstStyle/>
                    <a:p>
                      <a:pPr algn="ctr" fontAlgn="b">
                        <a:buNone/>
                      </a:pPr>
                      <a:r>
                        <a:rPr lang="es-CO" sz="1000" b="0" i="0" u="none" strike="noStrike">
                          <a:solidFill>
                            <a:srgbClr val="000000"/>
                          </a:solidFill>
                          <a:effectLst/>
                          <a:latin typeface="Calibri" panose="020F0502020204030204" pitchFamily="34" charset="0"/>
                        </a:rPr>
                        <a:t>Antioquia</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D9E1F2"/>
                    </a:solidFill>
                  </a:tcPr>
                </a:tc>
                <a:tc>
                  <a:txBody>
                    <a:bodyPr/>
                    <a:lstStyle/>
                    <a:p>
                      <a:pPr algn="ctr" fontAlgn="b">
                        <a:buNone/>
                      </a:pPr>
                      <a:r>
                        <a:rPr lang="es-CO" sz="1000" b="0" i="0" u="none" strike="noStrike">
                          <a:solidFill>
                            <a:srgbClr val="000000"/>
                          </a:solidFill>
                          <a:effectLst/>
                          <a:latin typeface="Calibri" panose="020F0502020204030204" pitchFamily="34" charset="0"/>
                        </a:rPr>
                        <a:t>Guadalupe</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D9E1F2"/>
                    </a:solidFill>
                  </a:tcPr>
                </a:tc>
                <a:tc>
                  <a:txBody>
                    <a:bodyPr/>
                    <a:lstStyle/>
                    <a:p>
                      <a:pPr algn="ctr" fontAlgn="b">
                        <a:buNone/>
                      </a:pPr>
                      <a:r>
                        <a:rPr lang="es-CO" sz="1000" b="0" i="0" u="none" strike="noStrike">
                          <a:solidFill>
                            <a:srgbClr val="000000"/>
                          </a:solidFill>
                          <a:effectLst/>
                          <a:latin typeface="Calibri" panose="020F0502020204030204" pitchFamily="34" charset="0"/>
                        </a:rPr>
                        <a:t>Guanteros</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D9E1F2"/>
                    </a:solidFill>
                  </a:tcPr>
                </a:tc>
                <a:tc>
                  <a:txBody>
                    <a:bodyPr/>
                    <a:lstStyle/>
                    <a:p>
                      <a:pPr algn="ctr" fontAlgn="b">
                        <a:buNone/>
                      </a:pPr>
                      <a:r>
                        <a:rPr lang="es-CO" sz="1000" b="0" i="0" u="none" strike="noStrike">
                          <a:solidFill>
                            <a:srgbClr val="000000"/>
                          </a:solidFill>
                          <a:effectLst/>
                          <a:latin typeface="Calibri" panose="020F0502020204030204" pitchFamily="34" charset="0"/>
                        </a:rPr>
                        <a:t>6.828521</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D9E1F2"/>
                    </a:solidFill>
                  </a:tcPr>
                </a:tc>
                <a:tc>
                  <a:txBody>
                    <a:bodyPr/>
                    <a:lstStyle/>
                    <a:p>
                      <a:pPr algn="ctr" fontAlgn="b">
                        <a:buNone/>
                      </a:pPr>
                      <a:r>
                        <a:rPr lang="es-CO" sz="1000" b="0" i="0" u="none" strike="noStrike">
                          <a:solidFill>
                            <a:srgbClr val="000000"/>
                          </a:solidFill>
                          <a:effectLst/>
                          <a:latin typeface="Calibri" panose="020F0502020204030204" pitchFamily="34" charset="0"/>
                        </a:rPr>
                        <a:t>-75.227517</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D9E1F2"/>
                    </a:solidFill>
                  </a:tcPr>
                </a:tc>
                <a:tc>
                  <a:txBody>
                    <a:bodyPr/>
                    <a:lstStyle/>
                    <a:p>
                      <a:pPr algn="ctr" fontAlgn="b">
                        <a:buNone/>
                      </a:pPr>
                      <a:r>
                        <a:rPr lang="es-CO" sz="1000" b="0" i="0" u="none" strike="noStrike">
                          <a:solidFill>
                            <a:srgbClr val="000000"/>
                          </a:solidFill>
                          <a:effectLst/>
                          <a:latin typeface="Calibri" panose="020F0502020204030204" pitchFamily="34" charset="0"/>
                        </a:rPr>
                        <a:t>Oro-Au</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D9E1F2"/>
                    </a:solidFill>
                  </a:tcPr>
                </a:tc>
                <a:tc>
                  <a:txBody>
                    <a:bodyPr/>
                    <a:lstStyle/>
                    <a:p>
                      <a:pPr algn="ctr" fontAlgn="b">
                        <a:buNone/>
                      </a:pPr>
                      <a:r>
                        <a:rPr lang="es-CO" sz="1000" b="0" i="0" u="none" strike="noStrike">
                          <a:solidFill>
                            <a:srgbClr val="000000"/>
                          </a:solidFill>
                          <a:effectLst/>
                          <a:latin typeface="Calibri" panose="020F0502020204030204" pitchFamily="34" charset="0"/>
                        </a:rPr>
                        <a:t>Pirita-FeS2</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D9E1F2"/>
                    </a:solidFill>
                  </a:tcPr>
                </a:tc>
                <a:tc>
                  <a:txBody>
                    <a:bodyPr/>
                    <a:lstStyle/>
                    <a:p>
                      <a:pPr algn="ctr" fontAlgn="b">
                        <a:buNone/>
                      </a:pPr>
                      <a:r>
                        <a:rPr lang="es-CO" sz="1000" b="0" i="0" u="none" strike="noStrike">
                          <a:solidFill>
                            <a:srgbClr val="000000"/>
                          </a:solidFill>
                          <a:effectLst/>
                          <a:latin typeface="Calibri" panose="020F0502020204030204" pitchFamily="34" charset="0"/>
                        </a:rPr>
                        <a:t>Otros_depósitos_asociados_a_intrusivos</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D9E1F2"/>
                    </a:solidFill>
                  </a:tcPr>
                </a:tc>
                <a:tc>
                  <a:txBody>
                    <a:bodyPr/>
                    <a:lstStyle/>
                    <a:p>
                      <a:pPr algn="ctr" fontAlgn="b">
                        <a:buNone/>
                      </a:pPr>
                      <a:r>
                        <a:rPr lang="es-CO" sz="1000" b="0" i="0" u="none" strike="noStrike">
                          <a:solidFill>
                            <a:srgbClr val="000000"/>
                          </a:solidFill>
                          <a:effectLst/>
                          <a:latin typeface="Calibri" panose="020F0502020204030204" pitchFamily="34" charset="0"/>
                        </a:rPr>
                        <a:t>ROCA ÍGNEA PLUTÓNICA</a:t>
                      </a:r>
                      <a:endParaRPr lang="es-CO" sz="1600" b="0" i="0" u="none" strike="noStrike">
                        <a:effectLst/>
                        <a:latin typeface="Arial" panose="020B0604020202020204" pitchFamily="34" charset="0"/>
                      </a:endParaRPr>
                    </a:p>
                  </a:txBody>
                  <a:tcPr marL="4565" marR="4565" marT="4565" marB="0" anchor="b">
                    <a:lnL>
                      <a:noFill/>
                    </a:lnL>
                    <a:lnR w="6350" cap="flat" cmpd="sng" algn="ctr">
                      <a:solidFill>
                        <a:srgbClr val="8EA9DB"/>
                      </a:solidFill>
                      <a:prstDash val="solid"/>
                      <a:round/>
                      <a:headEnd type="none" w="med" len="med"/>
                      <a:tailEnd type="none" w="med" len="med"/>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solidFill>
                      <a:srgbClr val="D9E1F2"/>
                    </a:solidFill>
                  </a:tcPr>
                </a:tc>
                <a:extLst>
                  <a:ext uri="{0D108BD9-81ED-4DB2-BD59-A6C34878D82A}">
                    <a16:rowId xmlns:a16="http://schemas.microsoft.com/office/drawing/2014/main" val="2403053947"/>
                  </a:ext>
                </a:extLst>
              </a:tr>
              <a:tr h="148386">
                <a:tc>
                  <a:txBody>
                    <a:bodyPr/>
                    <a:lstStyle/>
                    <a:p>
                      <a:pPr algn="ctr" fontAlgn="b">
                        <a:buNone/>
                      </a:pPr>
                      <a:r>
                        <a:rPr lang="es-CO" sz="1000" b="0" i="0" u="none" strike="noStrike">
                          <a:solidFill>
                            <a:srgbClr val="000000"/>
                          </a:solidFill>
                          <a:effectLst/>
                          <a:latin typeface="Calibri" panose="020F0502020204030204" pitchFamily="34" charset="0"/>
                        </a:rPr>
                        <a:t>Ocurrencia</a:t>
                      </a:r>
                      <a:endParaRPr lang="es-CO" sz="1600" b="0" i="0" u="none" strike="noStrike">
                        <a:effectLst/>
                        <a:latin typeface="Arial" panose="020B0604020202020204" pitchFamily="34" charset="0"/>
                      </a:endParaRPr>
                    </a:p>
                  </a:txBody>
                  <a:tcPr marL="4565" marR="4565" marT="4565" marB="0" anchor="b">
                    <a:lnL w="6350" cap="flat" cmpd="sng" algn="ctr">
                      <a:solidFill>
                        <a:srgbClr val="8EA9DB"/>
                      </a:solidFill>
                      <a:prstDash val="solid"/>
                      <a:round/>
                      <a:headEnd type="none" w="med" len="med"/>
                      <a:tailEnd type="none" w="med" len="med"/>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noFill/>
                  </a:tcPr>
                </a:tc>
                <a:tc>
                  <a:txBody>
                    <a:bodyPr/>
                    <a:lstStyle/>
                    <a:p>
                      <a:pPr algn="ctr" fontAlgn="b">
                        <a:buNone/>
                      </a:pPr>
                      <a:r>
                        <a:rPr lang="es-CO" sz="1000" b="0" i="0" u="none" strike="noStrike">
                          <a:solidFill>
                            <a:srgbClr val="000000"/>
                          </a:solidFill>
                          <a:effectLst/>
                          <a:latin typeface="Calibri" panose="020F0502020204030204" pitchFamily="34" charset="0"/>
                        </a:rPr>
                        <a:t>Antioquia</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noFill/>
                  </a:tcPr>
                </a:tc>
                <a:tc>
                  <a:txBody>
                    <a:bodyPr/>
                    <a:lstStyle/>
                    <a:p>
                      <a:pPr algn="ctr" fontAlgn="b">
                        <a:buNone/>
                      </a:pPr>
                      <a:r>
                        <a:rPr lang="es-CO" sz="1000" b="0" i="0" u="none" strike="noStrike">
                          <a:solidFill>
                            <a:srgbClr val="000000"/>
                          </a:solidFill>
                          <a:effectLst/>
                          <a:latin typeface="Calibri" panose="020F0502020204030204" pitchFamily="34" charset="0"/>
                        </a:rPr>
                        <a:t>Guadalupe</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noFill/>
                  </a:tcPr>
                </a:tc>
                <a:tc>
                  <a:txBody>
                    <a:bodyPr/>
                    <a:lstStyle/>
                    <a:p>
                      <a:pPr algn="ctr" fontAlgn="b">
                        <a:buNone/>
                      </a:pPr>
                      <a:r>
                        <a:rPr lang="es-CO" sz="1000" b="0" i="0" u="none" strike="noStrike">
                          <a:solidFill>
                            <a:srgbClr val="000000"/>
                          </a:solidFill>
                          <a:effectLst/>
                          <a:latin typeface="Calibri" panose="020F0502020204030204" pitchFamily="34" charset="0"/>
                        </a:rPr>
                        <a:t>San Julián</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noFill/>
                  </a:tcPr>
                </a:tc>
                <a:tc>
                  <a:txBody>
                    <a:bodyPr/>
                    <a:lstStyle/>
                    <a:p>
                      <a:pPr algn="ctr" fontAlgn="b">
                        <a:buNone/>
                      </a:pPr>
                      <a:r>
                        <a:rPr lang="es-CO" sz="1000" b="0" i="0" u="none" strike="noStrike">
                          <a:solidFill>
                            <a:srgbClr val="000000"/>
                          </a:solidFill>
                          <a:effectLst/>
                          <a:latin typeface="Calibri" panose="020F0502020204030204" pitchFamily="34" charset="0"/>
                        </a:rPr>
                        <a:t>6.832691</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noFill/>
                  </a:tcPr>
                </a:tc>
                <a:tc>
                  <a:txBody>
                    <a:bodyPr/>
                    <a:lstStyle/>
                    <a:p>
                      <a:pPr algn="ctr" fontAlgn="b">
                        <a:buNone/>
                      </a:pPr>
                      <a:r>
                        <a:rPr lang="es-CO" sz="1000" b="0" i="0" u="none" strike="noStrike">
                          <a:solidFill>
                            <a:srgbClr val="000000"/>
                          </a:solidFill>
                          <a:effectLst/>
                          <a:latin typeface="Calibri" panose="020F0502020204030204" pitchFamily="34" charset="0"/>
                        </a:rPr>
                        <a:t>-75.211182</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noFill/>
                  </a:tcPr>
                </a:tc>
                <a:tc>
                  <a:txBody>
                    <a:bodyPr/>
                    <a:lstStyle/>
                    <a:p>
                      <a:pPr algn="ctr" fontAlgn="b">
                        <a:buNone/>
                      </a:pPr>
                      <a:r>
                        <a:rPr lang="es-CO" sz="1000" b="0" i="0" u="none" strike="noStrike">
                          <a:solidFill>
                            <a:srgbClr val="000000"/>
                          </a:solidFill>
                          <a:effectLst/>
                          <a:latin typeface="Calibri" panose="020F0502020204030204" pitchFamily="34" charset="0"/>
                        </a:rPr>
                        <a:t>Cobre-Cu</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noFill/>
                  </a:tcPr>
                </a:tc>
                <a:tc>
                  <a:txBody>
                    <a:bodyPr/>
                    <a:lstStyle/>
                    <a:p>
                      <a:pPr algn="ctr" fontAlgn="b">
                        <a:buNone/>
                      </a:pPr>
                      <a:r>
                        <a:rPr lang="es-CO" sz="1000" b="0" i="0" u="none" strike="noStrike">
                          <a:solidFill>
                            <a:srgbClr val="000000"/>
                          </a:solidFill>
                          <a:effectLst/>
                          <a:latin typeface="Calibri" panose="020F0502020204030204" pitchFamily="34" charset="0"/>
                        </a:rPr>
                        <a:t>Pirita-FeS2</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noFill/>
                  </a:tcPr>
                </a:tc>
                <a:tc>
                  <a:txBody>
                    <a:bodyPr/>
                    <a:lstStyle/>
                    <a:p>
                      <a:pPr algn="ctr" fontAlgn="b">
                        <a:buNone/>
                      </a:pPr>
                      <a:r>
                        <a:rPr lang="es-CO" sz="1000" b="0" i="0" u="none" strike="noStrike">
                          <a:solidFill>
                            <a:srgbClr val="000000"/>
                          </a:solidFill>
                          <a:effectLst/>
                          <a:latin typeface="Calibri" panose="020F0502020204030204" pitchFamily="34" charset="0"/>
                        </a:rPr>
                        <a:t>Volcanogénico</a:t>
                      </a:r>
                      <a:endParaRPr lang="es-CO" sz="1600" b="0" i="0" u="none" strike="noStrike">
                        <a:effectLst/>
                        <a:latin typeface="Arial" panose="020B0604020202020204" pitchFamily="34" charset="0"/>
                      </a:endParaRPr>
                    </a:p>
                  </a:txBody>
                  <a:tcPr marL="4565" marR="4565" marT="4565" marB="0" anchor="b">
                    <a:lnL>
                      <a:noFill/>
                    </a:lnL>
                    <a:lnR>
                      <a:noFill/>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noFill/>
                  </a:tcPr>
                </a:tc>
                <a:tc>
                  <a:txBody>
                    <a:bodyPr/>
                    <a:lstStyle/>
                    <a:p>
                      <a:pPr algn="ctr" fontAlgn="b">
                        <a:buNone/>
                      </a:pPr>
                      <a:r>
                        <a:rPr lang="es-CO" sz="1000" b="0" i="0" u="none" strike="noStrike" dirty="0">
                          <a:solidFill>
                            <a:srgbClr val="000000"/>
                          </a:solidFill>
                          <a:effectLst/>
                          <a:latin typeface="Calibri" panose="020F0502020204030204" pitchFamily="34" charset="0"/>
                        </a:rPr>
                        <a:t>ROCA ÍGNEA PLUTÓNICA</a:t>
                      </a:r>
                      <a:endParaRPr lang="es-CO" sz="1600" b="0" i="0" u="none" strike="noStrike" dirty="0">
                        <a:effectLst/>
                        <a:latin typeface="Arial" panose="020B0604020202020204" pitchFamily="34" charset="0"/>
                      </a:endParaRPr>
                    </a:p>
                  </a:txBody>
                  <a:tcPr marL="4565" marR="4565" marT="4565" marB="0" anchor="b">
                    <a:lnL>
                      <a:noFill/>
                    </a:lnL>
                    <a:lnR w="6350" cap="flat" cmpd="sng" algn="ctr">
                      <a:solidFill>
                        <a:srgbClr val="8EA9DB"/>
                      </a:solidFill>
                      <a:prstDash val="solid"/>
                      <a:round/>
                      <a:headEnd type="none" w="med" len="med"/>
                      <a:tailEnd type="none" w="med" len="med"/>
                    </a:lnR>
                    <a:lnT w="6350" cap="flat" cmpd="sng" algn="ctr">
                      <a:solidFill>
                        <a:srgbClr val="8EA9DB"/>
                      </a:solidFill>
                      <a:prstDash val="solid"/>
                      <a:round/>
                      <a:headEnd type="none" w="med" len="med"/>
                      <a:tailEnd type="none" w="med" len="med"/>
                    </a:lnT>
                    <a:lnB w="6350" cap="flat" cmpd="sng" algn="ctr">
                      <a:solidFill>
                        <a:srgbClr val="8EA9DB"/>
                      </a:solidFill>
                      <a:prstDash val="solid"/>
                      <a:round/>
                      <a:headEnd type="none" w="med" len="med"/>
                      <a:tailEnd type="none" w="med" len="med"/>
                    </a:lnB>
                    <a:noFill/>
                  </a:tcPr>
                </a:tc>
                <a:extLst>
                  <a:ext uri="{0D108BD9-81ED-4DB2-BD59-A6C34878D82A}">
                    <a16:rowId xmlns:a16="http://schemas.microsoft.com/office/drawing/2014/main" val="1248772740"/>
                  </a:ext>
                </a:extLst>
              </a:tr>
            </a:tbl>
          </a:graphicData>
        </a:graphic>
      </p:graphicFrame>
    </p:spTree>
    <p:extLst>
      <p:ext uri="{BB962C8B-B14F-4D97-AF65-F5344CB8AC3E}">
        <p14:creationId xmlns:p14="http://schemas.microsoft.com/office/powerpoint/2010/main" val="348654382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65F330F-E3AD-42EA-A0F1-FD6F4BAC294E}"/>
              </a:ext>
            </a:extLst>
          </p:cNvPr>
          <p:cNvSpPr>
            <a:spLocks noGrp="1"/>
          </p:cNvSpPr>
          <p:nvPr>
            <p:ph type="title"/>
          </p:nvPr>
        </p:nvSpPr>
        <p:spPr/>
        <p:txBody>
          <a:bodyPr/>
          <a:lstStyle/>
          <a:p>
            <a:r>
              <a:rPr lang="es-ES" dirty="0"/>
              <a:t>Variables</a:t>
            </a:r>
            <a:endParaRPr lang="es-CO" dirty="0"/>
          </a:p>
        </p:txBody>
      </p:sp>
      <p:sp>
        <p:nvSpPr>
          <p:cNvPr id="3" name="Marcador de contenido 2">
            <a:extLst>
              <a:ext uri="{FF2B5EF4-FFF2-40B4-BE49-F238E27FC236}">
                <a16:creationId xmlns:a16="http://schemas.microsoft.com/office/drawing/2014/main" id="{86E32267-281A-4A0A-8436-008A6FF18915}"/>
              </a:ext>
            </a:extLst>
          </p:cNvPr>
          <p:cNvSpPr>
            <a:spLocks noGrp="1"/>
          </p:cNvSpPr>
          <p:nvPr>
            <p:ph idx="1"/>
          </p:nvPr>
        </p:nvSpPr>
        <p:spPr>
          <a:xfrm>
            <a:off x="838200" y="1842403"/>
            <a:ext cx="8435802" cy="4351338"/>
          </a:xfrm>
        </p:spPr>
        <p:txBody>
          <a:bodyPr>
            <a:normAutofit/>
          </a:bodyPr>
          <a:lstStyle/>
          <a:p>
            <a:r>
              <a:rPr lang="es-ES" dirty="0"/>
              <a:t>Atlas Geoquímico Colombia 2022 </a:t>
            </a:r>
            <a:r>
              <a:rPr lang="es-ES" dirty="0">
                <a:hlinkClick r:id="rId2"/>
              </a:rPr>
              <a:t>https://www2.sgc.gov.co/sgc/mapas/Paginas/AtlasGeoquimico.aspx</a:t>
            </a:r>
            <a:r>
              <a:rPr lang="es-ES" dirty="0"/>
              <a:t> </a:t>
            </a:r>
          </a:p>
          <a:p>
            <a:r>
              <a:rPr lang="es-ES" dirty="0"/>
              <a:t>Grosor Corteza (Profundidad Moho) Poveda, 2018 </a:t>
            </a:r>
            <a:r>
              <a:rPr lang="es-ES" dirty="0">
                <a:hlinkClick r:id="rId3"/>
              </a:rPr>
              <a:t>https://agupubs.onlinelibrary.wiley.com/doi/10.1002/2017JB014688</a:t>
            </a:r>
            <a:r>
              <a:rPr lang="es-ES" dirty="0"/>
              <a:t> </a:t>
            </a:r>
          </a:p>
          <a:p>
            <a:r>
              <a:rPr lang="es-CO" dirty="0"/>
              <a:t>Anomalías potencial minero </a:t>
            </a:r>
            <a:r>
              <a:rPr lang="es-CO" dirty="0">
                <a:hlinkClick r:id="rId4"/>
              </a:rPr>
              <a:t>https://datos.sgc.gov.co/datasets/e5988c0200f6405681d6571d92468e92_0/explore</a:t>
            </a:r>
            <a:r>
              <a:rPr lang="es-CO" dirty="0"/>
              <a:t> </a:t>
            </a:r>
          </a:p>
          <a:p>
            <a:r>
              <a:rPr lang="es-CO" dirty="0"/>
              <a:t>Gradiente Geotérmico </a:t>
            </a:r>
            <a:r>
              <a:rPr lang="es-CO" dirty="0">
                <a:hlinkClick r:id="rId5"/>
              </a:rPr>
              <a:t>https://datos.icde.gov.co/search?collection=Dataset&amp;layout=grid&amp;tags=geociencias%2520b%25C3%25A1sicas</a:t>
            </a:r>
            <a:r>
              <a:rPr lang="es-CO" dirty="0"/>
              <a:t> </a:t>
            </a:r>
          </a:p>
          <a:p>
            <a:r>
              <a:rPr lang="es-CO" dirty="0"/>
              <a:t>Catalogo de Dataciones Radiométricas    </a:t>
            </a:r>
            <a:r>
              <a:rPr lang="es-CO" dirty="0">
                <a:hlinkClick r:id="rId6"/>
              </a:rPr>
              <a:t>https://www2.sgc.gov.co/MGC/Paginas/pev33ch03.aspx</a:t>
            </a:r>
            <a:r>
              <a:rPr lang="es-CO" dirty="0"/>
              <a:t> </a:t>
            </a:r>
          </a:p>
          <a:p>
            <a:endParaRPr lang="es-CO" dirty="0"/>
          </a:p>
        </p:txBody>
      </p:sp>
    </p:spTree>
    <p:extLst>
      <p:ext uri="{BB962C8B-B14F-4D97-AF65-F5344CB8AC3E}">
        <p14:creationId xmlns:p14="http://schemas.microsoft.com/office/powerpoint/2010/main" val="144877731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B64BCDA9-D0C4-42EA-85EB-340AFA853F9D}"/>
              </a:ext>
            </a:extLst>
          </p:cNvPr>
          <p:cNvSpPr>
            <a:spLocks noGrp="1"/>
          </p:cNvSpPr>
          <p:nvPr>
            <p:ph type="title"/>
          </p:nvPr>
        </p:nvSpPr>
        <p:spPr/>
        <p:txBody>
          <a:bodyPr/>
          <a:lstStyle/>
          <a:p>
            <a:r>
              <a:rPr lang="es-ES" dirty="0"/>
              <a:t>Pregunta</a:t>
            </a:r>
            <a:endParaRPr lang="es-CO" dirty="0"/>
          </a:p>
        </p:txBody>
      </p:sp>
      <p:sp>
        <p:nvSpPr>
          <p:cNvPr id="3" name="Marcador de contenido 2">
            <a:extLst>
              <a:ext uri="{FF2B5EF4-FFF2-40B4-BE49-F238E27FC236}">
                <a16:creationId xmlns:a16="http://schemas.microsoft.com/office/drawing/2014/main" id="{39651F44-A716-435D-BDCB-2978853D8234}"/>
              </a:ext>
            </a:extLst>
          </p:cNvPr>
          <p:cNvSpPr>
            <a:spLocks noGrp="1"/>
          </p:cNvSpPr>
          <p:nvPr>
            <p:ph idx="1"/>
          </p:nvPr>
        </p:nvSpPr>
        <p:spPr/>
        <p:txBody>
          <a:bodyPr>
            <a:normAutofit/>
          </a:bodyPr>
          <a:lstStyle/>
          <a:p>
            <a:pPr marL="0" indent="0">
              <a:buNone/>
            </a:pPr>
            <a:r>
              <a:rPr lang="es-ES" dirty="0"/>
              <a:t>¿Los depósitos minerales en Colombia, relacionados con procesos Ígneo/Metamórficos,  siguen patrones o están asociados a variables que pueden llegar a explicar su distribución y ayudar con su predicción de ubicación?</a:t>
            </a:r>
          </a:p>
          <a:p>
            <a:pPr marL="0" indent="0">
              <a:buNone/>
            </a:pPr>
            <a:r>
              <a:rPr lang="es-ES" dirty="0"/>
              <a:t>Objetivos:</a:t>
            </a:r>
            <a:r>
              <a:rPr lang="es-CO" dirty="0"/>
              <a:t> </a:t>
            </a:r>
          </a:p>
          <a:p>
            <a:pPr marL="0" indent="0">
              <a:buNone/>
            </a:pPr>
            <a:r>
              <a:rPr lang="es-CO" dirty="0"/>
              <a:t>Estudiar la distribución y comportamientos de las manifestaciones minerales de origen Ígneo/Metamórfico.</a:t>
            </a:r>
          </a:p>
          <a:p>
            <a:r>
              <a:rPr lang="es-CO" dirty="0"/>
              <a:t>Entender los patrones en función delas variables previamente mencionadas</a:t>
            </a:r>
          </a:p>
          <a:p>
            <a:r>
              <a:rPr lang="es-CO" dirty="0"/>
              <a:t>Comparar posibles zonas de potencial con las zonas establecidas actualmente. </a:t>
            </a:r>
            <a:endParaRPr lang="es-ES" dirty="0"/>
          </a:p>
        </p:txBody>
      </p:sp>
    </p:spTree>
    <p:extLst>
      <p:ext uri="{BB962C8B-B14F-4D97-AF65-F5344CB8AC3E}">
        <p14:creationId xmlns:p14="http://schemas.microsoft.com/office/powerpoint/2010/main" val="277193216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Imagen 5">
            <a:extLst>
              <a:ext uri="{FF2B5EF4-FFF2-40B4-BE49-F238E27FC236}">
                <a16:creationId xmlns:a16="http://schemas.microsoft.com/office/drawing/2014/main" id="{2E529C4C-A657-4E60-808D-B9CE258D486B}"/>
              </a:ext>
            </a:extLst>
          </p:cNvPr>
          <p:cNvPicPr>
            <a:picLocks noChangeAspect="1"/>
          </p:cNvPicPr>
          <p:nvPr/>
        </p:nvPicPr>
        <p:blipFill>
          <a:blip r:embed="rId2"/>
          <a:stretch>
            <a:fillRect/>
          </a:stretch>
        </p:blipFill>
        <p:spPr>
          <a:xfrm>
            <a:off x="142875" y="209800"/>
            <a:ext cx="5379620" cy="6061369"/>
          </a:xfrm>
          <a:prstGeom prst="rect">
            <a:avLst/>
          </a:prstGeom>
        </p:spPr>
      </p:pic>
      <p:pic>
        <p:nvPicPr>
          <p:cNvPr id="9" name="Imagen 8">
            <a:extLst>
              <a:ext uri="{FF2B5EF4-FFF2-40B4-BE49-F238E27FC236}">
                <a16:creationId xmlns:a16="http://schemas.microsoft.com/office/drawing/2014/main" id="{46D14AB0-3FA6-4EBE-945A-8BB585A91A8A}"/>
              </a:ext>
            </a:extLst>
          </p:cNvPr>
          <p:cNvPicPr>
            <a:picLocks noChangeAspect="1"/>
          </p:cNvPicPr>
          <p:nvPr/>
        </p:nvPicPr>
        <p:blipFill>
          <a:blip r:embed="rId3"/>
          <a:stretch>
            <a:fillRect/>
          </a:stretch>
        </p:blipFill>
        <p:spPr>
          <a:xfrm>
            <a:off x="6096000" y="209800"/>
            <a:ext cx="5920816" cy="6061369"/>
          </a:xfrm>
          <a:prstGeom prst="rect">
            <a:avLst/>
          </a:prstGeom>
        </p:spPr>
      </p:pic>
    </p:spTree>
    <p:extLst>
      <p:ext uri="{BB962C8B-B14F-4D97-AF65-F5344CB8AC3E}">
        <p14:creationId xmlns:p14="http://schemas.microsoft.com/office/powerpoint/2010/main" val="230141419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7C08D75-E165-4878-8351-1F4AD4D6400D}"/>
              </a:ext>
            </a:extLst>
          </p:cNvPr>
          <p:cNvSpPr>
            <a:spLocks noGrp="1"/>
          </p:cNvSpPr>
          <p:nvPr>
            <p:ph type="title"/>
          </p:nvPr>
        </p:nvSpPr>
        <p:spPr/>
        <p:txBody>
          <a:bodyPr/>
          <a:lstStyle/>
          <a:p>
            <a:endParaRPr lang="es-CO"/>
          </a:p>
        </p:txBody>
      </p:sp>
      <p:sp>
        <p:nvSpPr>
          <p:cNvPr id="3" name="Marcador de contenido 2">
            <a:extLst>
              <a:ext uri="{FF2B5EF4-FFF2-40B4-BE49-F238E27FC236}">
                <a16:creationId xmlns:a16="http://schemas.microsoft.com/office/drawing/2014/main" id="{4BF4DC05-EA50-4843-8CB7-24F5088B0A09}"/>
              </a:ext>
            </a:extLst>
          </p:cNvPr>
          <p:cNvSpPr>
            <a:spLocks noGrp="1"/>
          </p:cNvSpPr>
          <p:nvPr>
            <p:ph idx="1"/>
          </p:nvPr>
        </p:nvSpPr>
        <p:spPr/>
        <p:txBody>
          <a:bodyPr/>
          <a:lstStyle/>
          <a:p>
            <a:endParaRPr lang="es-CO"/>
          </a:p>
        </p:txBody>
      </p:sp>
      <p:pic>
        <p:nvPicPr>
          <p:cNvPr id="5" name="Imagen 4">
            <a:extLst>
              <a:ext uri="{FF2B5EF4-FFF2-40B4-BE49-F238E27FC236}">
                <a16:creationId xmlns:a16="http://schemas.microsoft.com/office/drawing/2014/main" id="{890E5CF4-EA3D-4B38-BE02-7351F4E5C2E7}"/>
              </a:ext>
            </a:extLst>
          </p:cNvPr>
          <p:cNvPicPr>
            <a:picLocks noChangeAspect="1"/>
          </p:cNvPicPr>
          <p:nvPr/>
        </p:nvPicPr>
        <p:blipFill>
          <a:blip r:embed="rId2"/>
          <a:stretch>
            <a:fillRect/>
          </a:stretch>
        </p:blipFill>
        <p:spPr>
          <a:xfrm>
            <a:off x="1305117" y="246123"/>
            <a:ext cx="4773478" cy="5966847"/>
          </a:xfrm>
          <a:prstGeom prst="rect">
            <a:avLst/>
          </a:prstGeom>
        </p:spPr>
      </p:pic>
      <p:pic>
        <p:nvPicPr>
          <p:cNvPr id="7" name="Imagen 6">
            <a:extLst>
              <a:ext uri="{FF2B5EF4-FFF2-40B4-BE49-F238E27FC236}">
                <a16:creationId xmlns:a16="http://schemas.microsoft.com/office/drawing/2014/main" id="{C4FA2997-4191-4A91-A514-0E7CC16BDBC4}"/>
              </a:ext>
            </a:extLst>
          </p:cNvPr>
          <p:cNvPicPr>
            <a:picLocks noChangeAspect="1"/>
          </p:cNvPicPr>
          <p:nvPr/>
        </p:nvPicPr>
        <p:blipFill>
          <a:blip r:embed="rId3"/>
          <a:stretch>
            <a:fillRect/>
          </a:stretch>
        </p:blipFill>
        <p:spPr>
          <a:xfrm>
            <a:off x="6571442" y="170482"/>
            <a:ext cx="4091391" cy="6042488"/>
          </a:xfrm>
          <a:prstGeom prst="rect">
            <a:avLst/>
          </a:prstGeom>
        </p:spPr>
      </p:pic>
    </p:spTree>
    <p:extLst>
      <p:ext uri="{BB962C8B-B14F-4D97-AF65-F5344CB8AC3E}">
        <p14:creationId xmlns:p14="http://schemas.microsoft.com/office/powerpoint/2010/main" val="259096448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D76B0E3-1731-42CC-A7E9-7AC9070C1344}"/>
              </a:ext>
            </a:extLst>
          </p:cNvPr>
          <p:cNvSpPr>
            <a:spLocks noGrp="1"/>
          </p:cNvSpPr>
          <p:nvPr>
            <p:ph type="title"/>
          </p:nvPr>
        </p:nvSpPr>
        <p:spPr/>
        <p:txBody>
          <a:bodyPr/>
          <a:lstStyle/>
          <a:p>
            <a:endParaRPr lang="es-CO"/>
          </a:p>
        </p:txBody>
      </p:sp>
      <p:sp>
        <p:nvSpPr>
          <p:cNvPr id="3" name="Marcador de contenido 2">
            <a:extLst>
              <a:ext uri="{FF2B5EF4-FFF2-40B4-BE49-F238E27FC236}">
                <a16:creationId xmlns:a16="http://schemas.microsoft.com/office/drawing/2014/main" id="{143C924B-BB9A-4829-AC9F-7F44F7EBE831}"/>
              </a:ext>
            </a:extLst>
          </p:cNvPr>
          <p:cNvSpPr>
            <a:spLocks noGrp="1"/>
          </p:cNvSpPr>
          <p:nvPr>
            <p:ph idx="1"/>
          </p:nvPr>
        </p:nvSpPr>
        <p:spPr/>
        <p:txBody>
          <a:bodyPr/>
          <a:lstStyle/>
          <a:p>
            <a:endParaRPr lang="es-CO"/>
          </a:p>
        </p:txBody>
      </p:sp>
      <p:pic>
        <p:nvPicPr>
          <p:cNvPr id="5" name="Imagen 4">
            <a:extLst>
              <a:ext uri="{FF2B5EF4-FFF2-40B4-BE49-F238E27FC236}">
                <a16:creationId xmlns:a16="http://schemas.microsoft.com/office/drawing/2014/main" id="{D9DC5976-88DF-4E44-8EDF-260F03342397}"/>
              </a:ext>
            </a:extLst>
          </p:cNvPr>
          <p:cNvPicPr>
            <a:picLocks noChangeAspect="1"/>
          </p:cNvPicPr>
          <p:nvPr/>
        </p:nvPicPr>
        <p:blipFill>
          <a:blip r:embed="rId2"/>
          <a:stretch>
            <a:fillRect/>
          </a:stretch>
        </p:blipFill>
        <p:spPr>
          <a:xfrm>
            <a:off x="241457" y="151210"/>
            <a:ext cx="5619750" cy="2762250"/>
          </a:xfrm>
          <a:prstGeom prst="rect">
            <a:avLst/>
          </a:prstGeom>
        </p:spPr>
      </p:pic>
      <p:pic>
        <p:nvPicPr>
          <p:cNvPr id="7" name="Imagen 6">
            <a:extLst>
              <a:ext uri="{FF2B5EF4-FFF2-40B4-BE49-F238E27FC236}">
                <a16:creationId xmlns:a16="http://schemas.microsoft.com/office/drawing/2014/main" id="{D4CE6938-8F4A-479E-AD7A-67C177BB95D5}"/>
              </a:ext>
            </a:extLst>
          </p:cNvPr>
          <p:cNvPicPr>
            <a:picLocks noChangeAspect="1"/>
          </p:cNvPicPr>
          <p:nvPr/>
        </p:nvPicPr>
        <p:blipFill>
          <a:blip r:embed="rId3"/>
          <a:stretch>
            <a:fillRect/>
          </a:stretch>
        </p:blipFill>
        <p:spPr>
          <a:xfrm>
            <a:off x="406738" y="3429000"/>
            <a:ext cx="5619750" cy="2762250"/>
          </a:xfrm>
          <a:prstGeom prst="rect">
            <a:avLst/>
          </a:prstGeom>
        </p:spPr>
      </p:pic>
      <p:pic>
        <p:nvPicPr>
          <p:cNvPr id="8" name="Imagen 7">
            <a:extLst>
              <a:ext uri="{FF2B5EF4-FFF2-40B4-BE49-F238E27FC236}">
                <a16:creationId xmlns:a16="http://schemas.microsoft.com/office/drawing/2014/main" id="{92B0FD70-F17B-4836-9DF4-FE1D4D32580B}"/>
              </a:ext>
            </a:extLst>
          </p:cNvPr>
          <p:cNvPicPr>
            <a:picLocks noChangeAspect="1"/>
          </p:cNvPicPr>
          <p:nvPr/>
        </p:nvPicPr>
        <p:blipFill>
          <a:blip r:embed="rId4"/>
          <a:stretch>
            <a:fillRect/>
          </a:stretch>
        </p:blipFill>
        <p:spPr>
          <a:xfrm>
            <a:off x="6623231" y="365125"/>
            <a:ext cx="4700912" cy="5722220"/>
          </a:xfrm>
          <a:prstGeom prst="rect">
            <a:avLst/>
          </a:prstGeom>
        </p:spPr>
      </p:pic>
    </p:spTree>
    <p:extLst>
      <p:ext uri="{BB962C8B-B14F-4D97-AF65-F5344CB8AC3E}">
        <p14:creationId xmlns:p14="http://schemas.microsoft.com/office/powerpoint/2010/main" val="22493408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5134EDA-825A-4D82-9FE0-FDD8D51A7E48}"/>
              </a:ext>
            </a:extLst>
          </p:cNvPr>
          <p:cNvSpPr>
            <a:spLocks noGrp="1"/>
          </p:cNvSpPr>
          <p:nvPr>
            <p:ph type="title"/>
          </p:nvPr>
        </p:nvSpPr>
        <p:spPr/>
        <p:txBody>
          <a:bodyPr/>
          <a:lstStyle/>
          <a:p>
            <a:endParaRPr lang="es-CO"/>
          </a:p>
        </p:txBody>
      </p:sp>
      <p:sp>
        <p:nvSpPr>
          <p:cNvPr id="3" name="Marcador de contenido 2">
            <a:extLst>
              <a:ext uri="{FF2B5EF4-FFF2-40B4-BE49-F238E27FC236}">
                <a16:creationId xmlns:a16="http://schemas.microsoft.com/office/drawing/2014/main" id="{3C71C1E8-C157-44E7-A634-4BA91B39D07B}"/>
              </a:ext>
            </a:extLst>
          </p:cNvPr>
          <p:cNvSpPr>
            <a:spLocks noGrp="1"/>
          </p:cNvSpPr>
          <p:nvPr>
            <p:ph idx="1"/>
          </p:nvPr>
        </p:nvSpPr>
        <p:spPr/>
        <p:txBody>
          <a:bodyPr/>
          <a:lstStyle/>
          <a:p>
            <a:endParaRPr lang="es-CO"/>
          </a:p>
        </p:txBody>
      </p:sp>
      <p:pic>
        <p:nvPicPr>
          <p:cNvPr id="6" name="Imagen 5">
            <a:extLst>
              <a:ext uri="{FF2B5EF4-FFF2-40B4-BE49-F238E27FC236}">
                <a16:creationId xmlns:a16="http://schemas.microsoft.com/office/drawing/2014/main" id="{B406C211-CBCB-4C63-B651-30892EF05AC2}"/>
              </a:ext>
            </a:extLst>
          </p:cNvPr>
          <p:cNvPicPr>
            <a:picLocks noChangeAspect="1"/>
          </p:cNvPicPr>
          <p:nvPr/>
        </p:nvPicPr>
        <p:blipFill>
          <a:blip r:embed="rId2"/>
          <a:stretch>
            <a:fillRect/>
          </a:stretch>
        </p:blipFill>
        <p:spPr>
          <a:xfrm>
            <a:off x="6413532" y="0"/>
            <a:ext cx="5780373" cy="6261315"/>
          </a:xfrm>
          <a:prstGeom prst="rect">
            <a:avLst/>
          </a:prstGeom>
        </p:spPr>
      </p:pic>
      <p:pic>
        <p:nvPicPr>
          <p:cNvPr id="9" name="Imagen 8">
            <a:extLst>
              <a:ext uri="{FF2B5EF4-FFF2-40B4-BE49-F238E27FC236}">
                <a16:creationId xmlns:a16="http://schemas.microsoft.com/office/drawing/2014/main" id="{DA34069B-5542-4A1A-BB75-F63849AE0BC8}"/>
              </a:ext>
            </a:extLst>
          </p:cNvPr>
          <p:cNvPicPr>
            <a:picLocks noChangeAspect="1"/>
          </p:cNvPicPr>
          <p:nvPr/>
        </p:nvPicPr>
        <p:blipFill>
          <a:blip r:embed="rId3"/>
          <a:stretch>
            <a:fillRect/>
          </a:stretch>
        </p:blipFill>
        <p:spPr>
          <a:xfrm>
            <a:off x="333375" y="142875"/>
            <a:ext cx="5230517" cy="5965383"/>
          </a:xfrm>
          <a:prstGeom prst="rect">
            <a:avLst/>
          </a:prstGeom>
        </p:spPr>
      </p:pic>
    </p:spTree>
    <p:extLst>
      <p:ext uri="{BB962C8B-B14F-4D97-AF65-F5344CB8AC3E}">
        <p14:creationId xmlns:p14="http://schemas.microsoft.com/office/powerpoint/2010/main" val="130939486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84C4F61-E256-4C2A-8A8A-83870DADCEE5}"/>
              </a:ext>
            </a:extLst>
          </p:cNvPr>
          <p:cNvSpPr>
            <a:spLocks noGrp="1"/>
          </p:cNvSpPr>
          <p:nvPr>
            <p:ph type="title"/>
          </p:nvPr>
        </p:nvSpPr>
        <p:spPr/>
        <p:txBody>
          <a:bodyPr/>
          <a:lstStyle/>
          <a:p>
            <a:endParaRPr lang="es-CO"/>
          </a:p>
        </p:txBody>
      </p:sp>
      <p:sp>
        <p:nvSpPr>
          <p:cNvPr id="3" name="Marcador de contenido 2">
            <a:extLst>
              <a:ext uri="{FF2B5EF4-FFF2-40B4-BE49-F238E27FC236}">
                <a16:creationId xmlns:a16="http://schemas.microsoft.com/office/drawing/2014/main" id="{70989585-8426-4EDE-B175-8477113A3B30}"/>
              </a:ext>
            </a:extLst>
          </p:cNvPr>
          <p:cNvSpPr>
            <a:spLocks noGrp="1"/>
          </p:cNvSpPr>
          <p:nvPr>
            <p:ph idx="1"/>
          </p:nvPr>
        </p:nvSpPr>
        <p:spPr/>
        <p:txBody>
          <a:bodyPr/>
          <a:lstStyle/>
          <a:p>
            <a:endParaRPr lang="es-CO"/>
          </a:p>
        </p:txBody>
      </p:sp>
      <p:pic>
        <p:nvPicPr>
          <p:cNvPr id="6" name="Imagen 5">
            <a:extLst>
              <a:ext uri="{FF2B5EF4-FFF2-40B4-BE49-F238E27FC236}">
                <a16:creationId xmlns:a16="http://schemas.microsoft.com/office/drawing/2014/main" id="{211CBD0D-CF82-43A0-A1D6-C132CA4FDDB4}"/>
              </a:ext>
            </a:extLst>
          </p:cNvPr>
          <p:cNvPicPr>
            <a:picLocks noChangeAspect="1"/>
          </p:cNvPicPr>
          <p:nvPr/>
        </p:nvPicPr>
        <p:blipFill>
          <a:blip r:embed="rId2"/>
          <a:stretch>
            <a:fillRect/>
          </a:stretch>
        </p:blipFill>
        <p:spPr>
          <a:xfrm>
            <a:off x="5972014" y="108488"/>
            <a:ext cx="6096000" cy="6088284"/>
          </a:xfrm>
          <a:prstGeom prst="rect">
            <a:avLst/>
          </a:prstGeom>
        </p:spPr>
      </p:pic>
      <p:pic>
        <p:nvPicPr>
          <p:cNvPr id="9" name="Imagen 8">
            <a:extLst>
              <a:ext uri="{FF2B5EF4-FFF2-40B4-BE49-F238E27FC236}">
                <a16:creationId xmlns:a16="http://schemas.microsoft.com/office/drawing/2014/main" id="{95194571-E0B4-4DDA-BF13-687F80192D0C}"/>
              </a:ext>
            </a:extLst>
          </p:cNvPr>
          <p:cNvPicPr>
            <a:picLocks noChangeAspect="1"/>
          </p:cNvPicPr>
          <p:nvPr/>
        </p:nvPicPr>
        <p:blipFill>
          <a:blip r:embed="rId3"/>
          <a:stretch>
            <a:fillRect/>
          </a:stretch>
        </p:blipFill>
        <p:spPr>
          <a:xfrm>
            <a:off x="184946" y="108488"/>
            <a:ext cx="5425440" cy="6116918"/>
          </a:xfrm>
          <a:prstGeom prst="rect">
            <a:avLst/>
          </a:prstGeom>
        </p:spPr>
      </p:pic>
    </p:spTree>
    <p:extLst>
      <p:ext uri="{BB962C8B-B14F-4D97-AF65-F5344CB8AC3E}">
        <p14:creationId xmlns:p14="http://schemas.microsoft.com/office/powerpoint/2010/main" val="375486087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64918AE-B79E-4F8F-8737-89A42AA65FE4}"/>
              </a:ext>
            </a:extLst>
          </p:cNvPr>
          <p:cNvSpPr>
            <a:spLocks noGrp="1"/>
          </p:cNvSpPr>
          <p:nvPr>
            <p:ph type="title"/>
          </p:nvPr>
        </p:nvSpPr>
        <p:spPr/>
        <p:txBody>
          <a:bodyPr/>
          <a:lstStyle/>
          <a:p>
            <a:endParaRPr lang="es-CO"/>
          </a:p>
        </p:txBody>
      </p:sp>
      <p:sp>
        <p:nvSpPr>
          <p:cNvPr id="3" name="Marcador de contenido 2">
            <a:extLst>
              <a:ext uri="{FF2B5EF4-FFF2-40B4-BE49-F238E27FC236}">
                <a16:creationId xmlns:a16="http://schemas.microsoft.com/office/drawing/2014/main" id="{CE349729-AECA-4B97-A251-156C52B353A5}"/>
              </a:ext>
            </a:extLst>
          </p:cNvPr>
          <p:cNvSpPr>
            <a:spLocks noGrp="1"/>
          </p:cNvSpPr>
          <p:nvPr>
            <p:ph idx="1"/>
          </p:nvPr>
        </p:nvSpPr>
        <p:spPr/>
        <p:txBody>
          <a:bodyPr/>
          <a:lstStyle/>
          <a:p>
            <a:endParaRPr lang="es-CO"/>
          </a:p>
        </p:txBody>
      </p:sp>
      <p:pic>
        <p:nvPicPr>
          <p:cNvPr id="6" name="Imagen 5">
            <a:extLst>
              <a:ext uri="{FF2B5EF4-FFF2-40B4-BE49-F238E27FC236}">
                <a16:creationId xmlns:a16="http://schemas.microsoft.com/office/drawing/2014/main" id="{2B399DD0-2DD4-418C-B5C2-5300F3A610DB}"/>
              </a:ext>
            </a:extLst>
          </p:cNvPr>
          <p:cNvPicPr>
            <a:picLocks noChangeAspect="1"/>
          </p:cNvPicPr>
          <p:nvPr/>
        </p:nvPicPr>
        <p:blipFill>
          <a:blip r:embed="rId2"/>
          <a:stretch>
            <a:fillRect/>
          </a:stretch>
        </p:blipFill>
        <p:spPr>
          <a:xfrm>
            <a:off x="5791200" y="104775"/>
            <a:ext cx="6400800" cy="6648450"/>
          </a:xfrm>
          <a:prstGeom prst="rect">
            <a:avLst/>
          </a:prstGeom>
        </p:spPr>
      </p:pic>
      <p:pic>
        <p:nvPicPr>
          <p:cNvPr id="9" name="Imagen 8">
            <a:extLst>
              <a:ext uri="{FF2B5EF4-FFF2-40B4-BE49-F238E27FC236}">
                <a16:creationId xmlns:a16="http://schemas.microsoft.com/office/drawing/2014/main" id="{0CA85EBD-8986-46E7-884D-EE8C601BFFC8}"/>
              </a:ext>
            </a:extLst>
          </p:cNvPr>
          <p:cNvPicPr>
            <a:picLocks noChangeAspect="1"/>
          </p:cNvPicPr>
          <p:nvPr/>
        </p:nvPicPr>
        <p:blipFill>
          <a:blip r:embed="rId3"/>
          <a:stretch>
            <a:fillRect/>
          </a:stretch>
        </p:blipFill>
        <p:spPr>
          <a:xfrm>
            <a:off x="295965" y="3038193"/>
            <a:ext cx="5288450" cy="2082448"/>
          </a:xfrm>
          <a:prstGeom prst="rect">
            <a:avLst/>
          </a:prstGeom>
        </p:spPr>
      </p:pic>
    </p:spTree>
    <p:extLst>
      <p:ext uri="{BB962C8B-B14F-4D97-AF65-F5344CB8AC3E}">
        <p14:creationId xmlns:p14="http://schemas.microsoft.com/office/powerpoint/2010/main" val="39056422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B9348303-1D3C-4FA8-A6FE-A26375DA4C6C}"/>
              </a:ext>
            </a:extLst>
          </p:cNvPr>
          <p:cNvSpPr>
            <a:spLocks noGrp="1"/>
          </p:cNvSpPr>
          <p:nvPr>
            <p:ph type="title"/>
          </p:nvPr>
        </p:nvSpPr>
        <p:spPr/>
        <p:txBody>
          <a:bodyPr/>
          <a:lstStyle/>
          <a:p>
            <a:endParaRPr lang="es-CO"/>
          </a:p>
        </p:txBody>
      </p:sp>
      <p:sp>
        <p:nvSpPr>
          <p:cNvPr id="3" name="Marcador de contenido 2">
            <a:extLst>
              <a:ext uri="{FF2B5EF4-FFF2-40B4-BE49-F238E27FC236}">
                <a16:creationId xmlns:a16="http://schemas.microsoft.com/office/drawing/2014/main" id="{DA1FBF16-C417-417E-AAD9-3AFAF6E2CB29}"/>
              </a:ext>
            </a:extLst>
          </p:cNvPr>
          <p:cNvSpPr>
            <a:spLocks noGrp="1"/>
          </p:cNvSpPr>
          <p:nvPr>
            <p:ph idx="1"/>
          </p:nvPr>
        </p:nvSpPr>
        <p:spPr/>
        <p:txBody>
          <a:bodyPr/>
          <a:lstStyle/>
          <a:p>
            <a:endParaRPr lang="es-CO"/>
          </a:p>
        </p:txBody>
      </p:sp>
      <p:pic>
        <p:nvPicPr>
          <p:cNvPr id="6" name="Imagen 5">
            <a:extLst>
              <a:ext uri="{FF2B5EF4-FFF2-40B4-BE49-F238E27FC236}">
                <a16:creationId xmlns:a16="http://schemas.microsoft.com/office/drawing/2014/main" id="{CE1C942D-0FB1-4560-94C9-9AFD9B7929C5}"/>
              </a:ext>
            </a:extLst>
          </p:cNvPr>
          <p:cNvPicPr>
            <a:picLocks noChangeAspect="1"/>
          </p:cNvPicPr>
          <p:nvPr/>
        </p:nvPicPr>
        <p:blipFill rotWithShape="1">
          <a:blip r:embed="rId2"/>
          <a:srcRect l="59186"/>
          <a:stretch/>
        </p:blipFill>
        <p:spPr>
          <a:xfrm>
            <a:off x="9218" y="2764781"/>
            <a:ext cx="6651808" cy="2165879"/>
          </a:xfrm>
          <a:prstGeom prst="rect">
            <a:avLst/>
          </a:prstGeom>
        </p:spPr>
      </p:pic>
      <p:pic>
        <p:nvPicPr>
          <p:cNvPr id="8" name="Imagen 7">
            <a:extLst>
              <a:ext uri="{FF2B5EF4-FFF2-40B4-BE49-F238E27FC236}">
                <a16:creationId xmlns:a16="http://schemas.microsoft.com/office/drawing/2014/main" id="{3C5FDCDC-F336-4723-96DF-7D58869FF1F9}"/>
              </a:ext>
            </a:extLst>
          </p:cNvPr>
          <p:cNvPicPr>
            <a:picLocks noChangeAspect="1"/>
          </p:cNvPicPr>
          <p:nvPr/>
        </p:nvPicPr>
        <p:blipFill>
          <a:blip r:embed="rId3"/>
          <a:stretch>
            <a:fillRect/>
          </a:stretch>
        </p:blipFill>
        <p:spPr>
          <a:xfrm>
            <a:off x="6759490" y="0"/>
            <a:ext cx="5432510" cy="6858000"/>
          </a:xfrm>
          <a:prstGeom prst="rect">
            <a:avLst/>
          </a:prstGeom>
        </p:spPr>
      </p:pic>
    </p:spTree>
    <p:extLst>
      <p:ext uri="{BB962C8B-B14F-4D97-AF65-F5344CB8AC3E}">
        <p14:creationId xmlns:p14="http://schemas.microsoft.com/office/powerpoint/2010/main" val="416485821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3">
            <a:extLst>
              <a:ext uri="{FF2B5EF4-FFF2-40B4-BE49-F238E27FC236}">
                <a16:creationId xmlns:a16="http://schemas.microsoft.com/office/drawing/2014/main" id="{2613A9AD-4454-4F7C-9DF4-FEF7F445E7F9}"/>
              </a:ext>
            </a:extLst>
          </p:cNvPr>
          <p:cNvSpPr>
            <a:spLocks noGrp="1"/>
          </p:cNvSpPr>
          <p:nvPr>
            <p:ph type="title"/>
          </p:nvPr>
        </p:nvSpPr>
        <p:spPr/>
        <p:txBody>
          <a:bodyPr/>
          <a:lstStyle/>
          <a:p>
            <a:endParaRPr lang="es-CO"/>
          </a:p>
        </p:txBody>
      </p:sp>
      <p:pic>
        <p:nvPicPr>
          <p:cNvPr id="7" name="Imagen 6">
            <a:extLst>
              <a:ext uri="{FF2B5EF4-FFF2-40B4-BE49-F238E27FC236}">
                <a16:creationId xmlns:a16="http://schemas.microsoft.com/office/drawing/2014/main" id="{FB57044D-B694-4BE3-A79F-5A6C10EA23E6}"/>
              </a:ext>
            </a:extLst>
          </p:cNvPr>
          <p:cNvPicPr>
            <a:picLocks noChangeAspect="1"/>
          </p:cNvPicPr>
          <p:nvPr/>
        </p:nvPicPr>
        <p:blipFill rotWithShape="1">
          <a:blip r:embed="rId2"/>
          <a:srcRect l="66544"/>
          <a:stretch/>
        </p:blipFill>
        <p:spPr>
          <a:xfrm>
            <a:off x="93881" y="2492395"/>
            <a:ext cx="6096000" cy="2327578"/>
          </a:xfrm>
          <a:prstGeom prst="rect">
            <a:avLst/>
          </a:prstGeom>
        </p:spPr>
      </p:pic>
      <p:pic>
        <p:nvPicPr>
          <p:cNvPr id="9" name="Imagen 8">
            <a:extLst>
              <a:ext uri="{FF2B5EF4-FFF2-40B4-BE49-F238E27FC236}">
                <a16:creationId xmlns:a16="http://schemas.microsoft.com/office/drawing/2014/main" id="{6CB6C2C2-D373-4373-9C93-45F838633660}"/>
              </a:ext>
            </a:extLst>
          </p:cNvPr>
          <p:cNvPicPr>
            <a:picLocks noChangeAspect="1"/>
          </p:cNvPicPr>
          <p:nvPr/>
        </p:nvPicPr>
        <p:blipFill>
          <a:blip r:embed="rId3"/>
          <a:stretch>
            <a:fillRect/>
          </a:stretch>
        </p:blipFill>
        <p:spPr>
          <a:xfrm>
            <a:off x="6458224" y="0"/>
            <a:ext cx="5639895" cy="6858000"/>
          </a:xfrm>
          <a:prstGeom prst="rect">
            <a:avLst/>
          </a:prstGeom>
        </p:spPr>
      </p:pic>
    </p:spTree>
    <p:extLst>
      <p:ext uri="{BB962C8B-B14F-4D97-AF65-F5344CB8AC3E}">
        <p14:creationId xmlns:p14="http://schemas.microsoft.com/office/powerpoint/2010/main" val="401401246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EF48A5AA-BF76-4501-AAA7-1F60480A2FB1}"/>
              </a:ext>
            </a:extLst>
          </p:cNvPr>
          <p:cNvSpPr>
            <a:spLocks noGrp="1"/>
          </p:cNvSpPr>
          <p:nvPr>
            <p:ph type="title"/>
          </p:nvPr>
        </p:nvSpPr>
        <p:spPr/>
        <p:txBody>
          <a:bodyPr/>
          <a:lstStyle/>
          <a:p>
            <a:endParaRPr lang="es-CO"/>
          </a:p>
        </p:txBody>
      </p:sp>
      <p:sp>
        <p:nvSpPr>
          <p:cNvPr id="4" name="Marcador de contenido 3">
            <a:extLst>
              <a:ext uri="{FF2B5EF4-FFF2-40B4-BE49-F238E27FC236}">
                <a16:creationId xmlns:a16="http://schemas.microsoft.com/office/drawing/2014/main" id="{7EFF0F4E-1174-4AF7-A5FC-20EFA4C9AD77}"/>
              </a:ext>
            </a:extLst>
          </p:cNvPr>
          <p:cNvSpPr>
            <a:spLocks noGrp="1"/>
          </p:cNvSpPr>
          <p:nvPr>
            <p:ph idx="1"/>
          </p:nvPr>
        </p:nvSpPr>
        <p:spPr/>
        <p:txBody>
          <a:bodyPr/>
          <a:lstStyle/>
          <a:p>
            <a:endParaRPr lang="es-CO"/>
          </a:p>
        </p:txBody>
      </p:sp>
      <p:pic>
        <p:nvPicPr>
          <p:cNvPr id="7" name="Imagen 6">
            <a:extLst>
              <a:ext uri="{FF2B5EF4-FFF2-40B4-BE49-F238E27FC236}">
                <a16:creationId xmlns:a16="http://schemas.microsoft.com/office/drawing/2014/main" id="{ADF421FF-DF89-4281-A7FD-8E917156C5BE}"/>
              </a:ext>
            </a:extLst>
          </p:cNvPr>
          <p:cNvPicPr>
            <a:picLocks noChangeAspect="1"/>
          </p:cNvPicPr>
          <p:nvPr/>
        </p:nvPicPr>
        <p:blipFill rotWithShape="1">
          <a:blip r:embed="rId2"/>
          <a:srcRect l="66257"/>
          <a:stretch/>
        </p:blipFill>
        <p:spPr>
          <a:xfrm>
            <a:off x="170158" y="2987250"/>
            <a:ext cx="5254249" cy="1643476"/>
          </a:xfrm>
          <a:prstGeom prst="rect">
            <a:avLst/>
          </a:prstGeom>
        </p:spPr>
      </p:pic>
      <p:pic>
        <p:nvPicPr>
          <p:cNvPr id="9" name="Imagen 8">
            <a:extLst>
              <a:ext uri="{FF2B5EF4-FFF2-40B4-BE49-F238E27FC236}">
                <a16:creationId xmlns:a16="http://schemas.microsoft.com/office/drawing/2014/main" id="{B40CDCA3-5328-45A0-8895-2F81B5FBF830}"/>
              </a:ext>
            </a:extLst>
          </p:cNvPr>
          <p:cNvPicPr>
            <a:picLocks noChangeAspect="1"/>
          </p:cNvPicPr>
          <p:nvPr/>
        </p:nvPicPr>
        <p:blipFill>
          <a:blip r:embed="rId3"/>
          <a:stretch>
            <a:fillRect/>
          </a:stretch>
        </p:blipFill>
        <p:spPr>
          <a:xfrm>
            <a:off x="5734050" y="123825"/>
            <a:ext cx="6457950" cy="6734175"/>
          </a:xfrm>
          <a:prstGeom prst="rect">
            <a:avLst/>
          </a:prstGeom>
        </p:spPr>
      </p:pic>
    </p:spTree>
    <p:extLst>
      <p:ext uri="{BB962C8B-B14F-4D97-AF65-F5344CB8AC3E}">
        <p14:creationId xmlns:p14="http://schemas.microsoft.com/office/powerpoint/2010/main" val="420809407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579F92A-3289-4AFD-BBED-3DDAE609578C}"/>
              </a:ext>
            </a:extLst>
          </p:cNvPr>
          <p:cNvSpPr>
            <a:spLocks noGrp="1"/>
          </p:cNvSpPr>
          <p:nvPr>
            <p:ph type="title"/>
          </p:nvPr>
        </p:nvSpPr>
        <p:spPr/>
        <p:txBody>
          <a:bodyPr/>
          <a:lstStyle/>
          <a:p>
            <a:r>
              <a:rPr lang="es-ES" dirty="0"/>
              <a:t>Regresión Logística - Normalización</a:t>
            </a:r>
            <a:endParaRPr lang="es-CO" dirty="0"/>
          </a:p>
        </p:txBody>
      </p:sp>
      <p:pic>
        <p:nvPicPr>
          <p:cNvPr id="6" name="Imagen 5">
            <a:extLst>
              <a:ext uri="{FF2B5EF4-FFF2-40B4-BE49-F238E27FC236}">
                <a16:creationId xmlns:a16="http://schemas.microsoft.com/office/drawing/2014/main" id="{6B588081-65C2-4342-A67B-A95BE38E9D1B}"/>
              </a:ext>
            </a:extLst>
          </p:cNvPr>
          <p:cNvPicPr>
            <a:picLocks noChangeAspect="1"/>
          </p:cNvPicPr>
          <p:nvPr/>
        </p:nvPicPr>
        <p:blipFill>
          <a:blip r:embed="rId3"/>
          <a:stretch>
            <a:fillRect/>
          </a:stretch>
        </p:blipFill>
        <p:spPr>
          <a:xfrm>
            <a:off x="196369" y="1870317"/>
            <a:ext cx="5899631" cy="4251513"/>
          </a:xfrm>
          <a:prstGeom prst="rect">
            <a:avLst/>
          </a:prstGeom>
        </p:spPr>
      </p:pic>
      <p:pic>
        <p:nvPicPr>
          <p:cNvPr id="10" name="Imagen 9">
            <a:extLst>
              <a:ext uri="{FF2B5EF4-FFF2-40B4-BE49-F238E27FC236}">
                <a16:creationId xmlns:a16="http://schemas.microsoft.com/office/drawing/2014/main" id="{6C69EF04-630D-41FA-AAC6-C242CCCA5977}"/>
              </a:ext>
            </a:extLst>
          </p:cNvPr>
          <p:cNvPicPr>
            <a:picLocks noChangeAspect="1"/>
          </p:cNvPicPr>
          <p:nvPr/>
        </p:nvPicPr>
        <p:blipFill>
          <a:blip r:embed="rId4"/>
          <a:stretch>
            <a:fillRect/>
          </a:stretch>
        </p:blipFill>
        <p:spPr>
          <a:xfrm>
            <a:off x="6312919" y="1870317"/>
            <a:ext cx="5682712" cy="4272039"/>
          </a:xfrm>
          <a:prstGeom prst="rect">
            <a:avLst/>
          </a:prstGeom>
        </p:spPr>
      </p:pic>
    </p:spTree>
    <p:extLst>
      <p:ext uri="{BB962C8B-B14F-4D97-AF65-F5344CB8AC3E}">
        <p14:creationId xmlns:p14="http://schemas.microsoft.com/office/powerpoint/2010/main" val="218936531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Imagen 4">
            <a:extLst>
              <a:ext uri="{FF2B5EF4-FFF2-40B4-BE49-F238E27FC236}">
                <a16:creationId xmlns:a16="http://schemas.microsoft.com/office/drawing/2014/main" id="{3D4B8403-9147-4F5E-9AEF-3D3D7D0A4D19}"/>
              </a:ext>
            </a:extLst>
          </p:cNvPr>
          <p:cNvPicPr>
            <a:picLocks noChangeAspect="1"/>
          </p:cNvPicPr>
          <p:nvPr/>
        </p:nvPicPr>
        <p:blipFill>
          <a:blip r:embed="rId2"/>
          <a:stretch>
            <a:fillRect/>
          </a:stretch>
        </p:blipFill>
        <p:spPr>
          <a:xfrm>
            <a:off x="0" y="770729"/>
            <a:ext cx="12192000" cy="5316541"/>
          </a:xfrm>
          <a:prstGeom prst="rect">
            <a:avLst/>
          </a:prstGeom>
        </p:spPr>
      </p:pic>
    </p:spTree>
    <p:extLst>
      <p:ext uri="{BB962C8B-B14F-4D97-AF65-F5344CB8AC3E}">
        <p14:creationId xmlns:p14="http://schemas.microsoft.com/office/powerpoint/2010/main" val="388198849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Imagen 10">
            <a:extLst>
              <a:ext uri="{FF2B5EF4-FFF2-40B4-BE49-F238E27FC236}">
                <a16:creationId xmlns:a16="http://schemas.microsoft.com/office/drawing/2014/main" id="{6A2581E0-3557-4EF1-A2F0-7A87800E45B9}"/>
              </a:ext>
            </a:extLst>
          </p:cNvPr>
          <p:cNvPicPr>
            <a:picLocks noChangeAspect="1"/>
          </p:cNvPicPr>
          <p:nvPr/>
        </p:nvPicPr>
        <p:blipFill>
          <a:blip r:embed="rId2"/>
          <a:stretch>
            <a:fillRect/>
          </a:stretch>
        </p:blipFill>
        <p:spPr>
          <a:xfrm>
            <a:off x="427334" y="1796996"/>
            <a:ext cx="5147568" cy="3844386"/>
          </a:xfrm>
          <a:prstGeom prst="rect">
            <a:avLst/>
          </a:prstGeom>
        </p:spPr>
      </p:pic>
      <p:pic>
        <p:nvPicPr>
          <p:cNvPr id="13" name="Imagen 12">
            <a:extLst>
              <a:ext uri="{FF2B5EF4-FFF2-40B4-BE49-F238E27FC236}">
                <a16:creationId xmlns:a16="http://schemas.microsoft.com/office/drawing/2014/main" id="{31DA29A8-DB3B-4D1A-9754-A2E0404867DC}"/>
              </a:ext>
            </a:extLst>
          </p:cNvPr>
          <p:cNvPicPr>
            <a:picLocks noChangeAspect="1"/>
          </p:cNvPicPr>
          <p:nvPr/>
        </p:nvPicPr>
        <p:blipFill>
          <a:blip r:embed="rId3"/>
          <a:stretch>
            <a:fillRect/>
          </a:stretch>
        </p:blipFill>
        <p:spPr>
          <a:xfrm>
            <a:off x="5841431" y="1882237"/>
            <a:ext cx="5923235" cy="3673905"/>
          </a:xfrm>
          <a:prstGeom prst="rect">
            <a:avLst/>
          </a:prstGeom>
        </p:spPr>
      </p:pic>
    </p:spTree>
    <p:extLst>
      <p:ext uri="{BB962C8B-B14F-4D97-AF65-F5344CB8AC3E}">
        <p14:creationId xmlns:p14="http://schemas.microsoft.com/office/powerpoint/2010/main" val="152533419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Imagen 8">
            <a:extLst>
              <a:ext uri="{FF2B5EF4-FFF2-40B4-BE49-F238E27FC236}">
                <a16:creationId xmlns:a16="http://schemas.microsoft.com/office/drawing/2014/main" id="{6954144E-26DF-400E-A435-BEF70FB4B15A}"/>
              </a:ext>
            </a:extLst>
          </p:cNvPr>
          <p:cNvPicPr>
            <a:picLocks noChangeAspect="1"/>
          </p:cNvPicPr>
          <p:nvPr/>
        </p:nvPicPr>
        <p:blipFill>
          <a:blip r:embed="rId2"/>
          <a:stretch>
            <a:fillRect/>
          </a:stretch>
        </p:blipFill>
        <p:spPr>
          <a:xfrm>
            <a:off x="1103141" y="0"/>
            <a:ext cx="10295681" cy="6858000"/>
          </a:xfrm>
          <a:prstGeom prst="rect">
            <a:avLst/>
          </a:prstGeom>
        </p:spPr>
      </p:pic>
    </p:spTree>
    <p:extLst>
      <p:ext uri="{BB962C8B-B14F-4D97-AF65-F5344CB8AC3E}">
        <p14:creationId xmlns:p14="http://schemas.microsoft.com/office/powerpoint/2010/main" val="409512961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Imagen 6">
            <a:extLst>
              <a:ext uri="{FF2B5EF4-FFF2-40B4-BE49-F238E27FC236}">
                <a16:creationId xmlns:a16="http://schemas.microsoft.com/office/drawing/2014/main" id="{60A9FCF1-A85A-47FB-BB9E-58FD0908E805}"/>
              </a:ext>
            </a:extLst>
          </p:cNvPr>
          <p:cNvPicPr>
            <a:picLocks noChangeAspect="1"/>
          </p:cNvPicPr>
          <p:nvPr/>
        </p:nvPicPr>
        <p:blipFill>
          <a:blip r:embed="rId2"/>
          <a:stretch>
            <a:fillRect/>
          </a:stretch>
        </p:blipFill>
        <p:spPr>
          <a:xfrm>
            <a:off x="935138" y="0"/>
            <a:ext cx="10321724" cy="6858000"/>
          </a:xfrm>
          <a:prstGeom prst="rect">
            <a:avLst/>
          </a:prstGeom>
        </p:spPr>
      </p:pic>
    </p:spTree>
    <p:extLst>
      <p:ext uri="{BB962C8B-B14F-4D97-AF65-F5344CB8AC3E}">
        <p14:creationId xmlns:p14="http://schemas.microsoft.com/office/powerpoint/2010/main" val="384566386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Imagen 5">
            <a:extLst>
              <a:ext uri="{FF2B5EF4-FFF2-40B4-BE49-F238E27FC236}">
                <a16:creationId xmlns:a16="http://schemas.microsoft.com/office/drawing/2014/main" id="{C852379E-A7E0-4CDF-8067-793C26E490CC}"/>
              </a:ext>
            </a:extLst>
          </p:cNvPr>
          <p:cNvPicPr>
            <a:picLocks noChangeAspect="1"/>
          </p:cNvPicPr>
          <p:nvPr/>
        </p:nvPicPr>
        <p:blipFill>
          <a:blip r:embed="rId2"/>
          <a:stretch>
            <a:fillRect/>
          </a:stretch>
        </p:blipFill>
        <p:spPr>
          <a:xfrm>
            <a:off x="1977736" y="0"/>
            <a:ext cx="8236527" cy="6858000"/>
          </a:xfrm>
          <a:prstGeom prst="rect">
            <a:avLst/>
          </a:prstGeom>
        </p:spPr>
      </p:pic>
    </p:spTree>
    <p:extLst>
      <p:ext uri="{BB962C8B-B14F-4D97-AF65-F5344CB8AC3E}">
        <p14:creationId xmlns:p14="http://schemas.microsoft.com/office/powerpoint/2010/main" val="304605088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Título 1">
            <a:extLst>
              <a:ext uri="{FF2B5EF4-FFF2-40B4-BE49-F238E27FC236}">
                <a16:creationId xmlns:a16="http://schemas.microsoft.com/office/drawing/2014/main" id="{FBD22EB7-FEDA-449D-9583-EA063FC869E6}"/>
              </a:ext>
            </a:extLst>
          </p:cNvPr>
          <p:cNvSpPr>
            <a:spLocks noGrp="1"/>
          </p:cNvSpPr>
          <p:nvPr>
            <p:ph type="title"/>
          </p:nvPr>
        </p:nvSpPr>
        <p:spPr>
          <a:xfrm>
            <a:off x="1097280" y="286603"/>
            <a:ext cx="10058400" cy="1450757"/>
          </a:xfrm>
        </p:spPr>
        <p:txBody>
          <a:bodyPr/>
          <a:lstStyle/>
          <a:p>
            <a:r>
              <a:rPr lang="es-ES" dirty="0"/>
              <a:t>Modelo SAS</a:t>
            </a:r>
            <a:endParaRPr lang="es-CO" dirty="0"/>
          </a:p>
        </p:txBody>
      </p:sp>
      <p:pic>
        <p:nvPicPr>
          <p:cNvPr id="13" name="Imagen 12">
            <a:extLst>
              <a:ext uri="{FF2B5EF4-FFF2-40B4-BE49-F238E27FC236}">
                <a16:creationId xmlns:a16="http://schemas.microsoft.com/office/drawing/2014/main" id="{3EC4F347-DB14-42BE-A7CD-2E21911196C3}"/>
              </a:ext>
            </a:extLst>
          </p:cNvPr>
          <p:cNvPicPr>
            <a:picLocks noChangeAspect="1"/>
          </p:cNvPicPr>
          <p:nvPr/>
        </p:nvPicPr>
        <p:blipFill>
          <a:blip r:embed="rId3"/>
          <a:stretch>
            <a:fillRect/>
          </a:stretch>
        </p:blipFill>
        <p:spPr>
          <a:xfrm>
            <a:off x="5430451" y="696993"/>
            <a:ext cx="6538527" cy="5464013"/>
          </a:xfrm>
          <a:prstGeom prst="rect">
            <a:avLst/>
          </a:prstGeom>
        </p:spPr>
      </p:pic>
      <p:pic>
        <p:nvPicPr>
          <p:cNvPr id="15" name="Imagen 14">
            <a:extLst>
              <a:ext uri="{FF2B5EF4-FFF2-40B4-BE49-F238E27FC236}">
                <a16:creationId xmlns:a16="http://schemas.microsoft.com/office/drawing/2014/main" id="{6AE7EC8E-753A-4DB3-8F48-7B9C26F0FF78}"/>
              </a:ext>
            </a:extLst>
          </p:cNvPr>
          <p:cNvPicPr>
            <a:picLocks noChangeAspect="1"/>
          </p:cNvPicPr>
          <p:nvPr/>
        </p:nvPicPr>
        <p:blipFill>
          <a:blip r:embed="rId4"/>
          <a:stretch>
            <a:fillRect/>
          </a:stretch>
        </p:blipFill>
        <p:spPr>
          <a:xfrm>
            <a:off x="489325" y="3304873"/>
            <a:ext cx="4316742" cy="2677473"/>
          </a:xfrm>
          <a:prstGeom prst="rect">
            <a:avLst/>
          </a:prstGeom>
        </p:spPr>
      </p:pic>
    </p:spTree>
    <p:extLst>
      <p:ext uri="{BB962C8B-B14F-4D97-AF65-F5344CB8AC3E}">
        <p14:creationId xmlns:p14="http://schemas.microsoft.com/office/powerpoint/2010/main" val="187306299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Imagen 5">
            <a:extLst>
              <a:ext uri="{FF2B5EF4-FFF2-40B4-BE49-F238E27FC236}">
                <a16:creationId xmlns:a16="http://schemas.microsoft.com/office/drawing/2014/main" id="{AF7940CE-7C31-4A54-B278-A160322DD978}"/>
              </a:ext>
            </a:extLst>
          </p:cNvPr>
          <p:cNvPicPr>
            <a:picLocks noChangeAspect="1"/>
          </p:cNvPicPr>
          <p:nvPr/>
        </p:nvPicPr>
        <p:blipFill>
          <a:blip r:embed="rId3"/>
          <a:stretch>
            <a:fillRect/>
          </a:stretch>
        </p:blipFill>
        <p:spPr>
          <a:xfrm>
            <a:off x="1050430" y="1745080"/>
            <a:ext cx="9420225" cy="4667250"/>
          </a:xfrm>
          <a:prstGeom prst="rect">
            <a:avLst/>
          </a:prstGeom>
        </p:spPr>
      </p:pic>
    </p:spTree>
    <p:extLst>
      <p:ext uri="{BB962C8B-B14F-4D97-AF65-F5344CB8AC3E}">
        <p14:creationId xmlns:p14="http://schemas.microsoft.com/office/powerpoint/2010/main" val="80008186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DF1DC94-873B-4D09-98EA-383040EC8840}"/>
              </a:ext>
            </a:extLst>
          </p:cNvPr>
          <p:cNvSpPr>
            <a:spLocks noGrp="1"/>
          </p:cNvSpPr>
          <p:nvPr>
            <p:ph type="title"/>
          </p:nvPr>
        </p:nvSpPr>
        <p:spPr/>
        <p:txBody>
          <a:bodyPr/>
          <a:lstStyle/>
          <a:p>
            <a:endParaRPr lang="es-CO"/>
          </a:p>
        </p:txBody>
      </p:sp>
      <p:sp>
        <p:nvSpPr>
          <p:cNvPr id="3" name="Marcador de contenido 2">
            <a:extLst>
              <a:ext uri="{FF2B5EF4-FFF2-40B4-BE49-F238E27FC236}">
                <a16:creationId xmlns:a16="http://schemas.microsoft.com/office/drawing/2014/main" id="{A116529C-6912-4EA5-9D76-4D831995BC06}"/>
              </a:ext>
            </a:extLst>
          </p:cNvPr>
          <p:cNvSpPr>
            <a:spLocks noGrp="1"/>
          </p:cNvSpPr>
          <p:nvPr>
            <p:ph idx="1"/>
          </p:nvPr>
        </p:nvSpPr>
        <p:spPr/>
        <p:txBody>
          <a:bodyPr/>
          <a:lstStyle/>
          <a:p>
            <a:endParaRPr lang="es-CO"/>
          </a:p>
        </p:txBody>
      </p:sp>
      <p:pic>
        <p:nvPicPr>
          <p:cNvPr id="5" name="Imagen 4">
            <a:extLst>
              <a:ext uri="{FF2B5EF4-FFF2-40B4-BE49-F238E27FC236}">
                <a16:creationId xmlns:a16="http://schemas.microsoft.com/office/drawing/2014/main" id="{908E2ADE-F6A2-426B-A237-AC2E680A0F34}"/>
              </a:ext>
            </a:extLst>
          </p:cNvPr>
          <p:cNvPicPr>
            <a:picLocks noChangeAspect="1"/>
          </p:cNvPicPr>
          <p:nvPr/>
        </p:nvPicPr>
        <p:blipFill>
          <a:blip r:embed="rId3"/>
          <a:stretch>
            <a:fillRect/>
          </a:stretch>
        </p:blipFill>
        <p:spPr>
          <a:xfrm>
            <a:off x="2838450" y="171450"/>
            <a:ext cx="6515100" cy="6515100"/>
          </a:xfrm>
          <a:prstGeom prst="rect">
            <a:avLst/>
          </a:prstGeom>
        </p:spPr>
      </p:pic>
    </p:spTree>
    <p:extLst>
      <p:ext uri="{BB962C8B-B14F-4D97-AF65-F5344CB8AC3E}">
        <p14:creationId xmlns:p14="http://schemas.microsoft.com/office/powerpoint/2010/main" val="2353411752"/>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ECC1E7CD-68F8-4B35-869F-D0BD5B5E96CB}"/>
              </a:ext>
            </a:extLst>
          </p:cNvPr>
          <p:cNvSpPr>
            <a:spLocks noGrp="1"/>
          </p:cNvSpPr>
          <p:nvPr>
            <p:ph type="title"/>
          </p:nvPr>
        </p:nvSpPr>
        <p:spPr/>
        <p:txBody>
          <a:bodyPr/>
          <a:lstStyle/>
          <a:p>
            <a:endParaRPr lang="es-CO"/>
          </a:p>
        </p:txBody>
      </p:sp>
      <p:sp>
        <p:nvSpPr>
          <p:cNvPr id="3" name="Marcador de contenido 2">
            <a:extLst>
              <a:ext uri="{FF2B5EF4-FFF2-40B4-BE49-F238E27FC236}">
                <a16:creationId xmlns:a16="http://schemas.microsoft.com/office/drawing/2014/main" id="{292D2228-063B-44DF-AD6B-89189891409A}"/>
              </a:ext>
            </a:extLst>
          </p:cNvPr>
          <p:cNvSpPr>
            <a:spLocks noGrp="1"/>
          </p:cNvSpPr>
          <p:nvPr>
            <p:ph idx="1"/>
          </p:nvPr>
        </p:nvSpPr>
        <p:spPr/>
        <p:txBody>
          <a:bodyPr/>
          <a:lstStyle/>
          <a:p>
            <a:endParaRPr lang="es-CO" dirty="0"/>
          </a:p>
        </p:txBody>
      </p:sp>
      <p:pic>
        <p:nvPicPr>
          <p:cNvPr id="5" name="Imagen 4">
            <a:extLst>
              <a:ext uri="{FF2B5EF4-FFF2-40B4-BE49-F238E27FC236}">
                <a16:creationId xmlns:a16="http://schemas.microsoft.com/office/drawing/2014/main" id="{0E42C658-05E8-47BE-AE93-7D703BEAD421}"/>
              </a:ext>
            </a:extLst>
          </p:cNvPr>
          <p:cNvPicPr>
            <a:picLocks noChangeAspect="1"/>
          </p:cNvPicPr>
          <p:nvPr/>
        </p:nvPicPr>
        <p:blipFill>
          <a:blip r:embed="rId3"/>
          <a:stretch>
            <a:fillRect/>
          </a:stretch>
        </p:blipFill>
        <p:spPr>
          <a:xfrm>
            <a:off x="5211452" y="0"/>
            <a:ext cx="6892724" cy="6858000"/>
          </a:xfrm>
          <a:prstGeom prst="rect">
            <a:avLst/>
          </a:prstGeom>
        </p:spPr>
      </p:pic>
      <p:pic>
        <p:nvPicPr>
          <p:cNvPr id="7" name="Imagen 6">
            <a:extLst>
              <a:ext uri="{FF2B5EF4-FFF2-40B4-BE49-F238E27FC236}">
                <a16:creationId xmlns:a16="http://schemas.microsoft.com/office/drawing/2014/main" id="{BBD5713C-71B2-43BD-BBD4-86AEFD6E7154}"/>
              </a:ext>
            </a:extLst>
          </p:cNvPr>
          <p:cNvPicPr>
            <a:picLocks noChangeAspect="1"/>
          </p:cNvPicPr>
          <p:nvPr/>
        </p:nvPicPr>
        <p:blipFill>
          <a:blip r:embed="rId4"/>
          <a:stretch>
            <a:fillRect/>
          </a:stretch>
        </p:blipFill>
        <p:spPr>
          <a:xfrm>
            <a:off x="293324" y="1500298"/>
            <a:ext cx="4719451" cy="3520860"/>
          </a:xfrm>
          <a:prstGeom prst="rect">
            <a:avLst/>
          </a:prstGeom>
        </p:spPr>
      </p:pic>
    </p:spTree>
    <p:extLst>
      <p:ext uri="{BB962C8B-B14F-4D97-AF65-F5344CB8AC3E}">
        <p14:creationId xmlns:p14="http://schemas.microsoft.com/office/powerpoint/2010/main" val="2820397431"/>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4" name="Marcador de contenido 9">
            <a:extLst>
              <a:ext uri="{FF2B5EF4-FFF2-40B4-BE49-F238E27FC236}">
                <a16:creationId xmlns:a16="http://schemas.microsoft.com/office/drawing/2014/main" id="{BC43840C-9B72-4B6A-BDEB-31E1D0CEC03C}"/>
              </a:ext>
            </a:extLst>
          </p:cNvPr>
          <p:cNvPicPr>
            <a:picLocks noChangeAspect="1"/>
          </p:cNvPicPr>
          <p:nvPr/>
        </p:nvPicPr>
        <p:blipFill>
          <a:blip r:embed="rId2"/>
          <a:stretch>
            <a:fillRect/>
          </a:stretch>
        </p:blipFill>
        <p:spPr>
          <a:xfrm>
            <a:off x="6223327" y="1109432"/>
            <a:ext cx="5680185" cy="4184463"/>
          </a:xfrm>
          <a:prstGeom prst="rect">
            <a:avLst/>
          </a:prstGeom>
        </p:spPr>
      </p:pic>
      <p:pic>
        <p:nvPicPr>
          <p:cNvPr id="15" name="Imagen 14">
            <a:extLst>
              <a:ext uri="{FF2B5EF4-FFF2-40B4-BE49-F238E27FC236}">
                <a16:creationId xmlns:a16="http://schemas.microsoft.com/office/drawing/2014/main" id="{0760FA18-1D50-4E4B-BB56-4A7CB6237C52}"/>
              </a:ext>
            </a:extLst>
          </p:cNvPr>
          <p:cNvPicPr>
            <a:picLocks noChangeAspect="1"/>
          </p:cNvPicPr>
          <p:nvPr/>
        </p:nvPicPr>
        <p:blipFill>
          <a:blip r:embed="rId3"/>
          <a:stretch>
            <a:fillRect/>
          </a:stretch>
        </p:blipFill>
        <p:spPr>
          <a:xfrm>
            <a:off x="0" y="707877"/>
            <a:ext cx="6096000" cy="4814779"/>
          </a:xfrm>
          <a:prstGeom prst="rect">
            <a:avLst/>
          </a:prstGeom>
        </p:spPr>
      </p:pic>
    </p:spTree>
    <p:extLst>
      <p:ext uri="{BB962C8B-B14F-4D97-AF65-F5344CB8AC3E}">
        <p14:creationId xmlns:p14="http://schemas.microsoft.com/office/powerpoint/2010/main" val="58502278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Imagen 2">
            <a:extLst>
              <a:ext uri="{FF2B5EF4-FFF2-40B4-BE49-F238E27FC236}">
                <a16:creationId xmlns:a16="http://schemas.microsoft.com/office/drawing/2014/main" id="{B8E17B90-5D6F-4515-9892-0CB389BC90E5}"/>
              </a:ext>
            </a:extLst>
          </p:cNvPr>
          <p:cNvPicPr>
            <a:picLocks noChangeAspect="1"/>
          </p:cNvPicPr>
          <p:nvPr/>
        </p:nvPicPr>
        <p:blipFill>
          <a:blip r:embed="rId3"/>
          <a:stretch>
            <a:fillRect/>
          </a:stretch>
        </p:blipFill>
        <p:spPr>
          <a:xfrm>
            <a:off x="5437196" y="732901"/>
            <a:ext cx="6370872" cy="5151566"/>
          </a:xfrm>
          <a:prstGeom prst="rect">
            <a:avLst/>
          </a:prstGeom>
        </p:spPr>
      </p:pic>
      <p:sp>
        <p:nvSpPr>
          <p:cNvPr id="9" name="Título 1">
            <a:extLst>
              <a:ext uri="{FF2B5EF4-FFF2-40B4-BE49-F238E27FC236}">
                <a16:creationId xmlns:a16="http://schemas.microsoft.com/office/drawing/2014/main" id="{E93742B2-B9CA-486E-A4A1-86366A951834}"/>
              </a:ext>
            </a:extLst>
          </p:cNvPr>
          <p:cNvSpPr>
            <a:spLocks noGrp="1"/>
          </p:cNvSpPr>
          <p:nvPr>
            <p:ph type="title"/>
          </p:nvPr>
        </p:nvSpPr>
        <p:spPr>
          <a:xfrm>
            <a:off x="1097280" y="286603"/>
            <a:ext cx="10058400" cy="1450757"/>
          </a:xfrm>
        </p:spPr>
        <p:txBody>
          <a:bodyPr/>
          <a:lstStyle/>
          <a:p>
            <a:r>
              <a:rPr lang="es-ES" dirty="0"/>
              <a:t>Modelo CAR</a:t>
            </a:r>
            <a:endParaRPr lang="es-CO" dirty="0"/>
          </a:p>
        </p:txBody>
      </p:sp>
      <p:pic>
        <p:nvPicPr>
          <p:cNvPr id="5" name="Imagen 4">
            <a:extLst>
              <a:ext uri="{FF2B5EF4-FFF2-40B4-BE49-F238E27FC236}">
                <a16:creationId xmlns:a16="http://schemas.microsoft.com/office/drawing/2014/main" id="{FFB9A882-89F2-4D86-8E07-AD890502ADA8}"/>
              </a:ext>
            </a:extLst>
          </p:cNvPr>
          <p:cNvPicPr>
            <a:picLocks noChangeAspect="1"/>
          </p:cNvPicPr>
          <p:nvPr/>
        </p:nvPicPr>
        <p:blipFill>
          <a:blip r:embed="rId4"/>
          <a:stretch>
            <a:fillRect/>
          </a:stretch>
        </p:blipFill>
        <p:spPr>
          <a:xfrm>
            <a:off x="383932" y="2368295"/>
            <a:ext cx="4714177" cy="2923983"/>
          </a:xfrm>
          <a:prstGeom prst="rect">
            <a:avLst/>
          </a:prstGeom>
        </p:spPr>
      </p:pic>
    </p:spTree>
    <p:extLst>
      <p:ext uri="{BB962C8B-B14F-4D97-AF65-F5344CB8AC3E}">
        <p14:creationId xmlns:p14="http://schemas.microsoft.com/office/powerpoint/2010/main" val="331418167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Imagen 2">
            <a:extLst>
              <a:ext uri="{FF2B5EF4-FFF2-40B4-BE49-F238E27FC236}">
                <a16:creationId xmlns:a16="http://schemas.microsoft.com/office/drawing/2014/main" id="{D154052A-3C66-4128-8963-9A557BFD8148}"/>
              </a:ext>
            </a:extLst>
          </p:cNvPr>
          <p:cNvPicPr>
            <a:picLocks noChangeAspect="1"/>
          </p:cNvPicPr>
          <p:nvPr/>
        </p:nvPicPr>
        <p:blipFill>
          <a:blip r:embed="rId3"/>
          <a:stretch>
            <a:fillRect/>
          </a:stretch>
        </p:blipFill>
        <p:spPr>
          <a:xfrm>
            <a:off x="5191932" y="1814267"/>
            <a:ext cx="6541738" cy="3229466"/>
          </a:xfrm>
          <a:prstGeom prst="rect">
            <a:avLst/>
          </a:prstGeom>
        </p:spPr>
      </p:pic>
      <p:pic>
        <p:nvPicPr>
          <p:cNvPr id="6" name="Imagen 5">
            <a:extLst>
              <a:ext uri="{FF2B5EF4-FFF2-40B4-BE49-F238E27FC236}">
                <a16:creationId xmlns:a16="http://schemas.microsoft.com/office/drawing/2014/main" id="{E81383EE-6D8B-4D33-84AE-2A918A3F736E}"/>
              </a:ext>
            </a:extLst>
          </p:cNvPr>
          <p:cNvPicPr>
            <a:picLocks noChangeAspect="1"/>
          </p:cNvPicPr>
          <p:nvPr/>
        </p:nvPicPr>
        <p:blipFill>
          <a:blip r:embed="rId4"/>
          <a:stretch>
            <a:fillRect/>
          </a:stretch>
        </p:blipFill>
        <p:spPr>
          <a:xfrm>
            <a:off x="194859" y="1026359"/>
            <a:ext cx="4805282" cy="4805282"/>
          </a:xfrm>
          <a:prstGeom prst="rect">
            <a:avLst/>
          </a:prstGeom>
        </p:spPr>
      </p:pic>
    </p:spTree>
    <p:extLst>
      <p:ext uri="{BB962C8B-B14F-4D97-AF65-F5344CB8AC3E}">
        <p14:creationId xmlns:p14="http://schemas.microsoft.com/office/powerpoint/2010/main" val="375101849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8229380-EC6D-4476-BED1-BE888851ED45}"/>
              </a:ext>
            </a:extLst>
          </p:cNvPr>
          <p:cNvSpPr>
            <a:spLocks noGrp="1"/>
          </p:cNvSpPr>
          <p:nvPr>
            <p:ph type="title"/>
          </p:nvPr>
        </p:nvSpPr>
        <p:spPr/>
        <p:txBody>
          <a:bodyPr/>
          <a:lstStyle/>
          <a:p>
            <a:endParaRPr lang="es-CO"/>
          </a:p>
        </p:txBody>
      </p:sp>
      <p:sp>
        <p:nvSpPr>
          <p:cNvPr id="3" name="Marcador de contenido 2">
            <a:extLst>
              <a:ext uri="{FF2B5EF4-FFF2-40B4-BE49-F238E27FC236}">
                <a16:creationId xmlns:a16="http://schemas.microsoft.com/office/drawing/2014/main" id="{B9820985-605E-4440-867F-8929F2C78D97}"/>
              </a:ext>
            </a:extLst>
          </p:cNvPr>
          <p:cNvSpPr>
            <a:spLocks noGrp="1"/>
          </p:cNvSpPr>
          <p:nvPr>
            <p:ph idx="1"/>
          </p:nvPr>
        </p:nvSpPr>
        <p:spPr/>
        <p:txBody>
          <a:bodyPr/>
          <a:lstStyle/>
          <a:p>
            <a:endParaRPr lang="es-CO"/>
          </a:p>
        </p:txBody>
      </p:sp>
      <p:pic>
        <p:nvPicPr>
          <p:cNvPr id="5" name="Imagen 4">
            <a:extLst>
              <a:ext uri="{FF2B5EF4-FFF2-40B4-BE49-F238E27FC236}">
                <a16:creationId xmlns:a16="http://schemas.microsoft.com/office/drawing/2014/main" id="{DD185AF8-84B0-4BD3-BBAD-7E83A8A25287}"/>
              </a:ext>
            </a:extLst>
          </p:cNvPr>
          <p:cNvPicPr>
            <a:picLocks noChangeAspect="1"/>
          </p:cNvPicPr>
          <p:nvPr/>
        </p:nvPicPr>
        <p:blipFill>
          <a:blip r:embed="rId2"/>
          <a:stretch>
            <a:fillRect/>
          </a:stretch>
        </p:blipFill>
        <p:spPr>
          <a:xfrm>
            <a:off x="488179" y="1367578"/>
            <a:ext cx="5607821" cy="4501516"/>
          </a:xfrm>
          <a:prstGeom prst="rect">
            <a:avLst/>
          </a:prstGeom>
        </p:spPr>
      </p:pic>
      <p:pic>
        <p:nvPicPr>
          <p:cNvPr id="7" name="Imagen 6">
            <a:extLst>
              <a:ext uri="{FF2B5EF4-FFF2-40B4-BE49-F238E27FC236}">
                <a16:creationId xmlns:a16="http://schemas.microsoft.com/office/drawing/2014/main" id="{4ED7F7AA-BBEF-4D49-9219-013E07A4FD7B}"/>
              </a:ext>
            </a:extLst>
          </p:cNvPr>
          <p:cNvPicPr>
            <a:picLocks noChangeAspect="1"/>
          </p:cNvPicPr>
          <p:nvPr/>
        </p:nvPicPr>
        <p:blipFill>
          <a:blip r:embed="rId3"/>
          <a:stretch>
            <a:fillRect/>
          </a:stretch>
        </p:blipFill>
        <p:spPr>
          <a:xfrm>
            <a:off x="6777174" y="1712447"/>
            <a:ext cx="4926647" cy="3629348"/>
          </a:xfrm>
          <a:prstGeom prst="rect">
            <a:avLst/>
          </a:prstGeom>
        </p:spPr>
      </p:pic>
    </p:spTree>
    <p:extLst>
      <p:ext uri="{BB962C8B-B14F-4D97-AF65-F5344CB8AC3E}">
        <p14:creationId xmlns:p14="http://schemas.microsoft.com/office/powerpoint/2010/main" val="2629942540"/>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FA21260-EA1A-4155-9A4E-C6ED046B88FC}"/>
              </a:ext>
            </a:extLst>
          </p:cNvPr>
          <p:cNvSpPr>
            <a:spLocks noGrp="1"/>
          </p:cNvSpPr>
          <p:nvPr>
            <p:ph type="title"/>
          </p:nvPr>
        </p:nvSpPr>
        <p:spPr/>
        <p:txBody>
          <a:bodyPr/>
          <a:lstStyle/>
          <a:p>
            <a:r>
              <a:rPr lang="es-ES" dirty="0"/>
              <a:t>Modelo OLS</a:t>
            </a:r>
            <a:endParaRPr lang="es-CO" dirty="0"/>
          </a:p>
        </p:txBody>
      </p:sp>
      <p:sp>
        <p:nvSpPr>
          <p:cNvPr id="3" name="Marcador de contenido 2">
            <a:extLst>
              <a:ext uri="{FF2B5EF4-FFF2-40B4-BE49-F238E27FC236}">
                <a16:creationId xmlns:a16="http://schemas.microsoft.com/office/drawing/2014/main" id="{76B283C1-0AC5-4699-8FC7-DBF8CCB1E24A}"/>
              </a:ext>
            </a:extLst>
          </p:cNvPr>
          <p:cNvSpPr>
            <a:spLocks noGrp="1"/>
          </p:cNvSpPr>
          <p:nvPr>
            <p:ph idx="1"/>
          </p:nvPr>
        </p:nvSpPr>
        <p:spPr/>
        <p:txBody>
          <a:bodyPr/>
          <a:lstStyle/>
          <a:p>
            <a:endParaRPr lang="es-CO" dirty="0"/>
          </a:p>
        </p:txBody>
      </p:sp>
      <p:pic>
        <p:nvPicPr>
          <p:cNvPr id="5" name="Imagen 4">
            <a:extLst>
              <a:ext uri="{FF2B5EF4-FFF2-40B4-BE49-F238E27FC236}">
                <a16:creationId xmlns:a16="http://schemas.microsoft.com/office/drawing/2014/main" id="{DC83F365-5D14-4ECD-97AC-8742E95C8495}"/>
              </a:ext>
            </a:extLst>
          </p:cNvPr>
          <p:cNvPicPr>
            <a:picLocks noChangeAspect="1"/>
          </p:cNvPicPr>
          <p:nvPr/>
        </p:nvPicPr>
        <p:blipFill>
          <a:blip r:embed="rId3"/>
          <a:stretch>
            <a:fillRect/>
          </a:stretch>
        </p:blipFill>
        <p:spPr>
          <a:xfrm>
            <a:off x="7831990" y="286603"/>
            <a:ext cx="3990286" cy="2383460"/>
          </a:xfrm>
          <a:prstGeom prst="rect">
            <a:avLst/>
          </a:prstGeom>
        </p:spPr>
      </p:pic>
      <p:pic>
        <p:nvPicPr>
          <p:cNvPr id="7" name="Imagen 6">
            <a:extLst>
              <a:ext uri="{FF2B5EF4-FFF2-40B4-BE49-F238E27FC236}">
                <a16:creationId xmlns:a16="http://schemas.microsoft.com/office/drawing/2014/main" id="{4C649126-96E2-4E84-87FB-6D1AD11942DD}"/>
              </a:ext>
            </a:extLst>
          </p:cNvPr>
          <p:cNvPicPr>
            <a:picLocks noChangeAspect="1"/>
          </p:cNvPicPr>
          <p:nvPr/>
        </p:nvPicPr>
        <p:blipFill>
          <a:blip r:embed="rId4"/>
          <a:stretch>
            <a:fillRect/>
          </a:stretch>
        </p:blipFill>
        <p:spPr>
          <a:xfrm>
            <a:off x="6068462" y="3139825"/>
            <a:ext cx="5748046" cy="2837643"/>
          </a:xfrm>
          <a:prstGeom prst="rect">
            <a:avLst/>
          </a:prstGeom>
        </p:spPr>
      </p:pic>
      <p:pic>
        <p:nvPicPr>
          <p:cNvPr id="9" name="Imagen 8">
            <a:extLst>
              <a:ext uri="{FF2B5EF4-FFF2-40B4-BE49-F238E27FC236}">
                <a16:creationId xmlns:a16="http://schemas.microsoft.com/office/drawing/2014/main" id="{B792F7AC-ABBE-43A6-84CE-FF92329DDAA9}"/>
              </a:ext>
            </a:extLst>
          </p:cNvPr>
          <p:cNvPicPr>
            <a:picLocks noChangeAspect="1"/>
          </p:cNvPicPr>
          <p:nvPr/>
        </p:nvPicPr>
        <p:blipFill>
          <a:blip r:embed="rId5"/>
          <a:stretch>
            <a:fillRect/>
          </a:stretch>
        </p:blipFill>
        <p:spPr>
          <a:xfrm>
            <a:off x="430684" y="1845734"/>
            <a:ext cx="5478555" cy="4327105"/>
          </a:xfrm>
          <a:prstGeom prst="rect">
            <a:avLst/>
          </a:prstGeom>
        </p:spPr>
      </p:pic>
    </p:spTree>
    <p:extLst>
      <p:ext uri="{BB962C8B-B14F-4D97-AF65-F5344CB8AC3E}">
        <p14:creationId xmlns:p14="http://schemas.microsoft.com/office/powerpoint/2010/main" val="46564623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5D18A74-CA8C-464B-81F2-F17872F9A76C}"/>
              </a:ext>
            </a:extLst>
          </p:cNvPr>
          <p:cNvSpPr>
            <a:spLocks noGrp="1"/>
          </p:cNvSpPr>
          <p:nvPr>
            <p:ph type="title"/>
          </p:nvPr>
        </p:nvSpPr>
        <p:spPr/>
        <p:txBody>
          <a:bodyPr/>
          <a:lstStyle/>
          <a:p>
            <a:r>
              <a:rPr lang="es-ES" dirty="0"/>
              <a:t>Modelo GWR</a:t>
            </a:r>
            <a:endParaRPr lang="es-CO" dirty="0"/>
          </a:p>
        </p:txBody>
      </p:sp>
      <p:sp>
        <p:nvSpPr>
          <p:cNvPr id="3" name="Marcador de contenido 2">
            <a:extLst>
              <a:ext uri="{FF2B5EF4-FFF2-40B4-BE49-F238E27FC236}">
                <a16:creationId xmlns:a16="http://schemas.microsoft.com/office/drawing/2014/main" id="{40CC1DEC-339A-49C0-9093-0682D4650707}"/>
              </a:ext>
            </a:extLst>
          </p:cNvPr>
          <p:cNvSpPr>
            <a:spLocks noGrp="1"/>
          </p:cNvSpPr>
          <p:nvPr>
            <p:ph idx="1"/>
          </p:nvPr>
        </p:nvSpPr>
        <p:spPr/>
        <p:txBody>
          <a:bodyPr/>
          <a:lstStyle/>
          <a:p>
            <a:endParaRPr lang="es-CO" dirty="0"/>
          </a:p>
        </p:txBody>
      </p:sp>
      <p:pic>
        <p:nvPicPr>
          <p:cNvPr id="5" name="Imagen 4">
            <a:extLst>
              <a:ext uri="{FF2B5EF4-FFF2-40B4-BE49-F238E27FC236}">
                <a16:creationId xmlns:a16="http://schemas.microsoft.com/office/drawing/2014/main" id="{F24D6A93-0D40-4AE2-9EB1-CEA93D9B563C}"/>
              </a:ext>
            </a:extLst>
          </p:cNvPr>
          <p:cNvPicPr>
            <a:picLocks noChangeAspect="1"/>
          </p:cNvPicPr>
          <p:nvPr/>
        </p:nvPicPr>
        <p:blipFill>
          <a:blip r:embed="rId2"/>
          <a:stretch>
            <a:fillRect/>
          </a:stretch>
        </p:blipFill>
        <p:spPr>
          <a:xfrm>
            <a:off x="5159684" y="286602"/>
            <a:ext cx="6781363" cy="5897221"/>
          </a:xfrm>
          <a:prstGeom prst="rect">
            <a:avLst/>
          </a:prstGeom>
        </p:spPr>
      </p:pic>
    </p:spTree>
    <p:extLst>
      <p:ext uri="{BB962C8B-B14F-4D97-AF65-F5344CB8AC3E}">
        <p14:creationId xmlns:p14="http://schemas.microsoft.com/office/powerpoint/2010/main" val="1339121246"/>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7A3CA9C-7C10-4F66-9D77-1570A739CF78}"/>
              </a:ext>
            </a:extLst>
          </p:cNvPr>
          <p:cNvSpPr>
            <a:spLocks noGrp="1"/>
          </p:cNvSpPr>
          <p:nvPr>
            <p:ph type="title"/>
          </p:nvPr>
        </p:nvSpPr>
        <p:spPr/>
        <p:txBody>
          <a:bodyPr/>
          <a:lstStyle/>
          <a:p>
            <a:r>
              <a:rPr lang="es-CO" dirty="0"/>
              <a:t>Mapas de coeficientes locales (GWR)</a:t>
            </a:r>
          </a:p>
        </p:txBody>
      </p:sp>
      <p:sp>
        <p:nvSpPr>
          <p:cNvPr id="3" name="Marcador de contenido 2">
            <a:extLst>
              <a:ext uri="{FF2B5EF4-FFF2-40B4-BE49-F238E27FC236}">
                <a16:creationId xmlns:a16="http://schemas.microsoft.com/office/drawing/2014/main" id="{69C048C3-86B3-4B63-96B3-6C36AFF52465}"/>
              </a:ext>
            </a:extLst>
          </p:cNvPr>
          <p:cNvSpPr>
            <a:spLocks noGrp="1"/>
          </p:cNvSpPr>
          <p:nvPr>
            <p:ph idx="1"/>
          </p:nvPr>
        </p:nvSpPr>
        <p:spPr/>
        <p:txBody>
          <a:bodyPr/>
          <a:lstStyle/>
          <a:p>
            <a:endParaRPr lang="es-CO"/>
          </a:p>
        </p:txBody>
      </p:sp>
      <p:pic>
        <p:nvPicPr>
          <p:cNvPr id="5" name="Imagen 4">
            <a:extLst>
              <a:ext uri="{FF2B5EF4-FFF2-40B4-BE49-F238E27FC236}">
                <a16:creationId xmlns:a16="http://schemas.microsoft.com/office/drawing/2014/main" id="{C0373D72-DF60-4BF6-94D4-0EB9D73D6AF6}"/>
              </a:ext>
            </a:extLst>
          </p:cNvPr>
          <p:cNvPicPr>
            <a:picLocks noChangeAspect="1"/>
          </p:cNvPicPr>
          <p:nvPr/>
        </p:nvPicPr>
        <p:blipFill>
          <a:blip r:embed="rId3"/>
          <a:stretch>
            <a:fillRect/>
          </a:stretch>
        </p:blipFill>
        <p:spPr>
          <a:xfrm>
            <a:off x="446695" y="2499242"/>
            <a:ext cx="11359569" cy="3369852"/>
          </a:xfrm>
          <a:prstGeom prst="rect">
            <a:avLst/>
          </a:prstGeom>
        </p:spPr>
      </p:pic>
    </p:spTree>
    <p:extLst>
      <p:ext uri="{BB962C8B-B14F-4D97-AF65-F5344CB8AC3E}">
        <p14:creationId xmlns:p14="http://schemas.microsoft.com/office/powerpoint/2010/main" val="1255388604"/>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03A5DAE-1CDF-492E-AAC6-C8B13E80E032}"/>
              </a:ext>
            </a:extLst>
          </p:cNvPr>
          <p:cNvSpPr>
            <a:spLocks noGrp="1"/>
          </p:cNvSpPr>
          <p:nvPr>
            <p:ph type="title"/>
          </p:nvPr>
        </p:nvSpPr>
        <p:spPr/>
        <p:txBody>
          <a:bodyPr/>
          <a:lstStyle/>
          <a:p>
            <a:endParaRPr lang="es-CO"/>
          </a:p>
        </p:txBody>
      </p:sp>
      <p:sp>
        <p:nvSpPr>
          <p:cNvPr id="3" name="Marcador de contenido 2">
            <a:extLst>
              <a:ext uri="{FF2B5EF4-FFF2-40B4-BE49-F238E27FC236}">
                <a16:creationId xmlns:a16="http://schemas.microsoft.com/office/drawing/2014/main" id="{73C852BB-9B19-4C72-8A68-3460B6954798}"/>
              </a:ext>
            </a:extLst>
          </p:cNvPr>
          <p:cNvSpPr>
            <a:spLocks noGrp="1"/>
          </p:cNvSpPr>
          <p:nvPr>
            <p:ph idx="1"/>
          </p:nvPr>
        </p:nvSpPr>
        <p:spPr/>
        <p:txBody>
          <a:bodyPr/>
          <a:lstStyle/>
          <a:p>
            <a:endParaRPr lang="es-CO"/>
          </a:p>
        </p:txBody>
      </p:sp>
      <p:pic>
        <p:nvPicPr>
          <p:cNvPr id="5" name="Imagen 4">
            <a:extLst>
              <a:ext uri="{FF2B5EF4-FFF2-40B4-BE49-F238E27FC236}">
                <a16:creationId xmlns:a16="http://schemas.microsoft.com/office/drawing/2014/main" id="{D9F17DE2-E7B6-4536-8CE8-C4E68856BEA9}"/>
              </a:ext>
            </a:extLst>
          </p:cNvPr>
          <p:cNvPicPr>
            <a:picLocks noChangeAspect="1"/>
          </p:cNvPicPr>
          <p:nvPr/>
        </p:nvPicPr>
        <p:blipFill>
          <a:blip r:embed="rId2"/>
          <a:stretch>
            <a:fillRect/>
          </a:stretch>
        </p:blipFill>
        <p:spPr>
          <a:xfrm>
            <a:off x="3096925" y="0"/>
            <a:ext cx="5998150" cy="6858000"/>
          </a:xfrm>
          <a:prstGeom prst="rect">
            <a:avLst/>
          </a:prstGeom>
        </p:spPr>
      </p:pic>
    </p:spTree>
    <p:extLst>
      <p:ext uri="{BB962C8B-B14F-4D97-AF65-F5344CB8AC3E}">
        <p14:creationId xmlns:p14="http://schemas.microsoft.com/office/powerpoint/2010/main" val="891462719"/>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BA993F5-96BC-4870-9890-F2EC4316E632}"/>
              </a:ext>
            </a:extLst>
          </p:cNvPr>
          <p:cNvSpPr>
            <a:spLocks noGrp="1"/>
          </p:cNvSpPr>
          <p:nvPr>
            <p:ph type="title"/>
          </p:nvPr>
        </p:nvSpPr>
        <p:spPr/>
        <p:txBody>
          <a:bodyPr/>
          <a:lstStyle/>
          <a:p>
            <a:r>
              <a:rPr lang="es-ES" dirty="0"/>
              <a:t>Resumen Métricas de Desempeño por modelos</a:t>
            </a:r>
            <a:endParaRPr lang="es-CO" dirty="0"/>
          </a:p>
        </p:txBody>
      </p:sp>
      <p:graphicFrame>
        <p:nvGraphicFramePr>
          <p:cNvPr id="6" name="Marcador de contenido 5">
            <a:extLst>
              <a:ext uri="{FF2B5EF4-FFF2-40B4-BE49-F238E27FC236}">
                <a16:creationId xmlns:a16="http://schemas.microsoft.com/office/drawing/2014/main" id="{5362351E-DDD7-4C5B-9C2F-85911D9C8429}"/>
              </a:ext>
            </a:extLst>
          </p:cNvPr>
          <p:cNvGraphicFramePr>
            <a:graphicFrameLocks noGrp="1"/>
          </p:cNvGraphicFramePr>
          <p:nvPr>
            <p:ph idx="1"/>
            <p:extLst>
              <p:ext uri="{D42A27DB-BD31-4B8C-83A1-F6EECF244321}">
                <p14:modId xmlns:p14="http://schemas.microsoft.com/office/powerpoint/2010/main" val="528881861"/>
              </p:ext>
            </p:extLst>
          </p:nvPr>
        </p:nvGraphicFramePr>
        <p:xfrm>
          <a:off x="101601" y="1768858"/>
          <a:ext cx="12090400" cy="4304563"/>
        </p:xfrm>
        <a:graphic>
          <a:graphicData uri="http://schemas.openxmlformats.org/drawingml/2006/table">
            <a:tbl>
              <a:tblPr/>
              <a:tblGrid>
                <a:gridCol w="1727200">
                  <a:extLst>
                    <a:ext uri="{9D8B030D-6E8A-4147-A177-3AD203B41FA5}">
                      <a16:colId xmlns:a16="http://schemas.microsoft.com/office/drawing/2014/main" val="1594451175"/>
                    </a:ext>
                  </a:extLst>
                </a:gridCol>
                <a:gridCol w="1727200">
                  <a:extLst>
                    <a:ext uri="{9D8B030D-6E8A-4147-A177-3AD203B41FA5}">
                      <a16:colId xmlns:a16="http://schemas.microsoft.com/office/drawing/2014/main" val="2014137791"/>
                    </a:ext>
                  </a:extLst>
                </a:gridCol>
                <a:gridCol w="1727200">
                  <a:extLst>
                    <a:ext uri="{9D8B030D-6E8A-4147-A177-3AD203B41FA5}">
                      <a16:colId xmlns:a16="http://schemas.microsoft.com/office/drawing/2014/main" val="4117957108"/>
                    </a:ext>
                  </a:extLst>
                </a:gridCol>
                <a:gridCol w="1727200">
                  <a:extLst>
                    <a:ext uri="{9D8B030D-6E8A-4147-A177-3AD203B41FA5}">
                      <a16:colId xmlns:a16="http://schemas.microsoft.com/office/drawing/2014/main" val="1665019368"/>
                    </a:ext>
                  </a:extLst>
                </a:gridCol>
                <a:gridCol w="1049866">
                  <a:extLst>
                    <a:ext uri="{9D8B030D-6E8A-4147-A177-3AD203B41FA5}">
                      <a16:colId xmlns:a16="http://schemas.microsoft.com/office/drawing/2014/main" val="3807696675"/>
                    </a:ext>
                  </a:extLst>
                </a:gridCol>
                <a:gridCol w="1828800">
                  <a:extLst>
                    <a:ext uri="{9D8B030D-6E8A-4147-A177-3AD203B41FA5}">
                      <a16:colId xmlns:a16="http://schemas.microsoft.com/office/drawing/2014/main" val="3589826302"/>
                    </a:ext>
                  </a:extLst>
                </a:gridCol>
                <a:gridCol w="2302934">
                  <a:extLst>
                    <a:ext uri="{9D8B030D-6E8A-4147-A177-3AD203B41FA5}">
                      <a16:colId xmlns:a16="http://schemas.microsoft.com/office/drawing/2014/main" val="500366672"/>
                    </a:ext>
                  </a:extLst>
                </a:gridCol>
              </a:tblGrid>
              <a:tr h="400742">
                <a:tc>
                  <a:txBody>
                    <a:bodyPr/>
                    <a:lstStyle/>
                    <a:p>
                      <a:r>
                        <a:rPr lang="es-CO" sz="1600"/>
                        <a:t>Modelo</a:t>
                      </a:r>
                    </a:p>
                  </a:txBody>
                  <a:tcPr marL="53636" marR="53636" marT="26818" marB="26818" anchor="ctr">
                    <a:lnL>
                      <a:noFill/>
                    </a:lnL>
                    <a:lnR>
                      <a:noFill/>
                    </a:lnR>
                    <a:lnT>
                      <a:noFill/>
                    </a:lnT>
                    <a:lnB>
                      <a:noFill/>
                    </a:lnB>
                  </a:tcPr>
                </a:tc>
                <a:tc>
                  <a:txBody>
                    <a:bodyPr/>
                    <a:lstStyle/>
                    <a:p>
                      <a:r>
                        <a:rPr lang="es-CO" sz="1600"/>
                        <a:t>Tipo</a:t>
                      </a:r>
                    </a:p>
                  </a:txBody>
                  <a:tcPr marL="53636" marR="53636" marT="26818" marB="26818" anchor="ctr">
                    <a:lnL>
                      <a:noFill/>
                    </a:lnL>
                    <a:lnR>
                      <a:noFill/>
                    </a:lnR>
                    <a:lnT>
                      <a:noFill/>
                    </a:lnT>
                    <a:lnB>
                      <a:noFill/>
                    </a:lnB>
                  </a:tcPr>
                </a:tc>
                <a:tc>
                  <a:txBody>
                    <a:bodyPr/>
                    <a:lstStyle/>
                    <a:p>
                      <a:r>
                        <a:rPr lang="es-CO" sz="1600"/>
                        <a:t>AIC</a:t>
                      </a:r>
                    </a:p>
                  </a:txBody>
                  <a:tcPr marL="53636" marR="53636" marT="26818" marB="26818" anchor="ctr">
                    <a:lnL>
                      <a:noFill/>
                    </a:lnL>
                    <a:lnR>
                      <a:noFill/>
                    </a:lnR>
                    <a:lnT>
                      <a:noFill/>
                    </a:lnT>
                    <a:lnB>
                      <a:noFill/>
                    </a:lnB>
                  </a:tcPr>
                </a:tc>
                <a:tc>
                  <a:txBody>
                    <a:bodyPr/>
                    <a:lstStyle/>
                    <a:p>
                      <a:r>
                        <a:rPr lang="es-CO" sz="1600"/>
                        <a:t>R²</a:t>
                      </a:r>
                    </a:p>
                  </a:txBody>
                  <a:tcPr marL="53636" marR="53636" marT="26818" marB="26818" anchor="ctr">
                    <a:lnL>
                      <a:noFill/>
                    </a:lnL>
                    <a:lnR>
                      <a:noFill/>
                    </a:lnR>
                    <a:lnT>
                      <a:noFill/>
                    </a:lnT>
                    <a:lnB>
                      <a:noFill/>
                    </a:lnB>
                  </a:tcPr>
                </a:tc>
                <a:tc>
                  <a:txBody>
                    <a:bodyPr/>
                    <a:lstStyle/>
                    <a:p>
                      <a:r>
                        <a:rPr lang="es-CO" sz="1600"/>
                        <a:t>Accuracy</a:t>
                      </a:r>
                    </a:p>
                  </a:txBody>
                  <a:tcPr marL="53636" marR="53636" marT="26818" marB="26818" anchor="ctr">
                    <a:lnL>
                      <a:noFill/>
                    </a:lnL>
                    <a:lnR>
                      <a:noFill/>
                    </a:lnR>
                    <a:lnT>
                      <a:noFill/>
                    </a:lnT>
                    <a:lnB>
                      <a:noFill/>
                    </a:lnB>
                  </a:tcPr>
                </a:tc>
                <a:tc>
                  <a:txBody>
                    <a:bodyPr/>
                    <a:lstStyle/>
                    <a:p>
                      <a:r>
                        <a:rPr lang="es-CO" sz="1600"/>
                        <a:t>Moran's I residuos</a:t>
                      </a:r>
                    </a:p>
                  </a:txBody>
                  <a:tcPr marL="53636" marR="53636" marT="26818" marB="26818" anchor="ctr">
                    <a:lnL>
                      <a:noFill/>
                    </a:lnL>
                    <a:lnR>
                      <a:noFill/>
                    </a:lnR>
                    <a:lnT>
                      <a:noFill/>
                    </a:lnT>
                    <a:lnB>
                      <a:noFill/>
                    </a:lnB>
                  </a:tcPr>
                </a:tc>
                <a:tc>
                  <a:txBody>
                    <a:bodyPr/>
                    <a:lstStyle/>
                    <a:p>
                      <a:r>
                        <a:rPr lang="es-CO" sz="1600"/>
                        <a:t>Comentario clave</a:t>
                      </a:r>
                    </a:p>
                  </a:txBody>
                  <a:tcPr marL="53636" marR="53636" marT="26818" marB="26818" anchor="ctr">
                    <a:lnL>
                      <a:noFill/>
                    </a:lnL>
                    <a:lnR>
                      <a:noFill/>
                    </a:lnR>
                    <a:lnT>
                      <a:noFill/>
                    </a:lnT>
                    <a:lnB>
                      <a:noFill/>
                    </a:lnB>
                  </a:tcPr>
                </a:tc>
                <a:extLst>
                  <a:ext uri="{0D108BD9-81ED-4DB2-BD59-A6C34878D82A}">
                    <a16:rowId xmlns:a16="http://schemas.microsoft.com/office/drawing/2014/main" val="3614817950"/>
                  </a:ext>
                </a:extLst>
              </a:tr>
              <a:tr h="918954">
                <a:tc>
                  <a:txBody>
                    <a:bodyPr/>
                    <a:lstStyle/>
                    <a:p>
                      <a:r>
                        <a:rPr lang="es-CO" sz="1600" b="1"/>
                        <a:t>Logística</a:t>
                      </a:r>
                      <a:endParaRPr lang="es-CO" sz="1600"/>
                    </a:p>
                  </a:txBody>
                  <a:tcPr marL="53636" marR="53636" marT="26818" marB="26818" anchor="ctr">
                    <a:lnL>
                      <a:noFill/>
                    </a:lnL>
                    <a:lnR>
                      <a:noFill/>
                    </a:lnR>
                    <a:lnT>
                      <a:noFill/>
                    </a:lnT>
                    <a:lnB>
                      <a:noFill/>
                    </a:lnB>
                  </a:tcPr>
                </a:tc>
                <a:tc>
                  <a:txBody>
                    <a:bodyPr/>
                    <a:lstStyle/>
                    <a:p>
                      <a:r>
                        <a:rPr lang="es-CO" sz="1600" dirty="0"/>
                        <a:t>Clasificación</a:t>
                      </a:r>
                    </a:p>
                  </a:txBody>
                  <a:tcPr marL="53636" marR="53636" marT="26818" marB="26818" anchor="ctr">
                    <a:lnL>
                      <a:noFill/>
                    </a:lnL>
                    <a:lnR>
                      <a:noFill/>
                    </a:lnR>
                    <a:lnT>
                      <a:noFill/>
                    </a:lnT>
                    <a:lnB>
                      <a:noFill/>
                    </a:lnB>
                  </a:tcPr>
                </a:tc>
                <a:tc>
                  <a:txBody>
                    <a:bodyPr/>
                    <a:lstStyle/>
                    <a:p>
                      <a:r>
                        <a:rPr lang="es-CO" sz="1600" b="1"/>
                        <a:t>468</a:t>
                      </a:r>
                      <a:endParaRPr lang="es-CO" sz="1600"/>
                    </a:p>
                  </a:txBody>
                  <a:tcPr marL="53636" marR="53636" marT="26818" marB="26818" anchor="ctr">
                    <a:lnL>
                      <a:noFill/>
                    </a:lnL>
                    <a:lnR>
                      <a:noFill/>
                    </a:lnR>
                    <a:lnT>
                      <a:noFill/>
                    </a:lnT>
                    <a:lnB>
                      <a:noFill/>
                    </a:lnB>
                  </a:tcPr>
                </a:tc>
                <a:tc>
                  <a:txBody>
                    <a:bodyPr/>
                    <a:lstStyle/>
                    <a:p>
                      <a:r>
                        <a:rPr lang="es-CO" sz="1600"/>
                        <a:t>—</a:t>
                      </a:r>
                    </a:p>
                  </a:txBody>
                  <a:tcPr marL="53636" marR="53636" marT="26818" marB="26818" anchor="ctr">
                    <a:lnL>
                      <a:noFill/>
                    </a:lnL>
                    <a:lnR>
                      <a:noFill/>
                    </a:lnR>
                    <a:lnT>
                      <a:noFill/>
                    </a:lnT>
                    <a:lnB>
                      <a:noFill/>
                    </a:lnB>
                  </a:tcPr>
                </a:tc>
                <a:tc>
                  <a:txBody>
                    <a:bodyPr/>
                    <a:lstStyle/>
                    <a:p>
                      <a:r>
                        <a:rPr lang="es-CO" sz="1600" b="1"/>
                        <a:t>0.698</a:t>
                      </a:r>
                      <a:endParaRPr lang="es-CO" sz="1600"/>
                    </a:p>
                  </a:txBody>
                  <a:tcPr marL="53636" marR="53636" marT="26818" marB="26818" anchor="ctr">
                    <a:lnL>
                      <a:noFill/>
                    </a:lnL>
                    <a:lnR>
                      <a:noFill/>
                    </a:lnR>
                    <a:lnT>
                      <a:noFill/>
                    </a:lnT>
                    <a:lnB>
                      <a:noFill/>
                    </a:lnB>
                  </a:tcPr>
                </a:tc>
                <a:tc>
                  <a:txBody>
                    <a:bodyPr/>
                    <a:lstStyle/>
                    <a:p>
                      <a:r>
                        <a:rPr lang="es-CO" sz="1600"/>
                        <a:t>0.61 (significativo)</a:t>
                      </a:r>
                    </a:p>
                  </a:txBody>
                  <a:tcPr marL="53636" marR="53636" marT="26818" marB="26818" anchor="ctr">
                    <a:lnL>
                      <a:noFill/>
                    </a:lnL>
                    <a:lnR>
                      <a:noFill/>
                    </a:lnR>
                    <a:lnT>
                      <a:noFill/>
                    </a:lnT>
                    <a:lnB>
                      <a:noFill/>
                    </a:lnB>
                  </a:tcPr>
                </a:tc>
                <a:tc>
                  <a:txBody>
                    <a:bodyPr/>
                    <a:lstStyle/>
                    <a:p>
                      <a:r>
                        <a:rPr lang="es-ES" sz="1600" dirty="0"/>
                        <a:t>Mejor clasificación, pero residuos espaciales</a:t>
                      </a:r>
                    </a:p>
                  </a:txBody>
                  <a:tcPr marL="53636" marR="53636" marT="26818" marB="26818" anchor="ctr">
                    <a:lnL>
                      <a:noFill/>
                    </a:lnL>
                    <a:lnR>
                      <a:noFill/>
                    </a:lnR>
                    <a:lnT>
                      <a:noFill/>
                    </a:lnT>
                    <a:lnB>
                      <a:noFill/>
                    </a:lnB>
                  </a:tcPr>
                </a:tc>
                <a:extLst>
                  <a:ext uri="{0D108BD9-81ED-4DB2-BD59-A6C34878D82A}">
                    <a16:rowId xmlns:a16="http://schemas.microsoft.com/office/drawing/2014/main" val="3707520280"/>
                  </a:ext>
                </a:extLst>
              </a:tr>
              <a:tr h="918954">
                <a:tc>
                  <a:txBody>
                    <a:bodyPr/>
                    <a:lstStyle/>
                    <a:p>
                      <a:r>
                        <a:rPr lang="es-CO" sz="1600" b="1" dirty="0"/>
                        <a:t>SAR</a:t>
                      </a:r>
                      <a:endParaRPr lang="es-CO" sz="1600" dirty="0"/>
                    </a:p>
                  </a:txBody>
                  <a:tcPr marL="53636" marR="53636" marT="26818" marB="26818" anchor="ctr">
                    <a:lnL>
                      <a:noFill/>
                    </a:lnL>
                    <a:lnR>
                      <a:noFill/>
                    </a:lnR>
                    <a:lnT>
                      <a:noFill/>
                    </a:lnT>
                    <a:lnB>
                      <a:noFill/>
                    </a:lnB>
                  </a:tcPr>
                </a:tc>
                <a:tc>
                  <a:txBody>
                    <a:bodyPr/>
                    <a:lstStyle/>
                    <a:p>
                      <a:r>
                        <a:rPr lang="es-CO" sz="1600"/>
                        <a:t>Espacial</a:t>
                      </a:r>
                    </a:p>
                  </a:txBody>
                  <a:tcPr marL="53636" marR="53636" marT="26818" marB="26818" anchor="ctr">
                    <a:lnL>
                      <a:noFill/>
                    </a:lnL>
                    <a:lnR>
                      <a:noFill/>
                    </a:lnR>
                    <a:lnT>
                      <a:noFill/>
                    </a:lnT>
                    <a:lnB>
                      <a:noFill/>
                    </a:lnB>
                  </a:tcPr>
                </a:tc>
                <a:tc>
                  <a:txBody>
                    <a:bodyPr/>
                    <a:lstStyle/>
                    <a:p>
                      <a:r>
                        <a:rPr lang="es-CO" sz="1600"/>
                        <a:t>752</a:t>
                      </a:r>
                    </a:p>
                  </a:txBody>
                  <a:tcPr marL="53636" marR="53636" marT="26818" marB="26818" anchor="ctr">
                    <a:lnL>
                      <a:noFill/>
                    </a:lnL>
                    <a:lnR>
                      <a:noFill/>
                    </a:lnR>
                    <a:lnT>
                      <a:noFill/>
                    </a:lnT>
                    <a:lnB>
                      <a:noFill/>
                    </a:lnB>
                  </a:tcPr>
                </a:tc>
                <a:tc>
                  <a:txBody>
                    <a:bodyPr/>
                    <a:lstStyle/>
                    <a:p>
                      <a:r>
                        <a:rPr lang="es-CO" sz="1600" b="1" dirty="0"/>
                        <a:t>0.70</a:t>
                      </a:r>
                    </a:p>
                  </a:txBody>
                  <a:tcPr marL="53636" marR="53636" marT="26818" marB="26818" anchor="ctr">
                    <a:lnL>
                      <a:noFill/>
                    </a:lnL>
                    <a:lnR>
                      <a:noFill/>
                    </a:lnR>
                    <a:lnT>
                      <a:noFill/>
                    </a:lnT>
                    <a:lnB>
                      <a:noFill/>
                    </a:lnB>
                  </a:tcPr>
                </a:tc>
                <a:tc>
                  <a:txBody>
                    <a:bodyPr/>
                    <a:lstStyle/>
                    <a:p>
                      <a:r>
                        <a:rPr lang="es-CO" sz="1600"/>
                        <a:t>0.519</a:t>
                      </a:r>
                    </a:p>
                  </a:txBody>
                  <a:tcPr marL="53636" marR="53636" marT="26818" marB="26818" anchor="ctr">
                    <a:lnL>
                      <a:noFill/>
                    </a:lnL>
                    <a:lnR>
                      <a:noFill/>
                    </a:lnR>
                    <a:lnT>
                      <a:noFill/>
                    </a:lnT>
                    <a:lnB>
                      <a:noFill/>
                    </a:lnB>
                  </a:tcPr>
                </a:tc>
                <a:tc>
                  <a:txBody>
                    <a:bodyPr/>
                    <a:lstStyle/>
                    <a:p>
                      <a:r>
                        <a:rPr lang="es-CO" sz="1600" b="1"/>
                        <a:t>-0.065</a:t>
                      </a:r>
                      <a:r>
                        <a:rPr lang="es-CO" sz="1600"/>
                        <a:t> (ideal)</a:t>
                      </a:r>
                    </a:p>
                  </a:txBody>
                  <a:tcPr marL="53636" marR="53636" marT="26818" marB="26818" anchor="ctr">
                    <a:lnL>
                      <a:noFill/>
                    </a:lnL>
                    <a:lnR>
                      <a:noFill/>
                    </a:lnR>
                    <a:lnT>
                      <a:noFill/>
                    </a:lnT>
                    <a:lnB>
                      <a:noFill/>
                    </a:lnB>
                  </a:tcPr>
                </a:tc>
                <a:tc>
                  <a:txBody>
                    <a:bodyPr/>
                    <a:lstStyle/>
                    <a:p>
                      <a:r>
                        <a:rPr lang="es-CO" sz="1600" dirty="0"/>
                        <a:t>Ajuste espacial sólido, residuos limpios</a:t>
                      </a:r>
                    </a:p>
                  </a:txBody>
                  <a:tcPr marL="53636" marR="53636" marT="26818" marB="26818" anchor="ctr">
                    <a:lnL>
                      <a:noFill/>
                    </a:lnL>
                    <a:lnR>
                      <a:noFill/>
                    </a:lnR>
                    <a:lnT>
                      <a:noFill/>
                    </a:lnT>
                    <a:lnB>
                      <a:noFill/>
                    </a:lnB>
                  </a:tcPr>
                </a:tc>
                <a:extLst>
                  <a:ext uri="{0D108BD9-81ED-4DB2-BD59-A6C34878D82A}">
                    <a16:rowId xmlns:a16="http://schemas.microsoft.com/office/drawing/2014/main" val="4264112144"/>
                  </a:ext>
                </a:extLst>
              </a:tr>
              <a:tr h="400742">
                <a:tc>
                  <a:txBody>
                    <a:bodyPr/>
                    <a:lstStyle/>
                    <a:p>
                      <a:r>
                        <a:rPr lang="es-CO" sz="1600" b="1"/>
                        <a:t>CAR</a:t>
                      </a:r>
                      <a:endParaRPr lang="es-CO" sz="1600"/>
                    </a:p>
                  </a:txBody>
                  <a:tcPr marL="53636" marR="53636" marT="26818" marB="26818" anchor="ctr">
                    <a:lnL>
                      <a:noFill/>
                    </a:lnL>
                    <a:lnR>
                      <a:noFill/>
                    </a:lnR>
                    <a:lnT>
                      <a:noFill/>
                    </a:lnT>
                    <a:lnB>
                      <a:noFill/>
                    </a:lnB>
                  </a:tcPr>
                </a:tc>
                <a:tc>
                  <a:txBody>
                    <a:bodyPr/>
                    <a:lstStyle/>
                    <a:p>
                      <a:r>
                        <a:rPr lang="es-CO" sz="1600"/>
                        <a:t>Espacial</a:t>
                      </a:r>
                    </a:p>
                  </a:txBody>
                  <a:tcPr marL="53636" marR="53636" marT="26818" marB="26818" anchor="ctr">
                    <a:lnL>
                      <a:noFill/>
                    </a:lnL>
                    <a:lnR>
                      <a:noFill/>
                    </a:lnR>
                    <a:lnT>
                      <a:noFill/>
                    </a:lnT>
                    <a:lnB>
                      <a:noFill/>
                    </a:lnB>
                  </a:tcPr>
                </a:tc>
                <a:tc>
                  <a:txBody>
                    <a:bodyPr/>
                    <a:lstStyle/>
                    <a:p>
                      <a:r>
                        <a:rPr lang="es-CO" sz="1600"/>
                        <a:t>811</a:t>
                      </a:r>
                    </a:p>
                  </a:txBody>
                  <a:tcPr marL="53636" marR="53636" marT="26818" marB="26818" anchor="ctr">
                    <a:lnL>
                      <a:noFill/>
                    </a:lnL>
                    <a:lnR>
                      <a:noFill/>
                    </a:lnR>
                    <a:lnT>
                      <a:noFill/>
                    </a:lnT>
                    <a:lnB>
                      <a:noFill/>
                    </a:lnB>
                  </a:tcPr>
                </a:tc>
                <a:tc>
                  <a:txBody>
                    <a:bodyPr/>
                    <a:lstStyle/>
                    <a:p>
                      <a:r>
                        <a:rPr lang="es-CO" sz="1600"/>
                        <a:t>0.12</a:t>
                      </a:r>
                    </a:p>
                  </a:txBody>
                  <a:tcPr marL="53636" marR="53636" marT="26818" marB="26818" anchor="ctr">
                    <a:lnL>
                      <a:noFill/>
                    </a:lnL>
                    <a:lnR>
                      <a:noFill/>
                    </a:lnR>
                    <a:lnT>
                      <a:noFill/>
                    </a:lnT>
                    <a:lnB>
                      <a:noFill/>
                    </a:lnB>
                  </a:tcPr>
                </a:tc>
                <a:tc>
                  <a:txBody>
                    <a:bodyPr/>
                    <a:lstStyle/>
                    <a:p>
                      <a:r>
                        <a:rPr lang="es-CO" sz="1600"/>
                        <a:t>0.616</a:t>
                      </a:r>
                    </a:p>
                  </a:txBody>
                  <a:tcPr marL="53636" marR="53636" marT="26818" marB="26818" anchor="ctr">
                    <a:lnL>
                      <a:noFill/>
                    </a:lnL>
                    <a:lnR>
                      <a:noFill/>
                    </a:lnR>
                    <a:lnT>
                      <a:noFill/>
                    </a:lnT>
                    <a:lnB>
                      <a:noFill/>
                    </a:lnB>
                  </a:tcPr>
                </a:tc>
                <a:tc>
                  <a:txBody>
                    <a:bodyPr/>
                    <a:lstStyle/>
                    <a:p>
                      <a:r>
                        <a:rPr lang="es-CO" sz="1600"/>
                        <a:t>0.68 (alta autocorr)</a:t>
                      </a:r>
                    </a:p>
                  </a:txBody>
                  <a:tcPr marL="53636" marR="53636" marT="26818" marB="26818" anchor="ctr">
                    <a:lnL>
                      <a:noFill/>
                    </a:lnL>
                    <a:lnR>
                      <a:noFill/>
                    </a:lnR>
                    <a:lnT>
                      <a:noFill/>
                    </a:lnT>
                    <a:lnB>
                      <a:noFill/>
                    </a:lnB>
                  </a:tcPr>
                </a:tc>
                <a:tc>
                  <a:txBody>
                    <a:bodyPr/>
                    <a:lstStyle/>
                    <a:p>
                      <a:r>
                        <a:rPr lang="es-CO" sz="1600"/>
                        <a:t>Modelo mal ajustado</a:t>
                      </a:r>
                    </a:p>
                  </a:txBody>
                  <a:tcPr marL="53636" marR="53636" marT="26818" marB="26818" anchor="ctr">
                    <a:lnL>
                      <a:noFill/>
                    </a:lnL>
                    <a:lnR>
                      <a:noFill/>
                    </a:lnR>
                    <a:lnT>
                      <a:noFill/>
                    </a:lnT>
                    <a:lnB>
                      <a:noFill/>
                    </a:lnB>
                  </a:tcPr>
                </a:tc>
                <a:extLst>
                  <a:ext uri="{0D108BD9-81ED-4DB2-BD59-A6C34878D82A}">
                    <a16:rowId xmlns:a16="http://schemas.microsoft.com/office/drawing/2014/main" val="2769249922"/>
                  </a:ext>
                </a:extLst>
              </a:tr>
              <a:tr h="573479">
                <a:tc>
                  <a:txBody>
                    <a:bodyPr/>
                    <a:lstStyle/>
                    <a:p>
                      <a:r>
                        <a:rPr lang="es-CO" sz="1600" b="1" dirty="0"/>
                        <a:t>OLS</a:t>
                      </a:r>
                      <a:endParaRPr lang="es-CO" sz="1600" dirty="0"/>
                    </a:p>
                  </a:txBody>
                  <a:tcPr marL="53636" marR="53636" marT="26818" marB="26818" anchor="ctr">
                    <a:lnL>
                      <a:noFill/>
                    </a:lnL>
                    <a:lnR>
                      <a:noFill/>
                    </a:lnR>
                    <a:lnT>
                      <a:noFill/>
                    </a:lnT>
                    <a:lnB>
                      <a:noFill/>
                    </a:lnB>
                  </a:tcPr>
                </a:tc>
                <a:tc>
                  <a:txBody>
                    <a:bodyPr/>
                    <a:lstStyle/>
                    <a:p>
                      <a:r>
                        <a:rPr lang="es-CO" sz="1600" dirty="0"/>
                        <a:t>Lineal</a:t>
                      </a:r>
                    </a:p>
                  </a:txBody>
                  <a:tcPr marL="53636" marR="53636" marT="26818" marB="26818" anchor="ctr">
                    <a:lnL>
                      <a:noFill/>
                    </a:lnL>
                    <a:lnR>
                      <a:noFill/>
                    </a:lnR>
                    <a:lnT>
                      <a:noFill/>
                    </a:lnT>
                    <a:lnB>
                      <a:noFill/>
                    </a:lnB>
                  </a:tcPr>
                </a:tc>
                <a:tc>
                  <a:txBody>
                    <a:bodyPr/>
                    <a:lstStyle/>
                    <a:p>
                      <a:r>
                        <a:rPr lang="es-CO" sz="1600"/>
                        <a:t>2486</a:t>
                      </a:r>
                    </a:p>
                  </a:txBody>
                  <a:tcPr marL="53636" marR="53636" marT="26818" marB="26818" anchor="ctr">
                    <a:lnL>
                      <a:noFill/>
                    </a:lnL>
                    <a:lnR>
                      <a:noFill/>
                    </a:lnR>
                    <a:lnT>
                      <a:noFill/>
                    </a:lnT>
                    <a:lnB>
                      <a:noFill/>
                    </a:lnB>
                  </a:tcPr>
                </a:tc>
                <a:tc>
                  <a:txBody>
                    <a:bodyPr/>
                    <a:lstStyle/>
                    <a:p>
                      <a:r>
                        <a:rPr lang="es-CO" sz="1600"/>
                        <a:t>0.12</a:t>
                      </a:r>
                    </a:p>
                  </a:txBody>
                  <a:tcPr marL="53636" marR="53636" marT="26818" marB="26818" anchor="ctr">
                    <a:lnL>
                      <a:noFill/>
                    </a:lnL>
                    <a:lnR>
                      <a:noFill/>
                    </a:lnR>
                    <a:lnT>
                      <a:noFill/>
                    </a:lnT>
                    <a:lnB>
                      <a:noFill/>
                    </a:lnB>
                  </a:tcPr>
                </a:tc>
                <a:tc>
                  <a:txBody>
                    <a:bodyPr/>
                    <a:lstStyle/>
                    <a:p>
                      <a:r>
                        <a:rPr lang="es-CO" sz="1600"/>
                        <a:t>—</a:t>
                      </a:r>
                    </a:p>
                  </a:txBody>
                  <a:tcPr marL="53636" marR="53636" marT="26818" marB="26818" anchor="ctr">
                    <a:lnL>
                      <a:noFill/>
                    </a:lnL>
                    <a:lnR>
                      <a:noFill/>
                    </a:lnR>
                    <a:lnT>
                      <a:noFill/>
                    </a:lnT>
                    <a:lnB>
                      <a:noFill/>
                    </a:lnB>
                  </a:tcPr>
                </a:tc>
                <a:tc>
                  <a:txBody>
                    <a:bodyPr/>
                    <a:lstStyle/>
                    <a:p>
                      <a:r>
                        <a:rPr lang="es-CO" sz="1600"/>
                        <a:t>0.61 (significativo)</a:t>
                      </a:r>
                    </a:p>
                  </a:txBody>
                  <a:tcPr marL="53636" marR="53636" marT="26818" marB="26818" anchor="ctr">
                    <a:lnL>
                      <a:noFill/>
                    </a:lnL>
                    <a:lnR>
                      <a:noFill/>
                    </a:lnR>
                    <a:lnT>
                      <a:noFill/>
                    </a:lnT>
                    <a:lnB>
                      <a:noFill/>
                    </a:lnB>
                  </a:tcPr>
                </a:tc>
                <a:tc>
                  <a:txBody>
                    <a:bodyPr/>
                    <a:lstStyle/>
                    <a:p>
                      <a:r>
                        <a:rPr lang="es-CO" sz="1600"/>
                        <a:t>Mala especificación espacial</a:t>
                      </a:r>
                    </a:p>
                  </a:txBody>
                  <a:tcPr marL="53636" marR="53636" marT="26818" marB="26818" anchor="ctr">
                    <a:lnL>
                      <a:noFill/>
                    </a:lnL>
                    <a:lnR>
                      <a:noFill/>
                    </a:lnR>
                    <a:lnT>
                      <a:noFill/>
                    </a:lnT>
                    <a:lnB>
                      <a:noFill/>
                    </a:lnB>
                  </a:tcPr>
                </a:tc>
                <a:extLst>
                  <a:ext uri="{0D108BD9-81ED-4DB2-BD59-A6C34878D82A}">
                    <a16:rowId xmlns:a16="http://schemas.microsoft.com/office/drawing/2014/main" val="489938911"/>
                  </a:ext>
                </a:extLst>
              </a:tr>
              <a:tr h="1091692">
                <a:tc>
                  <a:txBody>
                    <a:bodyPr/>
                    <a:lstStyle/>
                    <a:p>
                      <a:r>
                        <a:rPr lang="es-CO" sz="1600" b="1" dirty="0"/>
                        <a:t>GWR</a:t>
                      </a:r>
                      <a:endParaRPr lang="es-CO" sz="1600" dirty="0"/>
                    </a:p>
                  </a:txBody>
                  <a:tcPr marL="53636" marR="53636" marT="26818" marB="26818" anchor="ctr">
                    <a:lnL>
                      <a:noFill/>
                    </a:lnL>
                    <a:lnR>
                      <a:noFill/>
                    </a:lnR>
                    <a:lnT>
                      <a:noFill/>
                    </a:lnT>
                    <a:lnB>
                      <a:noFill/>
                    </a:lnB>
                  </a:tcPr>
                </a:tc>
                <a:tc>
                  <a:txBody>
                    <a:bodyPr/>
                    <a:lstStyle/>
                    <a:p>
                      <a:r>
                        <a:rPr lang="es-CO" sz="1600"/>
                        <a:t>Local</a:t>
                      </a:r>
                    </a:p>
                  </a:txBody>
                  <a:tcPr marL="53636" marR="53636" marT="26818" marB="26818" anchor="ctr">
                    <a:lnL>
                      <a:noFill/>
                    </a:lnL>
                    <a:lnR>
                      <a:noFill/>
                    </a:lnR>
                    <a:lnT>
                      <a:noFill/>
                    </a:lnT>
                    <a:lnB>
                      <a:noFill/>
                    </a:lnB>
                  </a:tcPr>
                </a:tc>
                <a:tc>
                  <a:txBody>
                    <a:bodyPr/>
                    <a:lstStyle/>
                    <a:p>
                      <a:r>
                        <a:rPr lang="es-CO" sz="1600"/>
                        <a:t>2486.1</a:t>
                      </a:r>
                    </a:p>
                  </a:txBody>
                  <a:tcPr marL="53636" marR="53636" marT="26818" marB="26818" anchor="ctr">
                    <a:lnL>
                      <a:noFill/>
                    </a:lnL>
                    <a:lnR>
                      <a:noFill/>
                    </a:lnR>
                    <a:lnT>
                      <a:noFill/>
                    </a:lnT>
                    <a:lnB>
                      <a:noFill/>
                    </a:lnB>
                  </a:tcPr>
                </a:tc>
                <a:tc>
                  <a:txBody>
                    <a:bodyPr/>
                    <a:lstStyle/>
                    <a:p>
                      <a:r>
                        <a:rPr lang="es-CO" sz="1600"/>
                        <a:t>0.126</a:t>
                      </a:r>
                    </a:p>
                  </a:txBody>
                  <a:tcPr marL="53636" marR="53636" marT="26818" marB="26818" anchor="ctr">
                    <a:lnL>
                      <a:noFill/>
                    </a:lnL>
                    <a:lnR>
                      <a:noFill/>
                    </a:lnR>
                    <a:lnT>
                      <a:noFill/>
                    </a:lnT>
                    <a:lnB>
                      <a:noFill/>
                    </a:lnB>
                  </a:tcPr>
                </a:tc>
                <a:tc>
                  <a:txBody>
                    <a:bodyPr/>
                    <a:lstStyle/>
                    <a:p>
                      <a:r>
                        <a:rPr lang="es-CO" sz="1600"/>
                        <a:t>—</a:t>
                      </a:r>
                    </a:p>
                  </a:txBody>
                  <a:tcPr marL="53636" marR="53636" marT="26818" marB="26818" anchor="ctr">
                    <a:lnL>
                      <a:noFill/>
                    </a:lnL>
                    <a:lnR>
                      <a:noFill/>
                    </a:lnR>
                    <a:lnT>
                      <a:noFill/>
                    </a:lnT>
                    <a:lnB>
                      <a:noFill/>
                    </a:lnB>
                  </a:tcPr>
                </a:tc>
                <a:tc>
                  <a:txBody>
                    <a:bodyPr/>
                    <a:lstStyle/>
                    <a:p>
                      <a:r>
                        <a:rPr lang="es-CO" sz="1600"/>
                        <a:t>No evaluado</a:t>
                      </a:r>
                    </a:p>
                  </a:txBody>
                  <a:tcPr marL="53636" marR="53636" marT="26818" marB="26818" anchor="ctr">
                    <a:lnL>
                      <a:noFill/>
                    </a:lnL>
                    <a:lnR>
                      <a:noFill/>
                    </a:lnR>
                    <a:lnT>
                      <a:noFill/>
                    </a:lnT>
                    <a:lnB>
                      <a:noFill/>
                    </a:lnB>
                  </a:tcPr>
                </a:tc>
                <a:tc>
                  <a:txBody>
                    <a:bodyPr/>
                    <a:lstStyle/>
                    <a:p>
                      <a:r>
                        <a:rPr lang="es-ES" sz="1600" dirty="0"/>
                        <a:t>Captura variación espacial local, pero débil R² global</a:t>
                      </a:r>
                    </a:p>
                  </a:txBody>
                  <a:tcPr marL="53636" marR="53636" marT="26818" marB="26818" anchor="ctr">
                    <a:lnL>
                      <a:noFill/>
                    </a:lnL>
                    <a:lnR>
                      <a:noFill/>
                    </a:lnR>
                    <a:lnT>
                      <a:noFill/>
                    </a:lnT>
                    <a:lnB>
                      <a:noFill/>
                    </a:lnB>
                  </a:tcPr>
                </a:tc>
                <a:extLst>
                  <a:ext uri="{0D108BD9-81ED-4DB2-BD59-A6C34878D82A}">
                    <a16:rowId xmlns:a16="http://schemas.microsoft.com/office/drawing/2014/main" val="3506550048"/>
                  </a:ext>
                </a:extLst>
              </a:tr>
            </a:tbl>
          </a:graphicData>
        </a:graphic>
      </p:graphicFrame>
    </p:spTree>
    <p:extLst>
      <p:ext uri="{BB962C8B-B14F-4D97-AF65-F5344CB8AC3E}">
        <p14:creationId xmlns:p14="http://schemas.microsoft.com/office/powerpoint/2010/main" val="3361278224"/>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E027588-8DFC-4D4E-BBB2-749E45BB90C1}"/>
              </a:ext>
            </a:extLst>
          </p:cNvPr>
          <p:cNvSpPr>
            <a:spLocks noGrp="1"/>
          </p:cNvSpPr>
          <p:nvPr>
            <p:ph type="title"/>
          </p:nvPr>
        </p:nvSpPr>
        <p:spPr/>
        <p:txBody>
          <a:bodyPr/>
          <a:lstStyle/>
          <a:p>
            <a:endParaRPr lang="es-CO"/>
          </a:p>
        </p:txBody>
      </p:sp>
      <p:sp>
        <p:nvSpPr>
          <p:cNvPr id="3" name="Marcador de contenido 2">
            <a:extLst>
              <a:ext uri="{FF2B5EF4-FFF2-40B4-BE49-F238E27FC236}">
                <a16:creationId xmlns:a16="http://schemas.microsoft.com/office/drawing/2014/main" id="{DB3394C3-3624-49FE-B89C-B6DD6C9CCDFD}"/>
              </a:ext>
            </a:extLst>
          </p:cNvPr>
          <p:cNvSpPr>
            <a:spLocks noGrp="1"/>
          </p:cNvSpPr>
          <p:nvPr>
            <p:ph idx="1"/>
          </p:nvPr>
        </p:nvSpPr>
        <p:spPr/>
        <p:txBody>
          <a:bodyPr/>
          <a:lstStyle/>
          <a:p>
            <a:endParaRPr lang="es-CO"/>
          </a:p>
        </p:txBody>
      </p:sp>
      <p:pic>
        <p:nvPicPr>
          <p:cNvPr id="5" name="Imagen 4">
            <a:extLst>
              <a:ext uri="{FF2B5EF4-FFF2-40B4-BE49-F238E27FC236}">
                <a16:creationId xmlns:a16="http://schemas.microsoft.com/office/drawing/2014/main" id="{4F70A3B3-6BAD-4F8A-8F8B-9EEE34C05827}"/>
              </a:ext>
            </a:extLst>
          </p:cNvPr>
          <p:cNvPicPr>
            <a:picLocks noChangeAspect="1"/>
          </p:cNvPicPr>
          <p:nvPr/>
        </p:nvPicPr>
        <p:blipFill>
          <a:blip r:embed="rId2"/>
          <a:stretch>
            <a:fillRect/>
          </a:stretch>
        </p:blipFill>
        <p:spPr>
          <a:xfrm>
            <a:off x="3067191" y="286603"/>
            <a:ext cx="5824520" cy="5869095"/>
          </a:xfrm>
          <a:prstGeom prst="rect">
            <a:avLst/>
          </a:prstGeom>
        </p:spPr>
      </p:pic>
      <p:pic>
        <p:nvPicPr>
          <p:cNvPr id="11" name="Imagen 10">
            <a:extLst>
              <a:ext uri="{FF2B5EF4-FFF2-40B4-BE49-F238E27FC236}">
                <a16:creationId xmlns:a16="http://schemas.microsoft.com/office/drawing/2014/main" id="{DA325A89-FB74-4C6A-B25E-6095268459DF}"/>
              </a:ext>
            </a:extLst>
          </p:cNvPr>
          <p:cNvPicPr>
            <a:picLocks noChangeAspect="1"/>
          </p:cNvPicPr>
          <p:nvPr/>
        </p:nvPicPr>
        <p:blipFill>
          <a:blip r:embed="rId3"/>
          <a:stretch>
            <a:fillRect/>
          </a:stretch>
        </p:blipFill>
        <p:spPr>
          <a:xfrm>
            <a:off x="2767595" y="0"/>
            <a:ext cx="6656809" cy="6858000"/>
          </a:xfrm>
          <a:prstGeom prst="rect">
            <a:avLst/>
          </a:prstGeom>
        </p:spPr>
      </p:pic>
    </p:spTree>
    <p:extLst>
      <p:ext uri="{BB962C8B-B14F-4D97-AF65-F5344CB8AC3E}">
        <p14:creationId xmlns:p14="http://schemas.microsoft.com/office/powerpoint/2010/main" val="1243660839"/>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0B620EA-A637-4924-8E0C-973AE9334879}"/>
              </a:ext>
            </a:extLst>
          </p:cNvPr>
          <p:cNvSpPr>
            <a:spLocks noGrp="1"/>
          </p:cNvSpPr>
          <p:nvPr>
            <p:ph type="title"/>
          </p:nvPr>
        </p:nvSpPr>
        <p:spPr/>
        <p:txBody>
          <a:bodyPr/>
          <a:lstStyle/>
          <a:p>
            <a:r>
              <a:rPr lang="es-ES" dirty="0"/>
              <a:t>SAR solo Moho</a:t>
            </a:r>
            <a:endParaRPr lang="es-CO" dirty="0"/>
          </a:p>
        </p:txBody>
      </p:sp>
      <p:sp>
        <p:nvSpPr>
          <p:cNvPr id="3" name="Marcador de contenido 2">
            <a:extLst>
              <a:ext uri="{FF2B5EF4-FFF2-40B4-BE49-F238E27FC236}">
                <a16:creationId xmlns:a16="http://schemas.microsoft.com/office/drawing/2014/main" id="{4193EEB1-2469-4432-9D5A-3DB5F9742928}"/>
              </a:ext>
            </a:extLst>
          </p:cNvPr>
          <p:cNvSpPr>
            <a:spLocks noGrp="1"/>
          </p:cNvSpPr>
          <p:nvPr>
            <p:ph idx="1"/>
          </p:nvPr>
        </p:nvSpPr>
        <p:spPr/>
        <p:txBody>
          <a:bodyPr/>
          <a:lstStyle/>
          <a:p>
            <a:endParaRPr lang="es-CO"/>
          </a:p>
        </p:txBody>
      </p:sp>
      <p:pic>
        <p:nvPicPr>
          <p:cNvPr id="5" name="Imagen 4">
            <a:extLst>
              <a:ext uri="{FF2B5EF4-FFF2-40B4-BE49-F238E27FC236}">
                <a16:creationId xmlns:a16="http://schemas.microsoft.com/office/drawing/2014/main" id="{4F474A0B-4C95-460E-B1AA-DD9726B5FFAD}"/>
              </a:ext>
            </a:extLst>
          </p:cNvPr>
          <p:cNvPicPr>
            <a:picLocks noChangeAspect="1"/>
          </p:cNvPicPr>
          <p:nvPr/>
        </p:nvPicPr>
        <p:blipFill>
          <a:blip r:embed="rId2"/>
          <a:stretch>
            <a:fillRect/>
          </a:stretch>
        </p:blipFill>
        <p:spPr>
          <a:xfrm>
            <a:off x="5208421" y="0"/>
            <a:ext cx="6983579" cy="6858000"/>
          </a:xfrm>
          <a:prstGeom prst="rect">
            <a:avLst/>
          </a:prstGeom>
        </p:spPr>
      </p:pic>
      <p:pic>
        <p:nvPicPr>
          <p:cNvPr id="7" name="Imagen 6">
            <a:extLst>
              <a:ext uri="{FF2B5EF4-FFF2-40B4-BE49-F238E27FC236}">
                <a16:creationId xmlns:a16="http://schemas.microsoft.com/office/drawing/2014/main" id="{26410CA5-7655-4EB5-B28A-4BE171070D41}"/>
              </a:ext>
            </a:extLst>
          </p:cNvPr>
          <p:cNvPicPr>
            <a:picLocks noChangeAspect="1"/>
          </p:cNvPicPr>
          <p:nvPr/>
        </p:nvPicPr>
        <p:blipFill>
          <a:blip r:embed="rId3"/>
          <a:stretch>
            <a:fillRect/>
          </a:stretch>
        </p:blipFill>
        <p:spPr>
          <a:xfrm>
            <a:off x="95953" y="2055813"/>
            <a:ext cx="5112468" cy="3920840"/>
          </a:xfrm>
          <a:prstGeom prst="rect">
            <a:avLst/>
          </a:prstGeom>
        </p:spPr>
      </p:pic>
    </p:spTree>
    <p:extLst>
      <p:ext uri="{BB962C8B-B14F-4D97-AF65-F5344CB8AC3E}">
        <p14:creationId xmlns:p14="http://schemas.microsoft.com/office/powerpoint/2010/main" val="409896790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BD1E5B2E-E358-4DB1-B627-359FB9227948}"/>
              </a:ext>
            </a:extLst>
          </p:cNvPr>
          <p:cNvSpPr>
            <a:spLocks noGrp="1"/>
          </p:cNvSpPr>
          <p:nvPr>
            <p:ph type="title"/>
          </p:nvPr>
        </p:nvSpPr>
        <p:spPr/>
        <p:txBody>
          <a:bodyPr/>
          <a:lstStyle/>
          <a:p>
            <a:r>
              <a:rPr lang="es-ES" dirty="0"/>
              <a:t>Conclusiones</a:t>
            </a:r>
            <a:br>
              <a:rPr lang="es-CO" dirty="0"/>
            </a:br>
            <a:endParaRPr lang="es-CO" dirty="0"/>
          </a:p>
        </p:txBody>
      </p:sp>
      <p:sp>
        <p:nvSpPr>
          <p:cNvPr id="3" name="Marcador de contenido 2">
            <a:extLst>
              <a:ext uri="{FF2B5EF4-FFF2-40B4-BE49-F238E27FC236}">
                <a16:creationId xmlns:a16="http://schemas.microsoft.com/office/drawing/2014/main" id="{489DE5DA-2351-4054-BC4D-7EFDC955CD91}"/>
              </a:ext>
            </a:extLst>
          </p:cNvPr>
          <p:cNvSpPr>
            <a:spLocks noGrp="1"/>
          </p:cNvSpPr>
          <p:nvPr>
            <p:ph idx="1"/>
          </p:nvPr>
        </p:nvSpPr>
        <p:spPr/>
        <p:txBody>
          <a:bodyPr>
            <a:normAutofit fontScale="92500" lnSpcReduction="20000"/>
          </a:bodyPr>
          <a:lstStyle/>
          <a:p>
            <a:r>
              <a:rPr lang="es-ES" dirty="0"/>
              <a:t>1. El gradiente geotérmico es el predictor más relevante, mostrando un fuerte efecto negativo sobre la probabilidad de ocurrencia de depósitos. Su influencia fue consistente en todos los modelos aplicados. Esto lo posiciona como variable clave para delimitar zonas desfavorables.</a:t>
            </a:r>
          </a:p>
          <a:p>
            <a:r>
              <a:rPr lang="es-ES" dirty="0"/>
              <a:t>2. La profundidad del Moho (Z) se relaciona positivamente con la mineralización, aunque con menor magnitud. Su efecto varía espacialmente, lo que indica que no opera de forma homogénea en todo el territorio.</a:t>
            </a:r>
          </a:p>
          <a:p>
            <a:r>
              <a:rPr lang="es-ES" dirty="0"/>
              <a:t>3.Los modelos espaciales (SAR, CAR, GWR) mejoran el ajuste respecto a OLS, corrigiendo autocorrelación residual y capturando estructuras espaciales. Esto los hace más adecuados para fenómenos geológicos distribuidos en el espacio.</a:t>
            </a:r>
          </a:p>
          <a:p>
            <a:r>
              <a:rPr lang="es-ES" dirty="0"/>
              <a:t>4. La regresión logística tuvo precisión aceptable (69 %), pero bajo </a:t>
            </a:r>
            <a:r>
              <a:rPr lang="es-ES" dirty="0" err="1"/>
              <a:t>recall</a:t>
            </a:r>
            <a:r>
              <a:rPr lang="es-ES" dirty="0"/>
              <a:t> para la clase de interés (42 %). Esto sugiere limitaciones para identificar correctamente los depósitos reales, con riesgo de omisión.</a:t>
            </a:r>
          </a:p>
          <a:p>
            <a:r>
              <a:rPr lang="es-ES" dirty="0"/>
              <a:t>5.Los coeficientes locales del modelo GWR revelan patrones geográficos útiles, mostrando cómo cambia la influencia de cada variable en el espacio. Esto permite focalizar zonas con mayor potencial exploratorio.</a:t>
            </a:r>
            <a:endParaRPr lang="es-CO" dirty="0"/>
          </a:p>
        </p:txBody>
      </p:sp>
    </p:spTree>
    <p:extLst>
      <p:ext uri="{BB962C8B-B14F-4D97-AF65-F5344CB8AC3E}">
        <p14:creationId xmlns:p14="http://schemas.microsoft.com/office/powerpoint/2010/main" val="461314684"/>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B7D1CB3B-278C-42B1-8027-C3264F08C428}"/>
              </a:ext>
            </a:extLst>
          </p:cNvPr>
          <p:cNvSpPr>
            <a:spLocks noGrp="1"/>
          </p:cNvSpPr>
          <p:nvPr>
            <p:ph type="title"/>
          </p:nvPr>
        </p:nvSpPr>
        <p:spPr/>
        <p:txBody>
          <a:bodyPr/>
          <a:lstStyle/>
          <a:p>
            <a:r>
              <a:rPr lang="es-ES" dirty="0"/>
              <a:t>Próximas modificaciones.</a:t>
            </a:r>
            <a:endParaRPr lang="es-CO" dirty="0"/>
          </a:p>
        </p:txBody>
      </p:sp>
      <p:sp>
        <p:nvSpPr>
          <p:cNvPr id="3" name="Marcador de contenido 2">
            <a:extLst>
              <a:ext uri="{FF2B5EF4-FFF2-40B4-BE49-F238E27FC236}">
                <a16:creationId xmlns:a16="http://schemas.microsoft.com/office/drawing/2014/main" id="{91631C9A-BCBB-4B69-82AD-516C1195E7AB}"/>
              </a:ext>
            </a:extLst>
          </p:cNvPr>
          <p:cNvSpPr>
            <a:spLocks noGrp="1"/>
          </p:cNvSpPr>
          <p:nvPr>
            <p:ph idx="1"/>
          </p:nvPr>
        </p:nvSpPr>
        <p:spPr/>
        <p:txBody>
          <a:bodyPr/>
          <a:lstStyle/>
          <a:p>
            <a:pPr marL="457200" indent="-457200">
              <a:buFont typeface="+mj-lt"/>
              <a:buAutoNum type="arabicPeriod"/>
            </a:pPr>
            <a:r>
              <a:rPr lang="es-ES" dirty="0"/>
              <a:t>Evaluar la persistencia de la variable Gradiente Geotérmico en el modelo. </a:t>
            </a:r>
          </a:p>
          <a:p>
            <a:pPr marL="457200" indent="-457200">
              <a:buFont typeface="+mj-lt"/>
              <a:buAutoNum type="arabicPeriod"/>
            </a:pPr>
            <a:r>
              <a:rPr lang="es-ES" dirty="0"/>
              <a:t>Añadir otros elementos dentro de sus covariables. </a:t>
            </a:r>
          </a:p>
          <a:p>
            <a:pPr marL="457200" indent="-457200">
              <a:buFont typeface="+mj-lt"/>
              <a:buAutoNum type="arabicPeriod"/>
            </a:pPr>
            <a:r>
              <a:rPr lang="es-ES" dirty="0"/>
              <a:t>Buscar la variable de anomalía magnetométrica y/o gravimétrica</a:t>
            </a:r>
            <a:endParaRPr lang="es-CO" dirty="0"/>
          </a:p>
        </p:txBody>
      </p:sp>
    </p:spTree>
    <p:extLst>
      <p:ext uri="{BB962C8B-B14F-4D97-AF65-F5344CB8AC3E}">
        <p14:creationId xmlns:p14="http://schemas.microsoft.com/office/powerpoint/2010/main" val="2653920512"/>
      </p:ext>
    </p:extLst>
  </p:cSld>
  <p:clrMapOvr>
    <a:masterClrMapping/>
  </p:clrMapOvr>
</p:sld>
</file>

<file path=ppt/theme/theme1.xml><?xml version="1.0" encoding="utf-8"?>
<a:theme xmlns:a="http://schemas.openxmlformats.org/drawingml/2006/main" name="Retrospección">
  <a:themeElements>
    <a:clrScheme name="Retrospección">
      <a:dk1>
        <a:srgbClr val="000000"/>
      </a:dk1>
      <a:lt1>
        <a:sysClr val="window" lastClr="FFFFFF"/>
      </a:lt1>
      <a:dk2>
        <a:srgbClr val="637052"/>
      </a:dk2>
      <a:lt2>
        <a:srgbClr val="CCDDEA"/>
      </a:lt2>
      <a:accent1>
        <a:srgbClr val="E48312"/>
      </a:accent1>
      <a:accent2>
        <a:srgbClr val="BD582C"/>
      </a:accent2>
      <a:accent3>
        <a:srgbClr val="865640"/>
      </a:accent3>
      <a:accent4>
        <a:srgbClr val="9B8357"/>
      </a:accent4>
      <a:accent5>
        <a:srgbClr val="C2BC80"/>
      </a:accent5>
      <a:accent6>
        <a:srgbClr val="94A088"/>
      </a:accent6>
      <a:hlink>
        <a:srgbClr val="2998E3"/>
      </a:hlink>
      <a:folHlink>
        <a:srgbClr val="8C8C8C"/>
      </a:folHlink>
    </a:clrScheme>
    <a:fontScheme name="Retrospección">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Retrospección">
      <a:fillStyleLst>
        <a:solidFill>
          <a:schemeClr val="phClr"/>
        </a:solidFill>
        <a:gradFill rotWithShape="1">
          <a:gsLst>
            <a:gs pos="0">
              <a:schemeClr val="phClr">
                <a:tint val="65000"/>
                <a:shade val="92000"/>
                <a:satMod val="130000"/>
              </a:schemeClr>
            </a:gs>
            <a:gs pos="45000">
              <a:schemeClr val="phClr">
                <a:tint val="60000"/>
                <a:shade val="99000"/>
                <a:satMod val="120000"/>
              </a:schemeClr>
            </a:gs>
            <a:gs pos="100000">
              <a:schemeClr val="phClr">
                <a:tint val="55000"/>
                <a:satMod val="140000"/>
              </a:schemeClr>
            </a:gs>
          </a:gsLst>
          <a:path path="circle">
            <a:fillToRect l="100000" t="100000" r="100000" b="100000"/>
          </a:path>
        </a:gradFill>
        <a:gradFill rotWithShape="1">
          <a:gsLst>
            <a:gs pos="0">
              <a:schemeClr val="phClr">
                <a:shade val="85000"/>
                <a:satMod val="130000"/>
              </a:schemeClr>
            </a:gs>
            <a:gs pos="34000">
              <a:schemeClr val="phClr">
                <a:shade val="87000"/>
                <a:satMod val="125000"/>
              </a:schemeClr>
            </a:gs>
            <a:gs pos="70000">
              <a:schemeClr val="phClr">
                <a:tint val="100000"/>
                <a:shade val="90000"/>
                <a:satMod val="130000"/>
              </a:schemeClr>
            </a:gs>
            <a:gs pos="100000">
              <a:schemeClr val="phClr">
                <a:tint val="100000"/>
                <a:shade val="100000"/>
                <a:satMod val="110000"/>
              </a:schemeClr>
            </a:gs>
          </a:gsLst>
          <a:path path="circle">
            <a:fillToRect l="100000" t="100000" r="100000" b="100000"/>
          </a:path>
        </a:gradFill>
      </a:fillStyleLst>
      <a:lnStyleLst>
        <a:ln w="12700" cap="flat" cmpd="sng" algn="ctr">
          <a:solidFill>
            <a:schemeClr val="phClr"/>
          </a:solidFill>
          <a:prstDash val="solid"/>
        </a:ln>
        <a:ln w="15875" cap="flat" cmpd="sng" algn="ctr">
          <a:solidFill>
            <a:schemeClr val="phClr"/>
          </a:solidFill>
          <a:prstDash val="solid"/>
        </a:ln>
        <a:ln w="25400" cap="flat" cmpd="sng" algn="ctr">
          <a:solidFill>
            <a:schemeClr val="phClr"/>
          </a:solidFill>
          <a:prstDash val="solid"/>
        </a:ln>
      </a:lnStyleLst>
      <a:effectStyleLst>
        <a:effectStyle>
          <a:effectLst/>
        </a:effectStyle>
        <a:effectStyle>
          <a:effectLst>
            <a:outerShdw blurRad="38100" dist="25400" dir="2700000" algn="br" rotWithShape="0">
              <a:srgbClr val="000000">
                <a:alpha val="60000"/>
              </a:srgbClr>
            </a:outerShdw>
          </a:effectLst>
        </a:effectStyle>
        <a:effectStyle>
          <a:effectLst>
            <a:outerShdw blurRad="44450" dist="25400" dir="2700000" algn="br" rotWithShape="0">
              <a:srgbClr val="000000">
                <a:alpha val="60000"/>
              </a:srgbClr>
            </a:outerShdw>
          </a:effectLst>
          <a:scene3d>
            <a:camera prst="orthographicFront">
              <a:rot lat="0" lon="0" rev="0"/>
            </a:camera>
            <a:lightRig rig="threePt" dir="t">
              <a:rot lat="0" lon="0" rev="19800000"/>
            </a:lightRig>
          </a:scene3d>
          <a:sp3d prstMaterial="flat">
            <a:bevelT w="25400" h="31750"/>
          </a:sp3d>
        </a:effectStyle>
      </a:effectStyleLst>
      <a:bgFillStyleLst>
        <a:solidFill>
          <a:schemeClr val="phClr"/>
        </a:solidFill>
        <a:solidFill>
          <a:schemeClr val="phClr">
            <a:tint val="90000"/>
            <a:shade val="97000"/>
            <a:satMod val="130000"/>
          </a:schemeClr>
        </a:solidFill>
        <a:gradFill rotWithShape="1">
          <a:gsLst>
            <a:gs pos="0">
              <a:schemeClr val="phClr">
                <a:tint val="96000"/>
                <a:shade val="99000"/>
                <a:satMod val="140000"/>
              </a:schemeClr>
            </a:gs>
            <a:gs pos="65000">
              <a:schemeClr val="phClr">
                <a:tint val="100000"/>
                <a:shade val="80000"/>
                <a:satMod val="130000"/>
              </a:schemeClr>
            </a:gs>
            <a:gs pos="100000">
              <a:schemeClr val="phClr">
                <a:tint val="100000"/>
                <a:shade val="48000"/>
                <a:satMod val="120000"/>
              </a:schemeClr>
            </a:gs>
          </a:gsLst>
          <a:lin ang="16200000" scaled="0"/>
        </a:gradFill>
      </a:bgFillStyleLst>
    </a:fmtScheme>
  </a:themeElements>
  <a:objectDefaults/>
  <a:extraClrSchemeLst/>
  <a:extLst>
    <a:ext uri="{05A4C25C-085E-4340-85A3-A5531E510DB2}">
      <thm15:themeFamily xmlns:thm15="http://schemas.microsoft.com/office/thememl/2012/main" name="Retrospect" id="{5F128B03-DCCA-4EEB-AB3B-CF2899314A46}" vid="{3F1AAB62-24C6-49D2-8E01-B56FAC9A3DCD}"/>
    </a:ext>
  </a:ext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_activity xmlns="43452519-69a3-4b40-ba34-a01a35af4750" xsi:nil="true"/>
  </documentManagement>
</p:properties>
</file>

<file path=customXml/item2.xml><?xml version="1.0" encoding="utf-8"?>
<ct:contentTypeSchema xmlns:ct="http://schemas.microsoft.com/office/2006/metadata/contentType" xmlns:ma="http://schemas.microsoft.com/office/2006/metadata/properties/metaAttributes" ct:_="" ma:_="" ma:contentTypeName="Documento" ma:contentTypeID="0x010100B804E9D6BB3EE04888AEE80291C67E77" ma:contentTypeVersion="11" ma:contentTypeDescription="Crear nuevo documento." ma:contentTypeScope="" ma:versionID="dba8b4c2031b23e79bf93281324bf4ef">
  <xsd:schema xmlns:xsd="http://www.w3.org/2001/XMLSchema" xmlns:xs="http://www.w3.org/2001/XMLSchema" xmlns:p="http://schemas.microsoft.com/office/2006/metadata/properties" xmlns:ns3="43452519-69a3-4b40-ba34-a01a35af4750" xmlns:ns4="42b9fe23-2534-4502-b8d2-0b2f3a61000a" targetNamespace="http://schemas.microsoft.com/office/2006/metadata/properties" ma:root="true" ma:fieldsID="db182c8e9544a701ae1ddafba5396d77" ns3:_="" ns4:_="">
    <xsd:import namespace="43452519-69a3-4b40-ba34-a01a35af4750"/>
    <xsd:import namespace="42b9fe23-2534-4502-b8d2-0b2f3a61000a"/>
    <xsd:element name="properties">
      <xsd:complexType>
        <xsd:sequence>
          <xsd:element name="documentManagement">
            <xsd:complexType>
              <xsd:all>
                <xsd:element ref="ns3:MediaServiceMetadata" minOccurs="0"/>
                <xsd:element ref="ns3:MediaServiceFastMetadata" minOccurs="0"/>
                <xsd:element ref="ns4:SharedWithUsers" minOccurs="0"/>
                <xsd:element ref="ns4:SharedWithDetails" minOccurs="0"/>
                <xsd:element ref="ns4:SharingHintHash" minOccurs="0"/>
                <xsd:element ref="ns3:MediaServiceAutoKeyPoints" minOccurs="0"/>
                <xsd:element ref="ns3:MediaServiceKeyPoints" minOccurs="0"/>
                <xsd:element ref="ns3:_activity" minOccurs="0"/>
                <xsd:element ref="ns3:MediaServiceSearchProperties" minOccurs="0"/>
                <xsd:element ref="ns3:MediaServiceObjectDetectorVersions" minOccurs="0"/>
                <xsd:element ref="ns3:MediaServiceDateTake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43452519-69a3-4b40-ba34-a01a35af4750"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3" nillable="true" ma:displayName="MediaServiceAutoKeyPoints" ma:hidden="true" ma:internalName="MediaServiceAutoKeyPoints" ma:readOnly="true">
      <xsd:simpleType>
        <xsd:restriction base="dms:Note"/>
      </xsd:simpleType>
    </xsd:element>
    <xsd:element name="MediaServiceKeyPoints" ma:index="14" nillable="true" ma:displayName="KeyPoints" ma:internalName="MediaServiceKeyPoints" ma:readOnly="true">
      <xsd:simpleType>
        <xsd:restriction base="dms:Note">
          <xsd:maxLength value="255"/>
        </xsd:restriction>
      </xsd:simpleType>
    </xsd:element>
    <xsd:element name="_activity" ma:index="15" nillable="true" ma:displayName="_activity" ma:hidden="true" ma:internalName="_activity">
      <xsd:simpleType>
        <xsd:restriction base="dms:Note"/>
      </xsd:simpleType>
    </xsd:element>
    <xsd:element name="MediaServiceSearchProperties" ma:index="16" nillable="true" ma:displayName="MediaServiceSearchProperties" ma:hidden="true" ma:internalName="MediaServiceSearchProperties" ma:readOnly="true">
      <xsd:simpleType>
        <xsd:restriction base="dms:Note"/>
      </xsd:simpleType>
    </xsd:element>
    <xsd:element name="MediaServiceObjectDetectorVersions" ma:index="17" nillable="true" ma:displayName="MediaServiceObjectDetectorVersions" ma:hidden="true" ma:indexed="true" ma:internalName="MediaServiceObjectDetectorVersions" ma:readOnly="true">
      <xsd:simpleType>
        <xsd:restriction base="dms:Text"/>
      </xsd:simpleType>
    </xsd:element>
    <xsd:element name="MediaServiceDateTaken" ma:index="18" nillable="true" ma:displayName="MediaServiceDateTaken" ma:hidden="true" ma:indexed="true" ma:internalName="MediaServiceDateTaken"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42b9fe23-2534-4502-b8d2-0b2f3a61000a" elementFormDefault="qualified">
    <xsd:import namespace="http://schemas.microsoft.com/office/2006/documentManagement/types"/>
    <xsd:import namespace="http://schemas.microsoft.com/office/infopath/2007/PartnerControls"/>
    <xsd:element name="SharedWithUsers" ma:index="10" nillable="true" ma:displayName="Compartido con"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1" nillable="true" ma:displayName="Detalles de uso compartido" ma:internalName="SharedWithDetails" ma:readOnly="true">
      <xsd:simpleType>
        <xsd:restriction base="dms:Note">
          <xsd:maxLength value="255"/>
        </xsd:restriction>
      </xsd:simpleType>
    </xsd:element>
    <xsd:element name="SharingHintHash" ma:index="12" nillable="true" ma:displayName="Hash de la sugerencia para compartir" ma:hidden="true" ma:internalName="SharingHintHash"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Tipo de contenido"/>
        <xsd:element ref="dc:title" minOccurs="0" maxOccurs="1" ma:index="4" ma:displayName="Título"/>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EB041B48-44A1-4650-87AC-E5AA9E714AC7}">
  <ds:schemaRefs>
    <ds:schemaRef ds:uri="http://schemas.openxmlformats.org/package/2006/metadata/core-properties"/>
    <ds:schemaRef ds:uri="43452519-69a3-4b40-ba34-a01a35af4750"/>
    <ds:schemaRef ds:uri="http://purl.org/dc/elements/1.1/"/>
    <ds:schemaRef ds:uri="http://www.w3.org/XML/1998/namespace"/>
    <ds:schemaRef ds:uri="http://schemas.microsoft.com/office/2006/documentManagement/types"/>
    <ds:schemaRef ds:uri="http://purl.org/dc/dcmitype/"/>
    <ds:schemaRef ds:uri="http://purl.org/dc/terms/"/>
    <ds:schemaRef ds:uri="http://schemas.microsoft.com/office/infopath/2007/PartnerControls"/>
    <ds:schemaRef ds:uri="42b9fe23-2534-4502-b8d2-0b2f3a61000a"/>
    <ds:schemaRef ds:uri="http://schemas.microsoft.com/office/2006/metadata/properties"/>
  </ds:schemaRefs>
</ds:datastoreItem>
</file>

<file path=customXml/itemProps2.xml><?xml version="1.0" encoding="utf-8"?>
<ds:datastoreItem xmlns:ds="http://schemas.openxmlformats.org/officeDocument/2006/customXml" ds:itemID="{FE6C0391-82CB-4AC6-87F6-B029BE189493}">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43452519-69a3-4b40-ba34-a01a35af4750"/>
    <ds:schemaRef ds:uri="42b9fe23-2534-4502-b8d2-0b2f3a61000a"/>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2FD6A62E-D17A-4546-B02F-75AEB86B8B4A}">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Retrospect</Template>
  <TotalTime>2112</TotalTime>
  <Words>2041</Words>
  <Application>Microsoft Office PowerPoint</Application>
  <PresentationFormat>Panorámica</PresentationFormat>
  <Paragraphs>366</Paragraphs>
  <Slides>36</Slides>
  <Notes>10</Notes>
  <HiddenSlides>0</HiddenSlides>
  <MMClips>0</MMClips>
  <ScaleCrop>false</ScaleCrop>
  <HeadingPairs>
    <vt:vector size="6" baseType="variant">
      <vt:variant>
        <vt:lpstr>Fuentes usadas</vt:lpstr>
      </vt:variant>
      <vt:variant>
        <vt:i4>3</vt:i4>
      </vt:variant>
      <vt:variant>
        <vt:lpstr>Tema</vt:lpstr>
      </vt:variant>
      <vt:variant>
        <vt:i4>1</vt:i4>
      </vt:variant>
      <vt:variant>
        <vt:lpstr>Títulos de diapositiva</vt:lpstr>
      </vt:variant>
      <vt:variant>
        <vt:i4>36</vt:i4>
      </vt:variant>
    </vt:vector>
  </HeadingPairs>
  <TitlesOfParts>
    <vt:vector size="40" baseType="lpstr">
      <vt:lpstr>Arial</vt:lpstr>
      <vt:lpstr>Calibri</vt:lpstr>
      <vt:lpstr>Calibri Light</vt:lpstr>
      <vt:lpstr>Retrospección</vt:lpstr>
      <vt:lpstr>Estudio de la distribución espacial de depósitos Ígneo/Metamórficos en Colombia  </vt:lpstr>
      <vt:lpstr>DF - Eventos</vt:lpstr>
      <vt:lpstr>Variables</vt:lpstr>
      <vt:lpstr>Pregunta</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Regresión Logística - Normalización</vt:lpstr>
      <vt:lpstr>Presentación de PowerPoint</vt:lpstr>
      <vt:lpstr>Presentación de PowerPoint</vt:lpstr>
      <vt:lpstr>Presentación de PowerPoint</vt:lpstr>
      <vt:lpstr>Presentación de PowerPoint</vt:lpstr>
      <vt:lpstr>Presentación de PowerPoint</vt:lpstr>
      <vt:lpstr>Modelo SAS</vt:lpstr>
      <vt:lpstr>Presentación de PowerPoint</vt:lpstr>
      <vt:lpstr>Presentación de PowerPoint</vt:lpstr>
      <vt:lpstr>Presentación de PowerPoint</vt:lpstr>
      <vt:lpstr>Presentación de PowerPoint</vt:lpstr>
      <vt:lpstr>Modelo CAR</vt:lpstr>
      <vt:lpstr>Presentación de PowerPoint</vt:lpstr>
      <vt:lpstr>Presentación de PowerPoint</vt:lpstr>
      <vt:lpstr>Modelo OLS</vt:lpstr>
      <vt:lpstr>Modelo GWR</vt:lpstr>
      <vt:lpstr>Mapas de coeficientes locales (GWR)</vt:lpstr>
      <vt:lpstr>Presentación de PowerPoint</vt:lpstr>
      <vt:lpstr>Resumen Métricas de Desempeño por modelos</vt:lpstr>
      <vt:lpstr>Presentación de PowerPoint</vt:lpstr>
      <vt:lpstr>SAR solo Moho</vt:lpstr>
      <vt:lpstr>Conclusiones </vt:lpstr>
      <vt:lpstr>Próximas modificaciones.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Estudio de la distribución espacial de depósitos Ígneo/Metamórficos en Colombia</dc:title>
  <dc:creator>Santiago Cruz</dc:creator>
  <cp:lastModifiedBy>Santiago Cruz</cp:lastModifiedBy>
  <cp:revision>34</cp:revision>
  <dcterms:created xsi:type="dcterms:W3CDTF">2025-05-29T21:47:29Z</dcterms:created>
  <dcterms:modified xsi:type="dcterms:W3CDTF">2025-07-19T12:01:43Z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0x010100B804E9D6BB3EE04888AEE80291C67E77</vt:lpwstr>
  </property>
</Properties>
</file>