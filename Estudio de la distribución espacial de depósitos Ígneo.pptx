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34"/>
  </p:notesMasterIdLst>
  <p:sldIdLst>
    <p:sldId id="256" r:id="rId5"/>
    <p:sldId id="262" r:id="rId6"/>
    <p:sldId id="257" r:id="rId7"/>
    <p:sldId id="258" r:id="rId8"/>
    <p:sldId id="259" r:id="rId9"/>
    <p:sldId id="261" r:id="rId10"/>
    <p:sldId id="286" r:id="rId11"/>
    <p:sldId id="270" r:id="rId12"/>
    <p:sldId id="260" r:id="rId13"/>
    <p:sldId id="299" r:id="rId14"/>
    <p:sldId id="263" r:id="rId15"/>
    <p:sldId id="264" r:id="rId16"/>
    <p:sldId id="309" r:id="rId17"/>
    <p:sldId id="265" r:id="rId18"/>
    <p:sldId id="272" r:id="rId19"/>
    <p:sldId id="269" r:id="rId20"/>
    <p:sldId id="312" r:id="rId21"/>
    <p:sldId id="310" r:id="rId22"/>
    <p:sldId id="268" r:id="rId23"/>
    <p:sldId id="271" r:id="rId24"/>
    <p:sldId id="300" r:id="rId25"/>
    <p:sldId id="302" r:id="rId26"/>
    <p:sldId id="301" r:id="rId27"/>
    <p:sldId id="266" r:id="rId28"/>
    <p:sldId id="267" r:id="rId29"/>
    <p:sldId id="307" r:id="rId30"/>
    <p:sldId id="311" r:id="rId31"/>
    <p:sldId id="308" r:id="rId32"/>
    <p:sldId id="29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7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2F22B8-76FA-449E-A4E6-914A7B0F33D1}" v="4" dt="2025-05-29T22:51:32.27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5266" autoAdjust="0"/>
  </p:normalViewPr>
  <p:slideViewPr>
    <p:cSldViewPr snapToGrid="0">
      <p:cViewPr varScale="1">
        <p:scale>
          <a:sx n="68" d="100"/>
          <a:sy n="68" d="100"/>
        </p:scale>
        <p:origin x="50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BBCCC8-0CB4-4AE2-BBD5-DB5FF169E7AB}" type="datetimeFigureOut">
              <a:rPr lang="es-CO" smtClean="0"/>
              <a:t>23/07/2025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F2D74D-2329-45AA-8C8E-A30E4EED47C6}" type="slidenum">
              <a:rPr lang="es-CO" smtClean="0"/>
              <a:t>‹Nº›</a:t>
            </a:fld>
            <a:endParaRPr lang="es-CO"/>
          </a:p>
        </p:txBody>
      </p:sp>
    </p:spTree>
    <p:extLst>
      <p:ext uri="{BB962C8B-B14F-4D97-AF65-F5344CB8AC3E}">
        <p14:creationId xmlns:p14="http://schemas.microsoft.com/office/powerpoint/2010/main" val="1592133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3F2D74D-2329-45AA-8C8E-A30E4EED47C6}" type="slidenum">
              <a:rPr lang="es-CO" smtClean="0"/>
              <a:t>16</a:t>
            </a:fld>
            <a:endParaRPr lang="es-CO"/>
          </a:p>
        </p:txBody>
      </p:sp>
    </p:spTree>
    <p:extLst>
      <p:ext uri="{BB962C8B-B14F-4D97-AF65-F5344CB8AC3E}">
        <p14:creationId xmlns:p14="http://schemas.microsoft.com/office/powerpoint/2010/main" val="1062203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3F2D74D-2329-45AA-8C8E-A30E4EED47C6}" type="slidenum">
              <a:rPr lang="es-CO" smtClean="0"/>
              <a:t>17</a:t>
            </a:fld>
            <a:endParaRPr lang="es-CO"/>
          </a:p>
        </p:txBody>
      </p:sp>
    </p:spTree>
    <p:extLst>
      <p:ext uri="{BB962C8B-B14F-4D97-AF65-F5344CB8AC3E}">
        <p14:creationId xmlns:p14="http://schemas.microsoft.com/office/powerpoint/2010/main" val="1881829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3F2D74D-2329-45AA-8C8E-A30E4EED47C6}" type="slidenum">
              <a:rPr lang="es-CO" smtClean="0"/>
              <a:t>26</a:t>
            </a:fld>
            <a:endParaRPr lang="es-CO"/>
          </a:p>
        </p:txBody>
      </p:sp>
    </p:spTree>
    <p:extLst>
      <p:ext uri="{BB962C8B-B14F-4D97-AF65-F5344CB8AC3E}">
        <p14:creationId xmlns:p14="http://schemas.microsoft.com/office/powerpoint/2010/main" val="1239987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3F2D74D-2329-45AA-8C8E-A30E4EED47C6}" type="slidenum">
              <a:rPr lang="es-CO" smtClean="0"/>
              <a:t>27</a:t>
            </a:fld>
            <a:endParaRPr lang="es-CO"/>
          </a:p>
        </p:txBody>
      </p:sp>
    </p:spTree>
    <p:extLst>
      <p:ext uri="{BB962C8B-B14F-4D97-AF65-F5344CB8AC3E}">
        <p14:creationId xmlns:p14="http://schemas.microsoft.com/office/powerpoint/2010/main" val="677404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03F2D74D-2329-45AA-8C8E-A30E4EED47C6}" type="slidenum">
              <a:rPr lang="es-CO" smtClean="0"/>
              <a:t>28</a:t>
            </a:fld>
            <a:endParaRPr lang="es-CO"/>
          </a:p>
        </p:txBody>
      </p:sp>
    </p:spTree>
    <p:extLst>
      <p:ext uri="{BB962C8B-B14F-4D97-AF65-F5344CB8AC3E}">
        <p14:creationId xmlns:p14="http://schemas.microsoft.com/office/powerpoint/2010/main" val="2258232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C319494-4846-4652-9352-F8CB4A0CE8FC}" type="datetimeFigureOut">
              <a:rPr lang="es-CO" smtClean="0"/>
              <a:t>23/07/2025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D4BF25-1FEA-4B56-8344-AD6904BF59ED}" type="slidenum">
              <a:rPr lang="es-CO" smtClean="0"/>
              <a:t>‹Nº›</a:t>
            </a:fld>
            <a:endParaRPr lang="es-C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4706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C319494-4846-4652-9352-F8CB4A0CE8FC}" type="datetimeFigureOut">
              <a:rPr lang="es-CO" smtClean="0"/>
              <a:t>23/07/2025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1781149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0C319494-4846-4652-9352-F8CB4A0CE8FC}" type="datetimeFigureOut">
              <a:rPr lang="es-CO" smtClean="0"/>
              <a:t>23/07/2025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D4BF25-1FEA-4B56-8344-AD6904BF59ED}" type="slidenum">
              <a:rPr lang="es-CO" smtClean="0"/>
              <a:t>‹Nº›</a:t>
            </a:fld>
            <a:endParaRPr lang="es-C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220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C319494-4846-4652-9352-F8CB4A0CE8FC}" type="datetimeFigureOut">
              <a:rPr lang="es-CO" smtClean="0"/>
              <a:t>23/07/2025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115885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C319494-4846-4652-9352-F8CB4A0CE8FC}" type="datetimeFigureOut">
              <a:rPr lang="es-CO" smtClean="0"/>
              <a:t>23/07/2025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2186847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C319494-4846-4652-9352-F8CB4A0CE8FC}" type="datetimeFigureOut">
              <a:rPr lang="es-CO" smtClean="0"/>
              <a:t>23/07/2025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744080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C319494-4846-4652-9352-F8CB4A0CE8FC}" type="datetimeFigureOut">
              <a:rPr lang="es-CO" smtClean="0"/>
              <a:t>23/07/2025</a:t>
            </a:fld>
            <a:endParaRPr lang="es-C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CO"/>
          </a:p>
        </p:txBody>
      </p:sp>
      <p:sp>
        <p:nvSpPr>
          <p:cNvPr id="9" name="Slide Number Placeholder 8"/>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4009351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C319494-4846-4652-9352-F8CB4A0CE8FC}" type="datetimeFigureOut">
              <a:rPr lang="es-CO" smtClean="0"/>
              <a:t>23/07/2025</a:t>
            </a:fld>
            <a:endParaRPr lang="es-C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C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BD4BF25-1FEA-4B56-8344-AD6904BF59ED}" type="slidenum">
              <a:rPr lang="es-CO" smtClean="0"/>
              <a:t>‹Nº›</a:t>
            </a:fld>
            <a:endParaRPr lang="es-CO"/>
          </a:p>
        </p:txBody>
      </p:sp>
    </p:spTree>
    <p:extLst>
      <p:ext uri="{BB962C8B-B14F-4D97-AF65-F5344CB8AC3E}">
        <p14:creationId xmlns:p14="http://schemas.microsoft.com/office/powerpoint/2010/main" val="1737034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0C319494-4846-4652-9352-F8CB4A0CE8FC}" type="datetimeFigureOut">
              <a:rPr lang="es-CO" smtClean="0"/>
              <a:t>23/07/2025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2620517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C319494-4846-4652-9352-F8CB4A0CE8FC}" type="datetimeFigureOut">
              <a:rPr lang="es-CO" smtClean="0"/>
              <a:t>23/07/2025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299012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C319494-4846-4652-9352-F8CB4A0CE8FC}" type="datetimeFigureOut">
              <a:rPr lang="es-CO" smtClean="0"/>
              <a:t>23/07/2025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EBD4BF25-1FEA-4B56-8344-AD6904BF59ED}" type="slidenum">
              <a:rPr lang="es-CO" smtClean="0"/>
              <a:t>‹Nº›</a:t>
            </a:fld>
            <a:endParaRPr lang="es-CO"/>
          </a:p>
        </p:txBody>
      </p:sp>
    </p:spTree>
    <p:extLst>
      <p:ext uri="{BB962C8B-B14F-4D97-AF65-F5344CB8AC3E}">
        <p14:creationId xmlns:p14="http://schemas.microsoft.com/office/powerpoint/2010/main" val="383423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C319494-4846-4652-9352-F8CB4A0CE8FC}" type="datetimeFigureOut">
              <a:rPr lang="es-CO" smtClean="0"/>
              <a:t>23/07/2025</a:t>
            </a:fld>
            <a:endParaRPr lang="es-C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C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BD4BF25-1FEA-4B56-8344-AD6904BF59ED}" type="slidenum">
              <a:rPr lang="es-CO" smtClean="0"/>
              <a:t>‹Nº›</a:t>
            </a:fld>
            <a:endParaRPr lang="es-C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49975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2.sgc.gov.co/sgc/mapas/Documents/Mapa%20Metalogenico%202020/DepositosGeneralizados_2020.kmz"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gupubs.onlinelibrary.wiley.com/doi/10.1002/2017JB014688" TargetMode="External"/><Relationship Id="rId2" Type="http://schemas.openxmlformats.org/officeDocument/2006/relationships/hyperlink" Target="https://www2.sgc.gov.co/sgc/mapas/Paginas/AtlasGeoquimico.aspx" TargetMode="External"/><Relationship Id="rId1" Type="http://schemas.openxmlformats.org/officeDocument/2006/relationships/slideLayout" Target="../slideLayouts/slideLayout2.xml"/><Relationship Id="rId6" Type="http://schemas.openxmlformats.org/officeDocument/2006/relationships/hyperlink" Target="https://www2.sgc.gov.co/MGC/Paginas/pev33ch03.aspx" TargetMode="External"/><Relationship Id="rId5" Type="http://schemas.openxmlformats.org/officeDocument/2006/relationships/hyperlink" Target="https://datos.icde.gov.co/search?collection=Dataset&amp;layout=grid&amp;tags=geociencias%2520b%25C3%25A1sicas" TargetMode="External"/><Relationship Id="rId4" Type="http://schemas.openxmlformats.org/officeDocument/2006/relationships/hyperlink" Target="https://datos.sgc.gov.co/datasets/e5988c0200f6405681d6571d92468e92_0/explor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F8554F-B5C7-4670-B05E-9249A18F4CBC}"/>
              </a:ext>
            </a:extLst>
          </p:cNvPr>
          <p:cNvSpPr>
            <a:spLocks noGrp="1"/>
          </p:cNvSpPr>
          <p:nvPr>
            <p:ph type="ctrTitle"/>
          </p:nvPr>
        </p:nvSpPr>
        <p:spPr>
          <a:xfrm>
            <a:off x="433136" y="1942621"/>
            <a:ext cx="11863137" cy="2387600"/>
          </a:xfrm>
        </p:spPr>
        <p:txBody>
          <a:bodyPr>
            <a:normAutofit fontScale="90000"/>
          </a:bodyPr>
          <a:lstStyle/>
          <a:p>
            <a:r>
              <a:rPr lang="es-ES" dirty="0"/>
              <a:t>Estudio de la distribución espacial de depósitos Ígneo/Metamórficos en Colombia  </a:t>
            </a:r>
            <a:endParaRPr lang="es-CO" dirty="0"/>
          </a:p>
        </p:txBody>
      </p:sp>
      <p:sp>
        <p:nvSpPr>
          <p:cNvPr id="3" name="Subtítulo 2">
            <a:extLst>
              <a:ext uri="{FF2B5EF4-FFF2-40B4-BE49-F238E27FC236}">
                <a16:creationId xmlns:a16="http://schemas.microsoft.com/office/drawing/2014/main" id="{8D66E3D2-EEE9-45A3-AB3C-F3EA167E8576}"/>
              </a:ext>
            </a:extLst>
          </p:cNvPr>
          <p:cNvSpPr>
            <a:spLocks noGrp="1"/>
          </p:cNvSpPr>
          <p:nvPr>
            <p:ph type="subTitle" idx="1"/>
          </p:nvPr>
        </p:nvSpPr>
        <p:spPr>
          <a:xfrm>
            <a:off x="132789" y="4602558"/>
            <a:ext cx="9144000" cy="1655762"/>
          </a:xfrm>
        </p:spPr>
        <p:txBody>
          <a:bodyPr>
            <a:normAutofit/>
          </a:bodyPr>
          <a:lstStyle/>
          <a:p>
            <a:pPr algn="l"/>
            <a:endParaRPr lang="es-ES" dirty="0"/>
          </a:p>
          <a:p>
            <a:pPr algn="l"/>
            <a:br>
              <a:rPr lang="es-ES" dirty="0"/>
            </a:br>
            <a:r>
              <a:rPr lang="es-ES" dirty="0"/>
              <a:t>Geol. Santiago Cruz Alvarado</a:t>
            </a:r>
            <a:endParaRPr lang="es-CO" dirty="0"/>
          </a:p>
        </p:txBody>
      </p:sp>
    </p:spTree>
    <p:extLst>
      <p:ext uri="{BB962C8B-B14F-4D97-AF65-F5344CB8AC3E}">
        <p14:creationId xmlns:p14="http://schemas.microsoft.com/office/powerpoint/2010/main" val="3428569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5D401-215A-4D3B-BD3E-D6344C87800F}"/>
              </a:ext>
            </a:extLst>
          </p:cNvPr>
          <p:cNvSpPr>
            <a:spLocks noGrp="1"/>
          </p:cNvSpPr>
          <p:nvPr>
            <p:ph type="title"/>
          </p:nvPr>
        </p:nvSpPr>
        <p:spPr>
          <a:xfrm>
            <a:off x="-1951199" y="392151"/>
            <a:ext cx="8288032" cy="1096316"/>
          </a:xfrm>
        </p:spPr>
        <p:txBody>
          <a:bodyPr vert="horz" lIns="91440" tIns="45720" rIns="91440" bIns="45720" rtlCol="0" anchor="b">
            <a:normAutofit/>
          </a:bodyPr>
          <a:lstStyle/>
          <a:p>
            <a:pPr algn="ctr"/>
            <a:r>
              <a:rPr lang="en-US" sz="4800" kern="1200" dirty="0">
                <a:solidFill>
                  <a:schemeClr val="accent1"/>
                </a:solidFill>
                <a:latin typeface="+mj-lt"/>
                <a:ea typeface="+mj-ea"/>
                <a:cs typeface="+mj-cs"/>
              </a:rPr>
              <a:t>DF - </a:t>
            </a:r>
            <a:r>
              <a:rPr lang="en-US" sz="4800" kern="1200" dirty="0" err="1">
                <a:solidFill>
                  <a:schemeClr val="accent1"/>
                </a:solidFill>
                <a:latin typeface="+mj-lt"/>
                <a:ea typeface="+mj-ea"/>
                <a:cs typeface="+mj-cs"/>
              </a:rPr>
              <a:t>Eventos</a:t>
            </a:r>
            <a:endParaRPr lang="en-US" sz="4800" kern="1200" dirty="0">
              <a:solidFill>
                <a:schemeClr val="accent1"/>
              </a:solidFill>
              <a:latin typeface="+mj-lt"/>
              <a:ea typeface="+mj-ea"/>
              <a:cs typeface="+mj-cs"/>
            </a:endParaRPr>
          </a:p>
        </p:txBody>
      </p:sp>
      <p:sp>
        <p:nvSpPr>
          <p:cNvPr id="7" name="CuadroTexto 6">
            <a:extLst>
              <a:ext uri="{FF2B5EF4-FFF2-40B4-BE49-F238E27FC236}">
                <a16:creationId xmlns:a16="http://schemas.microsoft.com/office/drawing/2014/main" id="{F77E82BC-3712-4DB9-B205-42FD5B2CD664}"/>
              </a:ext>
            </a:extLst>
          </p:cNvPr>
          <p:cNvSpPr txBox="1"/>
          <p:nvPr/>
        </p:nvSpPr>
        <p:spPr>
          <a:xfrm>
            <a:off x="-2083547" y="5695833"/>
            <a:ext cx="8288032" cy="469122"/>
          </a:xfrm>
          <a:prstGeom prst="rect">
            <a:avLst/>
          </a:prstGeom>
        </p:spPr>
        <p:txBody>
          <a:bodyPr vert="horz" lIns="91440" tIns="45720" rIns="91440" bIns="45720" rtlCol="0" anchor="t">
            <a:normAutofit/>
          </a:bodyPr>
          <a:lstStyle/>
          <a:p>
            <a:pPr algn="ctr">
              <a:spcBef>
                <a:spcPts val="1000"/>
              </a:spcBef>
              <a:buClr>
                <a:schemeClr val="accent1"/>
              </a:buClr>
              <a:buSzPct val="80000"/>
            </a:pPr>
            <a:r>
              <a:rPr lang="en-US" i="0" u="none" strike="noStrike" dirty="0" err="1">
                <a:solidFill>
                  <a:schemeClr val="tx1">
                    <a:lumMod val="50000"/>
                    <a:lumOff val="50000"/>
                  </a:schemeClr>
                </a:solidFill>
                <a:effectLst/>
                <a:hlinkClick r:id="rId2">
                  <a:extLst>
                    <a:ext uri="{A12FA001-AC4F-418D-AE19-62706E023703}">
                      <ahyp:hlinkClr xmlns:ahyp="http://schemas.microsoft.com/office/drawing/2018/hyperlinkcolor" val="tx"/>
                    </a:ext>
                  </a:extLst>
                </a:hlinkClick>
              </a:rPr>
              <a:t>Depósitos</a:t>
            </a:r>
            <a:r>
              <a:rPr lang="en-US" i="0" u="none" strike="noStrike" dirty="0">
                <a:solidFill>
                  <a:schemeClr val="tx1">
                    <a:lumMod val="50000"/>
                    <a:lumOff val="50000"/>
                  </a:schemeClr>
                </a:solidFill>
                <a:effectLst/>
                <a:hlinkClick r:id="rId2">
                  <a:extLst>
                    <a:ext uri="{A12FA001-AC4F-418D-AE19-62706E023703}">
                      <ahyp:hlinkClr xmlns:ahyp="http://schemas.microsoft.com/office/drawing/2018/hyperlinkcolor" val="tx"/>
                    </a:ext>
                  </a:extLst>
                </a:hlinkClick>
              </a:rPr>
              <a:t> </a:t>
            </a:r>
            <a:r>
              <a:rPr lang="en-US" i="0" u="none" strike="noStrike" dirty="0" err="1">
                <a:solidFill>
                  <a:schemeClr val="tx1">
                    <a:lumMod val="50000"/>
                    <a:lumOff val="50000"/>
                  </a:schemeClr>
                </a:solidFill>
                <a:effectLst/>
                <a:hlinkClick r:id="rId2">
                  <a:extLst>
                    <a:ext uri="{A12FA001-AC4F-418D-AE19-62706E023703}">
                      <ahyp:hlinkClr xmlns:ahyp="http://schemas.microsoft.com/office/drawing/2018/hyperlinkcolor" val="tx"/>
                    </a:ext>
                  </a:extLst>
                </a:hlinkClick>
              </a:rPr>
              <a:t>Generalizados</a:t>
            </a:r>
            <a:r>
              <a:rPr lang="en-US" i="0" u="none" strike="noStrike" dirty="0">
                <a:solidFill>
                  <a:schemeClr val="tx1">
                    <a:lumMod val="50000"/>
                    <a:lumOff val="50000"/>
                  </a:schemeClr>
                </a:solidFill>
                <a:effectLst/>
                <a:hlinkClick r:id="rId2">
                  <a:extLst>
                    <a:ext uri="{A12FA001-AC4F-418D-AE19-62706E023703}">
                      <ahyp:hlinkClr xmlns:ahyp="http://schemas.microsoft.com/office/drawing/2018/hyperlinkcolor" val="tx"/>
                    </a:ext>
                  </a:extLst>
                </a:hlinkClick>
              </a:rPr>
              <a:t> 2020</a:t>
            </a:r>
            <a:r>
              <a:rPr lang="en-US" i="0" u="none" strike="noStrike" dirty="0">
                <a:solidFill>
                  <a:schemeClr val="tx1">
                    <a:lumMod val="50000"/>
                    <a:lumOff val="50000"/>
                  </a:schemeClr>
                </a:solidFill>
                <a:effectLst/>
              </a:rPr>
              <a:t>, SGC</a:t>
            </a:r>
            <a:endParaRPr lang="en-US" dirty="0">
              <a:solidFill>
                <a:schemeClr val="tx1">
                  <a:lumMod val="50000"/>
                  <a:lumOff val="50000"/>
                </a:schemeClr>
              </a:solidFill>
            </a:endParaRPr>
          </a:p>
        </p:txBody>
      </p:sp>
      <p:graphicFrame>
        <p:nvGraphicFramePr>
          <p:cNvPr id="3" name="Tabla 2">
            <a:extLst>
              <a:ext uri="{FF2B5EF4-FFF2-40B4-BE49-F238E27FC236}">
                <a16:creationId xmlns:a16="http://schemas.microsoft.com/office/drawing/2014/main" id="{F97976EA-597A-4935-B263-9F7B398F48BC}"/>
              </a:ext>
            </a:extLst>
          </p:cNvPr>
          <p:cNvGraphicFramePr>
            <a:graphicFrameLocks noGrp="1"/>
          </p:cNvGraphicFramePr>
          <p:nvPr>
            <p:extLst>
              <p:ext uri="{D42A27DB-BD31-4B8C-83A1-F6EECF244321}">
                <p14:modId xmlns:p14="http://schemas.microsoft.com/office/powerpoint/2010/main" val="973285731"/>
              </p:ext>
            </p:extLst>
          </p:nvPr>
        </p:nvGraphicFramePr>
        <p:xfrm>
          <a:off x="613611" y="2082398"/>
          <a:ext cx="10876545" cy="2982335"/>
        </p:xfrm>
        <a:graphic>
          <a:graphicData uri="http://schemas.openxmlformats.org/drawingml/2006/table">
            <a:tbl>
              <a:tblPr/>
              <a:tblGrid>
                <a:gridCol w="1019921">
                  <a:extLst>
                    <a:ext uri="{9D8B030D-6E8A-4147-A177-3AD203B41FA5}">
                      <a16:colId xmlns:a16="http://schemas.microsoft.com/office/drawing/2014/main" val="1524960898"/>
                    </a:ext>
                  </a:extLst>
                </a:gridCol>
                <a:gridCol w="568506">
                  <a:extLst>
                    <a:ext uri="{9D8B030D-6E8A-4147-A177-3AD203B41FA5}">
                      <a16:colId xmlns:a16="http://schemas.microsoft.com/office/drawing/2014/main" val="383271858"/>
                    </a:ext>
                  </a:extLst>
                </a:gridCol>
                <a:gridCol w="707001">
                  <a:extLst>
                    <a:ext uri="{9D8B030D-6E8A-4147-A177-3AD203B41FA5}">
                      <a16:colId xmlns:a16="http://schemas.microsoft.com/office/drawing/2014/main" val="1789058738"/>
                    </a:ext>
                  </a:extLst>
                </a:gridCol>
                <a:gridCol w="950380">
                  <a:extLst>
                    <a:ext uri="{9D8B030D-6E8A-4147-A177-3AD203B41FA5}">
                      <a16:colId xmlns:a16="http://schemas.microsoft.com/office/drawing/2014/main" val="1173725110"/>
                    </a:ext>
                  </a:extLst>
                </a:gridCol>
                <a:gridCol w="736586">
                  <a:extLst>
                    <a:ext uri="{9D8B030D-6E8A-4147-A177-3AD203B41FA5}">
                      <a16:colId xmlns:a16="http://schemas.microsoft.com/office/drawing/2014/main" val="1216905674"/>
                    </a:ext>
                  </a:extLst>
                </a:gridCol>
                <a:gridCol w="826801">
                  <a:extLst>
                    <a:ext uri="{9D8B030D-6E8A-4147-A177-3AD203B41FA5}">
                      <a16:colId xmlns:a16="http://schemas.microsoft.com/office/drawing/2014/main" val="3549717564"/>
                    </a:ext>
                  </a:extLst>
                </a:gridCol>
                <a:gridCol w="863138">
                  <a:extLst>
                    <a:ext uri="{9D8B030D-6E8A-4147-A177-3AD203B41FA5}">
                      <a16:colId xmlns:a16="http://schemas.microsoft.com/office/drawing/2014/main" val="3416094288"/>
                    </a:ext>
                  </a:extLst>
                </a:gridCol>
                <a:gridCol w="976077">
                  <a:extLst>
                    <a:ext uri="{9D8B030D-6E8A-4147-A177-3AD203B41FA5}">
                      <a16:colId xmlns:a16="http://schemas.microsoft.com/office/drawing/2014/main" val="865053541"/>
                    </a:ext>
                  </a:extLst>
                </a:gridCol>
                <a:gridCol w="2242926">
                  <a:extLst>
                    <a:ext uri="{9D8B030D-6E8A-4147-A177-3AD203B41FA5}">
                      <a16:colId xmlns:a16="http://schemas.microsoft.com/office/drawing/2014/main" val="640857650"/>
                    </a:ext>
                  </a:extLst>
                </a:gridCol>
                <a:gridCol w="1985209">
                  <a:extLst>
                    <a:ext uri="{9D8B030D-6E8A-4147-A177-3AD203B41FA5}">
                      <a16:colId xmlns:a16="http://schemas.microsoft.com/office/drawing/2014/main" val="3540763540"/>
                    </a:ext>
                  </a:extLst>
                </a:gridCol>
              </a:tblGrid>
              <a:tr h="148386">
                <a:tc>
                  <a:txBody>
                    <a:bodyPr/>
                    <a:lstStyle/>
                    <a:p>
                      <a:pPr algn="ctr" fontAlgn="b">
                        <a:buNone/>
                      </a:pPr>
                      <a:r>
                        <a:rPr lang="es-CO" sz="1000" b="1" i="0" u="none" strike="noStrike">
                          <a:solidFill>
                            <a:srgbClr val="FFFFFF"/>
                          </a:solidFill>
                          <a:effectLst/>
                          <a:latin typeface="Calibri" panose="020F0502020204030204" pitchFamily="34" charset="0"/>
                        </a:rPr>
                        <a:t>IG_EST</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IG_DEP</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IG_MUN</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IG_POB</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IG_LAT_W84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IG_LON_W84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D_PR_PAL1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D_MI_PAL1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D_CLAS_DEP</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b">
                        <a:buNone/>
                      </a:pPr>
                      <a:r>
                        <a:rPr lang="es-CO" sz="1000" b="1" i="0" u="none" strike="noStrike">
                          <a:solidFill>
                            <a:srgbClr val="FFFFFF"/>
                          </a:solidFill>
                          <a:effectLst/>
                          <a:latin typeface="Calibri" panose="020F0502020204030204" pitchFamily="34" charset="0"/>
                        </a:rPr>
                        <a:t>R_RO_HUES</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717072499"/>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Amalfi</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El Guiaco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6.870664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-75.154996</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METAMÓRFICA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801141954"/>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La Avanzada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5.549692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-75.896268</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dirty="0">
                          <a:solidFill>
                            <a:srgbClr val="000000"/>
                          </a:solidFill>
                          <a:effectLst/>
                          <a:latin typeface="Calibri" panose="020F0502020204030204" pitchFamily="34" charset="0"/>
                        </a:rPr>
                        <a:t>Pirita-FeS2</a:t>
                      </a:r>
                      <a:endParaRPr lang="es-CO" sz="1600" b="0" i="0" u="none" strike="noStrike" dirty="0">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60157440"/>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La Borraja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5.549473</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-75.90873</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946968934"/>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La Clara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5.610284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-75.905117</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094175500"/>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La Mesenia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5.520984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-75.908668</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793797569"/>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La Piedra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5.637197</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-75.941661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479133622"/>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La Piedra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5.637731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-75.942157</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573703037"/>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La Piedra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5.63848</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-75.941352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799545305"/>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La Piedra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5.639934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-75.940591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39940810"/>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La Piedra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5.642589</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-75.943456</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90475491"/>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Reserva Forestal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5.604718</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-75.949305</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ÍGNEA PLUTÓNICA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684968348"/>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Reserva Forestal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5.605054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-75.950153</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ÍGNEA PLUTÓNICA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962078325"/>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San Antonio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5.580549</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-75.896604</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10596010"/>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Andes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San Antonio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5.590575</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-75.918882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 </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SEDIMENTARIA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812665494"/>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Caicedo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Caicedo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6.457478</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-76.03649</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Sin_Clasificar</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ROCA_ÍGNEA_PLUTÓNICA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588874884"/>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Gómez Plata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Cañaveral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6.786686</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-75.198087</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Antimonio-Sb</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dirty="0">
                          <a:solidFill>
                            <a:srgbClr val="000000"/>
                          </a:solidFill>
                          <a:effectLst/>
                          <a:latin typeface="Calibri" panose="020F0502020204030204" pitchFamily="34" charset="0"/>
                        </a:rPr>
                        <a:t>Pirita-FeS2</a:t>
                      </a:r>
                      <a:endParaRPr lang="es-CO" sz="1600" b="0" i="0" u="none" strike="noStrike" dirty="0">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Epitermal</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ROCA ÍGNEA VOLCÁNICA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290279418"/>
                  </a:ext>
                </a:extLst>
              </a:tr>
              <a:tr h="146050">
                <a:tc>
                  <a:txBody>
                    <a:bodyPr/>
                    <a:lstStyle/>
                    <a:p>
                      <a:pPr algn="ctr" fontAlgn="b">
                        <a:buNone/>
                      </a:pPr>
                      <a:r>
                        <a:rPr lang="es-CO" sz="1000" b="0" i="0" u="none" strike="noStrike" dirty="0">
                          <a:solidFill>
                            <a:srgbClr val="000000"/>
                          </a:solidFill>
                          <a:effectLst/>
                          <a:latin typeface="Calibri" panose="020F0502020204030204" pitchFamily="34" charset="0"/>
                        </a:rPr>
                        <a:t>Ocurrencia</a:t>
                      </a:r>
                      <a:endParaRPr lang="es-CO" sz="1600" b="0" i="0" u="none" strike="noStrike" dirty="0">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Guadalupe</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Guanteros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6.828521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-75.227517</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Oro-Au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Otros_depósitos_asociados_a_intrusivos</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buNone/>
                      </a:pPr>
                      <a:r>
                        <a:rPr lang="es-CO" sz="1000" b="0" i="0" u="none" strike="noStrike">
                          <a:solidFill>
                            <a:srgbClr val="000000"/>
                          </a:solidFill>
                          <a:effectLst/>
                          <a:latin typeface="Calibri" panose="020F0502020204030204" pitchFamily="34" charset="0"/>
                        </a:rPr>
                        <a:t>ROCA ÍGNEA PLUTÓNICA</a:t>
                      </a:r>
                      <a:endParaRPr lang="es-CO" sz="1600" b="0" i="0" u="none" strike="noStrike">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403053947"/>
                  </a:ext>
                </a:extLst>
              </a:tr>
              <a:tr h="148386">
                <a:tc>
                  <a:txBody>
                    <a:bodyPr/>
                    <a:lstStyle/>
                    <a:p>
                      <a:pPr algn="ctr" fontAlgn="b">
                        <a:buNone/>
                      </a:pPr>
                      <a:r>
                        <a:rPr lang="es-CO" sz="1000" b="0" i="0" u="none" strike="noStrike">
                          <a:solidFill>
                            <a:srgbClr val="000000"/>
                          </a:solidFill>
                          <a:effectLst/>
                          <a:latin typeface="Calibri" panose="020F0502020204030204" pitchFamily="34" charset="0"/>
                        </a:rPr>
                        <a:t>Ocurrencia</a:t>
                      </a:r>
                      <a:endParaRPr lang="es-CO" sz="1600" b="0" i="0" u="none" strike="noStrike">
                        <a:effectLst/>
                        <a:latin typeface="Arial" panose="020B0604020202020204" pitchFamily="34" charset="0"/>
                      </a:endParaRPr>
                    </a:p>
                  </a:txBody>
                  <a:tcPr marL="4565" marR="4565" marT="4565" marB="0" anchor="b">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Antioquia</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Guadalupe</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San Julián</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6.832691</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-75.211182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Cobre-Cu</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Pirita-FeS2</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a:solidFill>
                            <a:srgbClr val="000000"/>
                          </a:solidFill>
                          <a:effectLst/>
                          <a:latin typeface="Calibri" panose="020F0502020204030204" pitchFamily="34" charset="0"/>
                        </a:rPr>
                        <a:t>Volcanogénico</a:t>
                      </a:r>
                      <a:endParaRPr lang="es-CO" sz="1600" b="0" i="0" u="none" strike="noStrike">
                        <a:effectLst/>
                        <a:latin typeface="Arial" panose="020B0604020202020204" pitchFamily="34" charset="0"/>
                      </a:endParaRPr>
                    </a:p>
                  </a:txBody>
                  <a:tcPr marL="4565" marR="4565" marT="4565"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b">
                        <a:buNone/>
                      </a:pPr>
                      <a:r>
                        <a:rPr lang="es-CO" sz="1000" b="0" i="0" u="none" strike="noStrike" dirty="0">
                          <a:solidFill>
                            <a:srgbClr val="000000"/>
                          </a:solidFill>
                          <a:effectLst/>
                          <a:latin typeface="Calibri" panose="020F0502020204030204" pitchFamily="34" charset="0"/>
                        </a:rPr>
                        <a:t>ROCA ÍGNEA PLUTÓNICA</a:t>
                      </a:r>
                      <a:endParaRPr lang="es-CO" sz="1600" b="0" i="0" u="none" strike="noStrike" dirty="0">
                        <a:effectLst/>
                        <a:latin typeface="Arial" panose="020B0604020202020204" pitchFamily="34" charset="0"/>
                      </a:endParaRPr>
                    </a:p>
                  </a:txBody>
                  <a:tcPr marL="4565" marR="4565" marT="4565" marB="0" anchor="b">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248772740"/>
                  </a:ext>
                </a:extLst>
              </a:tr>
            </a:tbl>
          </a:graphicData>
        </a:graphic>
      </p:graphicFrame>
    </p:spTree>
    <p:extLst>
      <p:ext uri="{BB962C8B-B14F-4D97-AF65-F5344CB8AC3E}">
        <p14:creationId xmlns:p14="http://schemas.microsoft.com/office/powerpoint/2010/main" val="3486543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5F330F-E3AD-42EA-A0F1-FD6F4BAC294E}"/>
              </a:ext>
            </a:extLst>
          </p:cNvPr>
          <p:cNvSpPr>
            <a:spLocks noGrp="1"/>
          </p:cNvSpPr>
          <p:nvPr>
            <p:ph type="title"/>
          </p:nvPr>
        </p:nvSpPr>
        <p:spPr/>
        <p:txBody>
          <a:bodyPr/>
          <a:lstStyle/>
          <a:p>
            <a:r>
              <a:rPr lang="es-ES" dirty="0"/>
              <a:t>Variables</a:t>
            </a:r>
            <a:endParaRPr lang="es-CO" dirty="0"/>
          </a:p>
        </p:txBody>
      </p:sp>
      <p:sp>
        <p:nvSpPr>
          <p:cNvPr id="3" name="Marcador de contenido 2">
            <a:extLst>
              <a:ext uri="{FF2B5EF4-FFF2-40B4-BE49-F238E27FC236}">
                <a16:creationId xmlns:a16="http://schemas.microsoft.com/office/drawing/2014/main" id="{86E32267-281A-4A0A-8436-008A6FF18915}"/>
              </a:ext>
            </a:extLst>
          </p:cNvPr>
          <p:cNvSpPr>
            <a:spLocks noGrp="1"/>
          </p:cNvSpPr>
          <p:nvPr>
            <p:ph idx="1"/>
          </p:nvPr>
        </p:nvSpPr>
        <p:spPr>
          <a:xfrm>
            <a:off x="838200" y="1842403"/>
            <a:ext cx="8435802" cy="4351338"/>
          </a:xfrm>
        </p:spPr>
        <p:txBody>
          <a:bodyPr>
            <a:normAutofit/>
          </a:bodyPr>
          <a:lstStyle/>
          <a:p>
            <a:r>
              <a:rPr lang="es-ES" dirty="0"/>
              <a:t>Atlas Geoquímico Colombia 2022 </a:t>
            </a:r>
            <a:r>
              <a:rPr lang="es-ES" dirty="0">
                <a:hlinkClick r:id="rId2"/>
              </a:rPr>
              <a:t>https://www2.sgc.gov.co/sgc/mapas/Paginas/AtlasGeoquimico.aspx</a:t>
            </a:r>
            <a:r>
              <a:rPr lang="es-ES" dirty="0"/>
              <a:t> </a:t>
            </a:r>
          </a:p>
          <a:p>
            <a:r>
              <a:rPr lang="es-ES" dirty="0"/>
              <a:t>Grosor Corteza (Profundidad Moho) Poveda, 2018 </a:t>
            </a:r>
            <a:r>
              <a:rPr lang="es-ES" dirty="0">
                <a:hlinkClick r:id="rId3"/>
              </a:rPr>
              <a:t>https://agupubs.onlinelibrary.wiley.com/doi/10.1002/2017JB014688</a:t>
            </a:r>
            <a:r>
              <a:rPr lang="es-ES" dirty="0"/>
              <a:t> </a:t>
            </a:r>
          </a:p>
          <a:p>
            <a:r>
              <a:rPr lang="es-CO" dirty="0"/>
              <a:t>Anomalías potencial minero </a:t>
            </a:r>
            <a:r>
              <a:rPr lang="es-CO" dirty="0">
                <a:hlinkClick r:id="rId4"/>
              </a:rPr>
              <a:t>https://datos.sgc.gov.co/datasets/e5988c0200f6405681d6571d92468e92_0/explore</a:t>
            </a:r>
            <a:r>
              <a:rPr lang="es-CO" dirty="0"/>
              <a:t> </a:t>
            </a:r>
          </a:p>
          <a:p>
            <a:r>
              <a:rPr lang="es-CO" dirty="0"/>
              <a:t>Gradiente Geotérmico </a:t>
            </a:r>
            <a:r>
              <a:rPr lang="es-CO" dirty="0">
                <a:hlinkClick r:id="rId5"/>
              </a:rPr>
              <a:t>https://datos.icde.gov.co/search?collection=Dataset&amp;layout=grid&amp;tags=geociencias%2520b%25C3%25A1sicas</a:t>
            </a:r>
            <a:r>
              <a:rPr lang="es-CO" dirty="0"/>
              <a:t> </a:t>
            </a:r>
          </a:p>
          <a:p>
            <a:r>
              <a:rPr lang="es-CO" dirty="0"/>
              <a:t>Catalogo de Dataciones Radiométricas    </a:t>
            </a:r>
            <a:r>
              <a:rPr lang="es-CO" dirty="0">
                <a:hlinkClick r:id="rId6"/>
              </a:rPr>
              <a:t>https://www2.sgc.gov.co/MGC/Paginas/pev33ch03.aspx</a:t>
            </a:r>
            <a:r>
              <a:rPr lang="es-CO" dirty="0"/>
              <a:t> </a:t>
            </a:r>
          </a:p>
          <a:p>
            <a:endParaRPr lang="es-CO" dirty="0"/>
          </a:p>
        </p:txBody>
      </p:sp>
    </p:spTree>
    <p:extLst>
      <p:ext uri="{BB962C8B-B14F-4D97-AF65-F5344CB8AC3E}">
        <p14:creationId xmlns:p14="http://schemas.microsoft.com/office/powerpoint/2010/main" val="144877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BCDA9-D0C4-42EA-85EB-340AFA853F9D}"/>
              </a:ext>
            </a:extLst>
          </p:cNvPr>
          <p:cNvSpPr>
            <a:spLocks noGrp="1"/>
          </p:cNvSpPr>
          <p:nvPr>
            <p:ph type="title"/>
          </p:nvPr>
        </p:nvSpPr>
        <p:spPr/>
        <p:txBody>
          <a:bodyPr/>
          <a:lstStyle/>
          <a:p>
            <a:r>
              <a:rPr lang="es-ES" dirty="0"/>
              <a:t>Pregunta</a:t>
            </a:r>
            <a:endParaRPr lang="es-CO" dirty="0"/>
          </a:p>
        </p:txBody>
      </p:sp>
      <p:sp>
        <p:nvSpPr>
          <p:cNvPr id="3" name="Marcador de contenido 2">
            <a:extLst>
              <a:ext uri="{FF2B5EF4-FFF2-40B4-BE49-F238E27FC236}">
                <a16:creationId xmlns:a16="http://schemas.microsoft.com/office/drawing/2014/main" id="{39651F44-A716-435D-BDCB-2978853D8234}"/>
              </a:ext>
            </a:extLst>
          </p:cNvPr>
          <p:cNvSpPr>
            <a:spLocks noGrp="1"/>
          </p:cNvSpPr>
          <p:nvPr>
            <p:ph idx="1"/>
          </p:nvPr>
        </p:nvSpPr>
        <p:spPr/>
        <p:txBody>
          <a:bodyPr>
            <a:normAutofit/>
          </a:bodyPr>
          <a:lstStyle/>
          <a:p>
            <a:pPr marL="0" indent="0">
              <a:buNone/>
            </a:pPr>
            <a:r>
              <a:rPr lang="es-ES" dirty="0"/>
              <a:t>¿Los depósitos minerales en Colombia, relacionados con procesos Ígneo/Metamórficos,  siguen patrones o están asociados a variables que pueden llegar a explicar su distribución y ayudar con su predicción de ubicación?</a:t>
            </a:r>
          </a:p>
          <a:p>
            <a:pPr marL="0" indent="0">
              <a:buNone/>
            </a:pPr>
            <a:r>
              <a:rPr lang="es-ES" dirty="0"/>
              <a:t>Objetivos:</a:t>
            </a:r>
            <a:r>
              <a:rPr lang="es-CO" dirty="0"/>
              <a:t> </a:t>
            </a:r>
          </a:p>
          <a:p>
            <a:pPr marL="0" indent="0">
              <a:buNone/>
            </a:pPr>
            <a:r>
              <a:rPr lang="es-CO" dirty="0"/>
              <a:t>Entender los patrones en función delas variables previamente mencionadas</a:t>
            </a:r>
          </a:p>
          <a:p>
            <a:pPr marL="0" indent="0">
              <a:buNone/>
            </a:pPr>
            <a:r>
              <a:rPr lang="es-CO" dirty="0"/>
              <a:t>Generar un mapa de probabilidad. </a:t>
            </a:r>
            <a:endParaRPr lang="es-ES" dirty="0"/>
          </a:p>
        </p:txBody>
      </p:sp>
    </p:spTree>
    <p:extLst>
      <p:ext uri="{BB962C8B-B14F-4D97-AF65-F5344CB8AC3E}">
        <p14:creationId xmlns:p14="http://schemas.microsoft.com/office/powerpoint/2010/main" val="2771932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E529C4C-A657-4E60-808D-B9CE258D486B}"/>
              </a:ext>
            </a:extLst>
          </p:cNvPr>
          <p:cNvPicPr>
            <a:picLocks noChangeAspect="1"/>
          </p:cNvPicPr>
          <p:nvPr/>
        </p:nvPicPr>
        <p:blipFill>
          <a:blip r:embed="rId2"/>
          <a:stretch>
            <a:fillRect/>
          </a:stretch>
        </p:blipFill>
        <p:spPr>
          <a:xfrm>
            <a:off x="142875" y="209800"/>
            <a:ext cx="5379620" cy="6061369"/>
          </a:xfrm>
          <a:prstGeom prst="rect">
            <a:avLst/>
          </a:prstGeom>
        </p:spPr>
      </p:pic>
      <p:pic>
        <p:nvPicPr>
          <p:cNvPr id="9" name="Imagen 8">
            <a:extLst>
              <a:ext uri="{FF2B5EF4-FFF2-40B4-BE49-F238E27FC236}">
                <a16:creationId xmlns:a16="http://schemas.microsoft.com/office/drawing/2014/main" id="{46D14AB0-3FA6-4EBE-945A-8BB585A91A8A}"/>
              </a:ext>
            </a:extLst>
          </p:cNvPr>
          <p:cNvPicPr>
            <a:picLocks noChangeAspect="1"/>
          </p:cNvPicPr>
          <p:nvPr/>
        </p:nvPicPr>
        <p:blipFill>
          <a:blip r:embed="rId3"/>
          <a:stretch>
            <a:fillRect/>
          </a:stretch>
        </p:blipFill>
        <p:spPr>
          <a:xfrm>
            <a:off x="6096000" y="209800"/>
            <a:ext cx="5920816" cy="6061369"/>
          </a:xfrm>
          <a:prstGeom prst="rect">
            <a:avLst/>
          </a:prstGeom>
        </p:spPr>
      </p:pic>
    </p:spTree>
    <p:extLst>
      <p:ext uri="{BB962C8B-B14F-4D97-AF65-F5344CB8AC3E}">
        <p14:creationId xmlns:p14="http://schemas.microsoft.com/office/powerpoint/2010/main" val="2301414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4C4F61-E256-4C2A-8A8A-83870DADCEE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0989585-8426-4EDE-B175-8477113A3B30}"/>
              </a:ext>
            </a:extLst>
          </p:cNvPr>
          <p:cNvSpPr>
            <a:spLocks noGrp="1"/>
          </p:cNvSpPr>
          <p:nvPr>
            <p:ph idx="1"/>
          </p:nvPr>
        </p:nvSpPr>
        <p:spPr/>
        <p:txBody>
          <a:bodyPr/>
          <a:lstStyle/>
          <a:p>
            <a:endParaRPr lang="es-CO"/>
          </a:p>
        </p:txBody>
      </p:sp>
      <p:pic>
        <p:nvPicPr>
          <p:cNvPr id="6" name="Imagen 5">
            <a:extLst>
              <a:ext uri="{FF2B5EF4-FFF2-40B4-BE49-F238E27FC236}">
                <a16:creationId xmlns:a16="http://schemas.microsoft.com/office/drawing/2014/main" id="{211CBD0D-CF82-43A0-A1D6-C132CA4FDDB4}"/>
              </a:ext>
            </a:extLst>
          </p:cNvPr>
          <p:cNvPicPr>
            <a:picLocks noChangeAspect="1"/>
          </p:cNvPicPr>
          <p:nvPr/>
        </p:nvPicPr>
        <p:blipFill>
          <a:blip r:embed="rId2"/>
          <a:stretch>
            <a:fillRect/>
          </a:stretch>
        </p:blipFill>
        <p:spPr>
          <a:xfrm>
            <a:off x="5972014" y="108488"/>
            <a:ext cx="6096000" cy="6088284"/>
          </a:xfrm>
          <a:prstGeom prst="rect">
            <a:avLst/>
          </a:prstGeom>
        </p:spPr>
      </p:pic>
      <p:pic>
        <p:nvPicPr>
          <p:cNvPr id="9" name="Imagen 8">
            <a:extLst>
              <a:ext uri="{FF2B5EF4-FFF2-40B4-BE49-F238E27FC236}">
                <a16:creationId xmlns:a16="http://schemas.microsoft.com/office/drawing/2014/main" id="{95194571-E0B4-4DDA-BF13-687F80192D0C}"/>
              </a:ext>
            </a:extLst>
          </p:cNvPr>
          <p:cNvPicPr>
            <a:picLocks noChangeAspect="1"/>
          </p:cNvPicPr>
          <p:nvPr/>
        </p:nvPicPr>
        <p:blipFill>
          <a:blip r:embed="rId3"/>
          <a:stretch>
            <a:fillRect/>
          </a:stretch>
        </p:blipFill>
        <p:spPr>
          <a:xfrm>
            <a:off x="184946" y="108488"/>
            <a:ext cx="5425440" cy="6116918"/>
          </a:xfrm>
          <a:prstGeom prst="rect">
            <a:avLst/>
          </a:prstGeom>
        </p:spPr>
      </p:pic>
    </p:spTree>
    <p:extLst>
      <p:ext uri="{BB962C8B-B14F-4D97-AF65-F5344CB8AC3E}">
        <p14:creationId xmlns:p14="http://schemas.microsoft.com/office/powerpoint/2010/main" val="3754860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C08D75-E165-4878-8351-1F4AD4D6400D}"/>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4BF4DC05-EA50-4843-8CB7-24F5088B0A09}"/>
              </a:ext>
            </a:extLst>
          </p:cNvPr>
          <p:cNvSpPr>
            <a:spLocks noGrp="1"/>
          </p:cNvSpPr>
          <p:nvPr>
            <p:ph idx="1"/>
          </p:nvPr>
        </p:nvSpPr>
        <p:spPr/>
        <p:txBody>
          <a:bodyPr/>
          <a:lstStyle/>
          <a:p>
            <a:endParaRPr lang="es-CO"/>
          </a:p>
        </p:txBody>
      </p:sp>
      <p:pic>
        <p:nvPicPr>
          <p:cNvPr id="6" name="Imagen 5">
            <a:extLst>
              <a:ext uri="{FF2B5EF4-FFF2-40B4-BE49-F238E27FC236}">
                <a16:creationId xmlns:a16="http://schemas.microsoft.com/office/drawing/2014/main" id="{1DD43D86-49EF-4A7C-B4B6-CA066D10ECF0}"/>
              </a:ext>
            </a:extLst>
          </p:cNvPr>
          <p:cNvPicPr>
            <a:picLocks noChangeAspect="1"/>
          </p:cNvPicPr>
          <p:nvPr/>
        </p:nvPicPr>
        <p:blipFill>
          <a:blip r:embed="rId2"/>
          <a:stretch>
            <a:fillRect/>
          </a:stretch>
        </p:blipFill>
        <p:spPr>
          <a:xfrm>
            <a:off x="485774" y="286603"/>
            <a:ext cx="5093189" cy="5738640"/>
          </a:xfrm>
          <a:prstGeom prst="rect">
            <a:avLst/>
          </a:prstGeom>
        </p:spPr>
      </p:pic>
      <p:pic>
        <p:nvPicPr>
          <p:cNvPr id="9" name="Imagen 8">
            <a:extLst>
              <a:ext uri="{FF2B5EF4-FFF2-40B4-BE49-F238E27FC236}">
                <a16:creationId xmlns:a16="http://schemas.microsoft.com/office/drawing/2014/main" id="{8A2C67C0-5DE9-4558-A8A5-04D84FAC22BC}"/>
              </a:ext>
            </a:extLst>
          </p:cNvPr>
          <p:cNvPicPr>
            <a:picLocks noChangeAspect="1"/>
          </p:cNvPicPr>
          <p:nvPr/>
        </p:nvPicPr>
        <p:blipFill>
          <a:blip r:embed="rId3"/>
          <a:stretch>
            <a:fillRect/>
          </a:stretch>
        </p:blipFill>
        <p:spPr>
          <a:xfrm>
            <a:off x="6096000" y="462916"/>
            <a:ext cx="4627418" cy="5426397"/>
          </a:xfrm>
          <a:prstGeom prst="rect">
            <a:avLst/>
          </a:prstGeom>
        </p:spPr>
      </p:pic>
    </p:spTree>
    <p:extLst>
      <p:ext uri="{BB962C8B-B14F-4D97-AF65-F5344CB8AC3E}">
        <p14:creationId xmlns:p14="http://schemas.microsoft.com/office/powerpoint/2010/main" val="2590964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76B0E3-1731-42CC-A7E9-7AC9070C1344}"/>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43C924B-BB9A-4829-AC9F-7F44F7EBE831}"/>
              </a:ext>
            </a:extLst>
          </p:cNvPr>
          <p:cNvSpPr>
            <a:spLocks noGrp="1"/>
          </p:cNvSpPr>
          <p:nvPr>
            <p:ph idx="1"/>
          </p:nvPr>
        </p:nvSpPr>
        <p:spPr/>
        <p:txBody>
          <a:bodyPr/>
          <a:lstStyle/>
          <a:p>
            <a:endParaRPr lang="es-CO"/>
          </a:p>
        </p:txBody>
      </p:sp>
      <p:pic>
        <p:nvPicPr>
          <p:cNvPr id="6" name="Imagen 5">
            <a:extLst>
              <a:ext uri="{FF2B5EF4-FFF2-40B4-BE49-F238E27FC236}">
                <a16:creationId xmlns:a16="http://schemas.microsoft.com/office/drawing/2014/main" id="{504540DB-FA69-45AD-ACF0-F418CBDCC11C}"/>
              </a:ext>
            </a:extLst>
          </p:cNvPr>
          <p:cNvPicPr>
            <a:picLocks noChangeAspect="1"/>
          </p:cNvPicPr>
          <p:nvPr/>
        </p:nvPicPr>
        <p:blipFill>
          <a:blip r:embed="rId2"/>
          <a:stretch>
            <a:fillRect/>
          </a:stretch>
        </p:blipFill>
        <p:spPr>
          <a:xfrm>
            <a:off x="1097280" y="718597"/>
            <a:ext cx="4276490" cy="4632305"/>
          </a:xfrm>
          <a:prstGeom prst="rect">
            <a:avLst/>
          </a:prstGeom>
        </p:spPr>
      </p:pic>
      <p:pic>
        <p:nvPicPr>
          <p:cNvPr id="10" name="Imagen 9">
            <a:extLst>
              <a:ext uri="{FF2B5EF4-FFF2-40B4-BE49-F238E27FC236}">
                <a16:creationId xmlns:a16="http://schemas.microsoft.com/office/drawing/2014/main" id="{38718A3E-CAAC-43BF-80DF-9FB9AA2166B2}"/>
              </a:ext>
            </a:extLst>
          </p:cNvPr>
          <p:cNvPicPr>
            <a:picLocks noChangeAspect="1"/>
          </p:cNvPicPr>
          <p:nvPr/>
        </p:nvPicPr>
        <p:blipFill>
          <a:blip r:embed="rId3"/>
          <a:stretch>
            <a:fillRect/>
          </a:stretch>
        </p:blipFill>
        <p:spPr>
          <a:xfrm>
            <a:off x="6818230" y="592052"/>
            <a:ext cx="4276490" cy="4885394"/>
          </a:xfrm>
          <a:prstGeom prst="rect">
            <a:avLst/>
          </a:prstGeom>
        </p:spPr>
      </p:pic>
    </p:spTree>
    <p:extLst>
      <p:ext uri="{BB962C8B-B14F-4D97-AF65-F5344CB8AC3E}">
        <p14:creationId xmlns:p14="http://schemas.microsoft.com/office/powerpoint/2010/main" val="224934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134EDA-825A-4D82-9FE0-FDD8D51A7E4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C71C1E8-C157-44E7-A634-4BA91B39D07B}"/>
              </a:ext>
            </a:extLst>
          </p:cNvPr>
          <p:cNvSpPr>
            <a:spLocks noGrp="1"/>
          </p:cNvSpPr>
          <p:nvPr>
            <p:ph idx="1"/>
          </p:nvPr>
        </p:nvSpPr>
        <p:spPr/>
        <p:txBody>
          <a:bodyPr/>
          <a:lstStyle/>
          <a:p>
            <a:endParaRPr lang="es-CO"/>
          </a:p>
        </p:txBody>
      </p:sp>
      <p:pic>
        <p:nvPicPr>
          <p:cNvPr id="9" name="Imagen 8">
            <a:extLst>
              <a:ext uri="{FF2B5EF4-FFF2-40B4-BE49-F238E27FC236}">
                <a16:creationId xmlns:a16="http://schemas.microsoft.com/office/drawing/2014/main" id="{DA34069B-5542-4A1A-BB75-F63849AE0BC8}"/>
              </a:ext>
            </a:extLst>
          </p:cNvPr>
          <p:cNvPicPr>
            <a:picLocks noChangeAspect="1"/>
          </p:cNvPicPr>
          <p:nvPr/>
        </p:nvPicPr>
        <p:blipFill>
          <a:blip r:embed="rId2"/>
          <a:stretch>
            <a:fillRect/>
          </a:stretch>
        </p:blipFill>
        <p:spPr>
          <a:xfrm>
            <a:off x="333375" y="142875"/>
            <a:ext cx="5230517" cy="5965383"/>
          </a:xfrm>
          <a:prstGeom prst="rect">
            <a:avLst/>
          </a:prstGeom>
        </p:spPr>
      </p:pic>
      <p:pic>
        <p:nvPicPr>
          <p:cNvPr id="5" name="Imagen 4">
            <a:extLst>
              <a:ext uri="{FF2B5EF4-FFF2-40B4-BE49-F238E27FC236}">
                <a16:creationId xmlns:a16="http://schemas.microsoft.com/office/drawing/2014/main" id="{EE45097D-C4D4-49A8-9B1F-B9E51649933D}"/>
              </a:ext>
            </a:extLst>
          </p:cNvPr>
          <p:cNvPicPr>
            <a:picLocks noChangeAspect="1"/>
          </p:cNvPicPr>
          <p:nvPr/>
        </p:nvPicPr>
        <p:blipFill rotWithShape="1">
          <a:blip r:embed="rId3"/>
          <a:srcRect t="5999"/>
          <a:stretch/>
        </p:blipFill>
        <p:spPr>
          <a:xfrm>
            <a:off x="6096000" y="265079"/>
            <a:ext cx="5230516" cy="5720973"/>
          </a:xfrm>
          <a:prstGeom prst="rect">
            <a:avLst/>
          </a:prstGeom>
        </p:spPr>
      </p:pic>
    </p:spTree>
    <p:extLst>
      <p:ext uri="{BB962C8B-B14F-4D97-AF65-F5344CB8AC3E}">
        <p14:creationId xmlns:p14="http://schemas.microsoft.com/office/powerpoint/2010/main" val="1309394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022A1C-6497-4D30-AF33-1C9F45D0EA29}"/>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EEDCA72-BEFD-4F9C-B88F-F62C79427690}"/>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841D619-5EDD-4472-A44B-38B5D673F73E}"/>
              </a:ext>
            </a:extLst>
          </p:cNvPr>
          <p:cNvPicPr>
            <a:picLocks noChangeAspect="1"/>
          </p:cNvPicPr>
          <p:nvPr/>
        </p:nvPicPr>
        <p:blipFill>
          <a:blip r:embed="rId2"/>
          <a:stretch>
            <a:fillRect/>
          </a:stretch>
        </p:blipFill>
        <p:spPr>
          <a:xfrm>
            <a:off x="1357418" y="482738"/>
            <a:ext cx="4520088" cy="5892524"/>
          </a:xfrm>
          <a:prstGeom prst="rect">
            <a:avLst/>
          </a:prstGeom>
        </p:spPr>
      </p:pic>
      <p:pic>
        <p:nvPicPr>
          <p:cNvPr id="7" name="Imagen 6">
            <a:extLst>
              <a:ext uri="{FF2B5EF4-FFF2-40B4-BE49-F238E27FC236}">
                <a16:creationId xmlns:a16="http://schemas.microsoft.com/office/drawing/2014/main" id="{43F08A0A-3A64-48B7-B677-7A72A0A83073}"/>
              </a:ext>
            </a:extLst>
          </p:cNvPr>
          <p:cNvPicPr>
            <a:picLocks noChangeAspect="1"/>
          </p:cNvPicPr>
          <p:nvPr/>
        </p:nvPicPr>
        <p:blipFill>
          <a:blip r:embed="rId3"/>
          <a:stretch>
            <a:fillRect/>
          </a:stretch>
        </p:blipFill>
        <p:spPr>
          <a:xfrm>
            <a:off x="6737823" y="482738"/>
            <a:ext cx="4356897" cy="5892524"/>
          </a:xfrm>
          <a:prstGeom prst="rect">
            <a:avLst/>
          </a:prstGeom>
        </p:spPr>
      </p:pic>
    </p:spTree>
    <p:extLst>
      <p:ext uri="{BB962C8B-B14F-4D97-AF65-F5344CB8AC3E}">
        <p14:creationId xmlns:p14="http://schemas.microsoft.com/office/powerpoint/2010/main" val="1739475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4918AE-B79E-4F8F-8737-89A42AA65FE4}"/>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CE349729-AECA-4B97-A251-156C52B353A5}"/>
              </a:ext>
            </a:extLst>
          </p:cNvPr>
          <p:cNvSpPr>
            <a:spLocks noGrp="1"/>
          </p:cNvSpPr>
          <p:nvPr>
            <p:ph idx="1"/>
          </p:nvPr>
        </p:nvSpPr>
        <p:spPr/>
        <p:txBody>
          <a:bodyPr/>
          <a:lstStyle/>
          <a:p>
            <a:endParaRPr lang="es-CO"/>
          </a:p>
        </p:txBody>
      </p:sp>
      <p:pic>
        <p:nvPicPr>
          <p:cNvPr id="6" name="Imagen 5">
            <a:extLst>
              <a:ext uri="{FF2B5EF4-FFF2-40B4-BE49-F238E27FC236}">
                <a16:creationId xmlns:a16="http://schemas.microsoft.com/office/drawing/2014/main" id="{2B399DD0-2DD4-418C-B5C2-5300F3A610DB}"/>
              </a:ext>
            </a:extLst>
          </p:cNvPr>
          <p:cNvPicPr>
            <a:picLocks noChangeAspect="1"/>
          </p:cNvPicPr>
          <p:nvPr/>
        </p:nvPicPr>
        <p:blipFill>
          <a:blip r:embed="rId2"/>
          <a:stretch>
            <a:fillRect/>
          </a:stretch>
        </p:blipFill>
        <p:spPr>
          <a:xfrm>
            <a:off x="5791200" y="104775"/>
            <a:ext cx="6400800" cy="6648450"/>
          </a:xfrm>
          <a:prstGeom prst="rect">
            <a:avLst/>
          </a:prstGeom>
        </p:spPr>
      </p:pic>
      <p:pic>
        <p:nvPicPr>
          <p:cNvPr id="9" name="Imagen 8">
            <a:extLst>
              <a:ext uri="{FF2B5EF4-FFF2-40B4-BE49-F238E27FC236}">
                <a16:creationId xmlns:a16="http://schemas.microsoft.com/office/drawing/2014/main" id="{0CA85EBD-8986-46E7-884D-EE8C601BFFC8}"/>
              </a:ext>
            </a:extLst>
          </p:cNvPr>
          <p:cNvPicPr>
            <a:picLocks noChangeAspect="1"/>
          </p:cNvPicPr>
          <p:nvPr/>
        </p:nvPicPr>
        <p:blipFill>
          <a:blip r:embed="rId3"/>
          <a:stretch>
            <a:fillRect/>
          </a:stretch>
        </p:blipFill>
        <p:spPr>
          <a:xfrm>
            <a:off x="295965" y="3038193"/>
            <a:ext cx="5288450" cy="2082448"/>
          </a:xfrm>
          <a:prstGeom prst="rect">
            <a:avLst/>
          </a:prstGeom>
        </p:spPr>
      </p:pic>
    </p:spTree>
    <p:extLst>
      <p:ext uri="{BB962C8B-B14F-4D97-AF65-F5344CB8AC3E}">
        <p14:creationId xmlns:p14="http://schemas.microsoft.com/office/powerpoint/2010/main" val="39056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48303-1D3C-4FA8-A6FE-A26375DA4C6C}"/>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DA1FBF16-C417-417E-AAD9-3AFAF6E2CB29}"/>
              </a:ext>
            </a:extLst>
          </p:cNvPr>
          <p:cNvSpPr>
            <a:spLocks noGrp="1"/>
          </p:cNvSpPr>
          <p:nvPr>
            <p:ph idx="1"/>
          </p:nvPr>
        </p:nvSpPr>
        <p:spPr/>
        <p:txBody>
          <a:bodyPr/>
          <a:lstStyle/>
          <a:p>
            <a:endParaRPr lang="es-CO"/>
          </a:p>
        </p:txBody>
      </p:sp>
      <p:pic>
        <p:nvPicPr>
          <p:cNvPr id="6" name="Imagen 5">
            <a:extLst>
              <a:ext uri="{FF2B5EF4-FFF2-40B4-BE49-F238E27FC236}">
                <a16:creationId xmlns:a16="http://schemas.microsoft.com/office/drawing/2014/main" id="{CE1C942D-0FB1-4560-94C9-9AFD9B7929C5}"/>
              </a:ext>
            </a:extLst>
          </p:cNvPr>
          <p:cNvPicPr>
            <a:picLocks noChangeAspect="1"/>
          </p:cNvPicPr>
          <p:nvPr/>
        </p:nvPicPr>
        <p:blipFill rotWithShape="1">
          <a:blip r:embed="rId2"/>
          <a:srcRect l="59186"/>
          <a:stretch/>
        </p:blipFill>
        <p:spPr>
          <a:xfrm>
            <a:off x="0" y="286603"/>
            <a:ext cx="6651808" cy="2165879"/>
          </a:xfrm>
          <a:prstGeom prst="rect">
            <a:avLst/>
          </a:prstGeom>
        </p:spPr>
      </p:pic>
      <p:pic>
        <p:nvPicPr>
          <p:cNvPr id="8" name="Imagen 7">
            <a:extLst>
              <a:ext uri="{FF2B5EF4-FFF2-40B4-BE49-F238E27FC236}">
                <a16:creationId xmlns:a16="http://schemas.microsoft.com/office/drawing/2014/main" id="{3C5FDCDC-F336-4723-96DF-7D58869FF1F9}"/>
              </a:ext>
            </a:extLst>
          </p:cNvPr>
          <p:cNvPicPr>
            <a:picLocks noChangeAspect="1"/>
          </p:cNvPicPr>
          <p:nvPr/>
        </p:nvPicPr>
        <p:blipFill>
          <a:blip r:embed="rId3"/>
          <a:stretch>
            <a:fillRect/>
          </a:stretch>
        </p:blipFill>
        <p:spPr>
          <a:xfrm>
            <a:off x="6759490" y="0"/>
            <a:ext cx="5432510" cy="6858000"/>
          </a:xfrm>
          <a:prstGeom prst="rect">
            <a:avLst/>
          </a:prstGeom>
        </p:spPr>
      </p:pic>
      <p:pic>
        <p:nvPicPr>
          <p:cNvPr id="5" name="Imagen 4">
            <a:extLst>
              <a:ext uri="{FF2B5EF4-FFF2-40B4-BE49-F238E27FC236}">
                <a16:creationId xmlns:a16="http://schemas.microsoft.com/office/drawing/2014/main" id="{5F7BAA03-066E-47C5-BDDE-F30BFB08030C}"/>
              </a:ext>
            </a:extLst>
          </p:cNvPr>
          <p:cNvPicPr>
            <a:picLocks noChangeAspect="1"/>
          </p:cNvPicPr>
          <p:nvPr/>
        </p:nvPicPr>
        <p:blipFill>
          <a:blip r:embed="rId4"/>
          <a:stretch>
            <a:fillRect/>
          </a:stretch>
        </p:blipFill>
        <p:spPr>
          <a:xfrm>
            <a:off x="6759490" y="8467"/>
            <a:ext cx="5356185" cy="6858000"/>
          </a:xfrm>
          <a:prstGeom prst="rect">
            <a:avLst/>
          </a:prstGeom>
        </p:spPr>
      </p:pic>
    </p:spTree>
    <p:extLst>
      <p:ext uri="{BB962C8B-B14F-4D97-AF65-F5344CB8AC3E}">
        <p14:creationId xmlns:p14="http://schemas.microsoft.com/office/powerpoint/2010/main" val="416485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A2A993-BF4D-4A02-BFC3-C2CDB81FBB05}"/>
              </a:ext>
            </a:extLst>
          </p:cNvPr>
          <p:cNvSpPr>
            <a:spLocks noGrp="1"/>
          </p:cNvSpPr>
          <p:nvPr>
            <p:ph type="title"/>
          </p:nvPr>
        </p:nvSpPr>
        <p:spPr/>
        <p:txBody>
          <a:bodyPr/>
          <a:lstStyle/>
          <a:p>
            <a:r>
              <a:rPr lang="es-ES" b="1" dirty="0" err="1"/>
              <a:t>Pathfinders</a:t>
            </a:r>
            <a:endParaRPr lang="es-CO" dirty="0"/>
          </a:p>
        </p:txBody>
      </p:sp>
      <p:graphicFrame>
        <p:nvGraphicFramePr>
          <p:cNvPr id="4" name="Tabla 3">
            <a:extLst>
              <a:ext uri="{FF2B5EF4-FFF2-40B4-BE49-F238E27FC236}">
                <a16:creationId xmlns:a16="http://schemas.microsoft.com/office/drawing/2014/main" id="{321E35F6-5A38-4C84-84EE-929F85474861}"/>
              </a:ext>
            </a:extLst>
          </p:cNvPr>
          <p:cNvGraphicFramePr>
            <a:graphicFrameLocks noGrp="1"/>
          </p:cNvGraphicFramePr>
          <p:nvPr>
            <p:extLst>
              <p:ext uri="{D42A27DB-BD31-4B8C-83A1-F6EECF244321}">
                <p14:modId xmlns:p14="http://schemas.microsoft.com/office/powerpoint/2010/main" val="84373371"/>
              </p:ext>
            </p:extLst>
          </p:nvPr>
        </p:nvGraphicFramePr>
        <p:xfrm>
          <a:off x="4026247" y="1982506"/>
          <a:ext cx="10950222" cy="4077080"/>
        </p:xfrm>
        <a:graphic>
          <a:graphicData uri="http://schemas.openxmlformats.org/drawingml/2006/table">
            <a:tbl>
              <a:tblPr/>
              <a:tblGrid>
                <a:gridCol w="2686756">
                  <a:extLst>
                    <a:ext uri="{9D8B030D-6E8A-4147-A177-3AD203B41FA5}">
                      <a16:colId xmlns:a16="http://schemas.microsoft.com/office/drawing/2014/main" val="1024598556"/>
                    </a:ext>
                  </a:extLst>
                </a:gridCol>
                <a:gridCol w="1862666">
                  <a:extLst>
                    <a:ext uri="{9D8B030D-6E8A-4147-A177-3AD203B41FA5}">
                      <a16:colId xmlns:a16="http://schemas.microsoft.com/office/drawing/2014/main" val="947597879"/>
                    </a:ext>
                  </a:extLst>
                </a:gridCol>
                <a:gridCol w="6400800">
                  <a:extLst>
                    <a:ext uri="{9D8B030D-6E8A-4147-A177-3AD203B41FA5}">
                      <a16:colId xmlns:a16="http://schemas.microsoft.com/office/drawing/2014/main" val="2197376673"/>
                    </a:ext>
                  </a:extLst>
                </a:gridCol>
              </a:tblGrid>
              <a:tr h="198653">
                <a:tc>
                  <a:txBody>
                    <a:bodyPr/>
                    <a:lstStyle/>
                    <a:p>
                      <a:r>
                        <a:rPr lang="es-CO" sz="1200"/>
                        <a:t>Tipo de depósito</a:t>
                      </a:r>
                    </a:p>
                  </a:txBody>
                  <a:tcPr marL="49663" marR="49663" marT="24832" marB="24832" anchor="ctr">
                    <a:lnL>
                      <a:noFill/>
                    </a:lnL>
                    <a:lnR>
                      <a:noFill/>
                    </a:lnR>
                    <a:lnT>
                      <a:noFill/>
                    </a:lnT>
                    <a:lnB>
                      <a:noFill/>
                    </a:lnB>
                  </a:tcPr>
                </a:tc>
                <a:tc>
                  <a:txBody>
                    <a:bodyPr/>
                    <a:lstStyle/>
                    <a:p>
                      <a:r>
                        <a:rPr lang="es-CO" sz="1200"/>
                        <a:t>Elementos pathfinder</a:t>
                      </a:r>
                    </a:p>
                  </a:txBody>
                  <a:tcPr marL="49663" marR="49663" marT="24832" marB="24832" anchor="ctr">
                    <a:lnL>
                      <a:noFill/>
                    </a:lnL>
                    <a:lnR>
                      <a:noFill/>
                    </a:lnR>
                    <a:lnT>
                      <a:noFill/>
                    </a:lnT>
                    <a:lnB>
                      <a:noFill/>
                    </a:lnB>
                  </a:tcPr>
                </a:tc>
                <a:tc>
                  <a:txBody>
                    <a:bodyPr/>
                    <a:lstStyle/>
                    <a:p>
                      <a:r>
                        <a:rPr lang="es-CO" sz="1200"/>
                        <a:t>Procesos geológicos asociados</a:t>
                      </a:r>
                    </a:p>
                  </a:txBody>
                  <a:tcPr marL="49663" marR="49663" marT="24832" marB="24832" anchor="ctr">
                    <a:lnL>
                      <a:noFill/>
                    </a:lnL>
                    <a:lnR>
                      <a:noFill/>
                    </a:lnR>
                    <a:lnT>
                      <a:noFill/>
                    </a:lnT>
                    <a:lnB>
                      <a:noFill/>
                    </a:lnB>
                  </a:tcPr>
                </a:tc>
                <a:extLst>
                  <a:ext uri="{0D108BD9-81ED-4DB2-BD59-A6C34878D82A}">
                    <a16:rowId xmlns:a16="http://schemas.microsoft.com/office/drawing/2014/main" val="1255089795"/>
                  </a:ext>
                </a:extLst>
              </a:tr>
              <a:tr h="347643">
                <a:tc>
                  <a:txBody>
                    <a:bodyPr/>
                    <a:lstStyle/>
                    <a:p>
                      <a:r>
                        <a:rPr lang="es-ES" sz="1200" b="1" dirty="0"/>
                        <a:t>Oro epitermal</a:t>
                      </a:r>
                      <a:r>
                        <a:rPr lang="es-ES" sz="1200" dirty="0"/>
                        <a:t> (de baja sulfuración)</a:t>
                      </a:r>
                    </a:p>
                  </a:txBody>
                  <a:tcPr marL="49663" marR="49663" marT="24832" marB="24832" anchor="ctr">
                    <a:lnL>
                      <a:noFill/>
                    </a:lnL>
                    <a:lnR>
                      <a:noFill/>
                    </a:lnR>
                    <a:lnT>
                      <a:noFill/>
                    </a:lnT>
                    <a:lnB>
                      <a:noFill/>
                    </a:lnB>
                  </a:tcPr>
                </a:tc>
                <a:tc>
                  <a:txBody>
                    <a:bodyPr/>
                    <a:lstStyle/>
                    <a:p>
                      <a:r>
                        <a:rPr lang="en-US" sz="1200"/>
                        <a:t>As, Sb, Hg, Tl, Ag</a:t>
                      </a:r>
                    </a:p>
                  </a:txBody>
                  <a:tcPr marL="49663" marR="49663" marT="24832" marB="24832" anchor="ctr">
                    <a:lnL>
                      <a:noFill/>
                    </a:lnL>
                    <a:lnR>
                      <a:noFill/>
                    </a:lnR>
                    <a:lnT>
                      <a:noFill/>
                    </a:lnT>
                    <a:lnB>
                      <a:noFill/>
                    </a:lnB>
                  </a:tcPr>
                </a:tc>
                <a:tc>
                  <a:txBody>
                    <a:bodyPr/>
                    <a:lstStyle/>
                    <a:p>
                      <a:r>
                        <a:rPr lang="es-ES" sz="1200"/>
                        <a:t>Fluidos hidrotermales, sulfuros y sulfosales</a:t>
                      </a:r>
                    </a:p>
                  </a:txBody>
                  <a:tcPr marL="49663" marR="49663" marT="24832" marB="24832" anchor="ctr">
                    <a:lnL>
                      <a:noFill/>
                    </a:lnL>
                    <a:lnR>
                      <a:noFill/>
                    </a:lnR>
                    <a:lnT>
                      <a:noFill/>
                    </a:lnT>
                    <a:lnB>
                      <a:noFill/>
                    </a:lnB>
                  </a:tcPr>
                </a:tc>
                <a:extLst>
                  <a:ext uri="{0D108BD9-81ED-4DB2-BD59-A6C34878D82A}">
                    <a16:rowId xmlns:a16="http://schemas.microsoft.com/office/drawing/2014/main" val="951718413"/>
                  </a:ext>
                </a:extLst>
              </a:tr>
              <a:tr h="347643">
                <a:tc>
                  <a:txBody>
                    <a:bodyPr/>
                    <a:lstStyle/>
                    <a:p>
                      <a:r>
                        <a:rPr lang="es-ES" sz="1200" b="1" dirty="0"/>
                        <a:t>Oro epitermal</a:t>
                      </a:r>
                      <a:r>
                        <a:rPr lang="es-ES" sz="1200" dirty="0"/>
                        <a:t> (de alta sulfuración)</a:t>
                      </a:r>
                    </a:p>
                  </a:txBody>
                  <a:tcPr marL="49663" marR="49663" marT="24832" marB="24832" anchor="ctr">
                    <a:lnL>
                      <a:noFill/>
                    </a:lnL>
                    <a:lnR>
                      <a:noFill/>
                    </a:lnR>
                    <a:lnT>
                      <a:noFill/>
                    </a:lnT>
                    <a:lnB>
                      <a:noFill/>
                    </a:lnB>
                  </a:tcPr>
                </a:tc>
                <a:tc>
                  <a:txBody>
                    <a:bodyPr/>
                    <a:lstStyle/>
                    <a:p>
                      <a:r>
                        <a:rPr lang="pt-BR" sz="1200"/>
                        <a:t>As, Sb, Te, Bi, Se, S, Mo, Cu</a:t>
                      </a:r>
                    </a:p>
                  </a:txBody>
                  <a:tcPr marL="49663" marR="49663" marT="24832" marB="24832" anchor="ctr">
                    <a:lnL>
                      <a:noFill/>
                    </a:lnL>
                    <a:lnR>
                      <a:noFill/>
                    </a:lnR>
                    <a:lnT>
                      <a:noFill/>
                    </a:lnT>
                    <a:lnB>
                      <a:noFill/>
                    </a:lnB>
                  </a:tcPr>
                </a:tc>
                <a:tc>
                  <a:txBody>
                    <a:bodyPr/>
                    <a:lstStyle/>
                    <a:p>
                      <a:r>
                        <a:rPr lang="es-ES" sz="1200" dirty="0"/>
                        <a:t>Alteración argílica avanzada, vapor magmático</a:t>
                      </a:r>
                    </a:p>
                  </a:txBody>
                  <a:tcPr marL="49663" marR="49663" marT="24832" marB="24832" anchor="ctr">
                    <a:lnL>
                      <a:noFill/>
                    </a:lnL>
                    <a:lnR>
                      <a:noFill/>
                    </a:lnR>
                    <a:lnT>
                      <a:noFill/>
                    </a:lnT>
                    <a:lnB>
                      <a:noFill/>
                    </a:lnB>
                  </a:tcPr>
                </a:tc>
                <a:extLst>
                  <a:ext uri="{0D108BD9-81ED-4DB2-BD59-A6C34878D82A}">
                    <a16:rowId xmlns:a16="http://schemas.microsoft.com/office/drawing/2014/main" val="2742733962"/>
                  </a:ext>
                </a:extLst>
              </a:tr>
              <a:tr h="347643">
                <a:tc>
                  <a:txBody>
                    <a:bodyPr/>
                    <a:lstStyle/>
                    <a:p>
                      <a:r>
                        <a:rPr lang="es-CO" sz="1200" b="1"/>
                        <a:t>Oro orogénico</a:t>
                      </a:r>
                      <a:endParaRPr lang="es-CO" sz="1200"/>
                    </a:p>
                  </a:txBody>
                  <a:tcPr marL="49663" marR="49663" marT="24832" marB="24832" anchor="ctr">
                    <a:lnL>
                      <a:noFill/>
                    </a:lnL>
                    <a:lnR>
                      <a:noFill/>
                    </a:lnR>
                    <a:lnT>
                      <a:noFill/>
                    </a:lnT>
                    <a:lnB>
                      <a:noFill/>
                    </a:lnB>
                  </a:tcPr>
                </a:tc>
                <a:tc>
                  <a:txBody>
                    <a:bodyPr/>
                    <a:lstStyle/>
                    <a:p>
                      <a:r>
                        <a:rPr lang="pl-PL" sz="1200"/>
                        <a:t>As, Sb, W, Bi, Te, Ag</a:t>
                      </a:r>
                    </a:p>
                  </a:txBody>
                  <a:tcPr marL="49663" marR="49663" marT="24832" marB="24832" anchor="ctr">
                    <a:lnL>
                      <a:noFill/>
                    </a:lnL>
                    <a:lnR>
                      <a:noFill/>
                    </a:lnR>
                    <a:lnT>
                      <a:noFill/>
                    </a:lnT>
                    <a:lnB>
                      <a:noFill/>
                    </a:lnB>
                  </a:tcPr>
                </a:tc>
                <a:tc>
                  <a:txBody>
                    <a:bodyPr/>
                    <a:lstStyle/>
                    <a:p>
                      <a:r>
                        <a:rPr lang="es-CO" sz="1200" dirty="0"/>
                        <a:t>Circulación de fluidos metamórficos, zonas de cizalla</a:t>
                      </a:r>
                    </a:p>
                  </a:txBody>
                  <a:tcPr marL="49663" marR="49663" marT="24832" marB="24832" anchor="ctr">
                    <a:lnL>
                      <a:noFill/>
                    </a:lnL>
                    <a:lnR>
                      <a:noFill/>
                    </a:lnR>
                    <a:lnT>
                      <a:noFill/>
                    </a:lnT>
                    <a:lnB>
                      <a:noFill/>
                    </a:lnB>
                  </a:tcPr>
                </a:tc>
                <a:extLst>
                  <a:ext uri="{0D108BD9-81ED-4DB2-BD59-A6C34878D82A}">
                    <a16:rowId xmlns:a16="http://schemas.microsoft.com/office/drawing/2014/main" val="688226458"/>
                  </a:ext>
                </a:extLst>
              </a:tr>
              <a:tr h="347643">
                <a:tc>
                  <a:txBody>
                    <a:bodyPr/>
                    <a:lstStyle/>
                    <a:p>
                      <a:r>
                        <a:rPr lang="es-CO" sz="1200" b="1"/>
                        <a:t>Pórfido Cu-Au-Mo</a:t>
                      </a:r>
                      <a:endParaRPr lang="es-CO" sz="1200"/>
                    </a:p>
                  </a:txBody>
                  <a:tcPr marL="49663" marR="49663" marT="24832" marB="24832" anchor="ctr">
                    <a:lnL>
                      <a:noFill/>
                    </a:lnL>
                    <a:lnR>
                      <a:noFill/>
                    </a:lnR>
                    <a:lnT>
                      <a:noFill/>
                    </a:lnT>
                    <a:lnB>
                      <a:noFill/>
                    </a:lnB>
                  </a:tcPr>
                </a:tc>
                <a:tc>
                  <a:txBody>
                    <a:bodyPr/>
                    <a:lstStyle/>
                    <a:p>
                      <a:r>
                        <a:rPr lang="de-DE" sz="1200"/>
                        <a:t>Mo, Cu, Au, Ag, Re, S, K, Bi</a:t>
                      </a:r>
                    </a:p>
                  </a:txBody>
                  <a:tcPr marL="49663" marR="49663" marT="24832" marB="24832" anchor="ctr">
                    <a:lnL>
                      <a:noFill/>
                    </a:lnL>
                    <a:lnR>
                      <a:noFill/>
                    </a:lnR>
                    <a:lnT>
                      <a:noFill/>
                    </a:lnT>
                    <a:lnB>
                      <a:noFill/>
                    </a:lnB>
                  </a:tcPr>
                </a:tc>
                <a:tc>
                  <a:txBody>
                    <a:bodyPr/>
                    <a:lstStyle/>
                    <a:p>
                      <a:r>
                        <a:rPr lang="es-ES" sz="1200"/>
                        <a:t>Alteración potásica y fílica, intrusiones graníticas</a:t>
                      </a:r>
                    </a:p>
                  </a:txBody>
                  <a:tcPr marL="49663" marR="49663" marT="24832" marB="24832" anchor="ctr">
                    <a:lnL>
                      <a:noFill/>
                    </a:lnL>
                    <a:lnR>
                      <a:noFill/>
                    </a:lnR>
                    <a:lnT>
                      <a:noFill/>
                    </a:lnT>
                    <a:lnB>
                      <a:noFill/>
                    </a:lnB>
                  </a:tcPr>
                </a:tc>
                <a:extLst>
                  <a:ext uri="{0D108BD9-81ED-4DB2-BD59-A6C34878D82A}">
                    <a16:rowId xmlns:a16="http://schemas.microsoft.com/office/drawing/2014/main" val="3107850722"/>
                  </a:ext>
                </a:extLst>
              </a:tr>
              <a:tr h="347643">
                <a:tc>
                  <a:txBody>
                    <a:bodyPr/>
                    <a:lstStyle/>
                    <a:p>
                      <a:r>
                        <a:rPr lang="es-CO" sz="1200" b="1"/>
                        <a:t>Depósitos tipo skarn</a:t>
                      </a:r>
                      <a:endParaRPr lang="es-CO" sz="1200"/>
                    </a:p>
                  </a:txBody>
                  <a:tcPr marL="49663" marR="49663" marT="24832" marB="24832" anchor="ctr">
                    <a:lnL>
                      <a:noFill/>
                    </a:lnL>
                    <a:lnR>
                      <a:noFill/>
                    </a:lnR>
                    <a:lnT>
                      <a:noFill/>
                    </a:lnT>
                    <a:lnB>
                      <a:noFill/>
                    </a:lnB>
                  </a:tcPr>
                </a:tc>
                <a:tc>
                  <a:txBody>
                    <a:bodyPr/>
                    <a:lstStyle/>
                    <a:p>
                      <a:r>
                        <a:rPr lang="pl-PL" sz="1200"/>
                        <a:t>W, Mo, Sn, Bi, F, B, Zn, Cu</a:t>
                      </a:r>
                    </a:p>
                  </a:txBody>
                  <a:tcPr marL="49663" marR="49663" marT="24832" marB="24832" anchor="ctr">
                    <a:lnL>
                      <a:noFill/>
                    </a:lnL>
                    <a:lnR>
                      <a:noFill/>
                    </a:lnR>
                    <a:lnT>
                      <a:noFill/>
                    </a:lnT>
                    <a:lnB>
                      <a:noFill/>
                    </a:lnB>
                  </a:tcPr>
                </a:tc>
                <a:tc>
                  <a:txBody>
                    <a:bodyPr/>
                    <a:lstStyle/>
                    <a:p>
                      <a:r>
                        <a:rPr lang="pt-BR" sz="1200" dirty="0" err="1"/>
                        <a:t>Metasomatismo</a:t>
                      </a:r>
                      <a:r>
                        <a:rPr lang="pt-BR" sz="1200" dirty="0"/>
                        <a:t> entre rocas carbonatadas e intrusivos</a:t>
                      </a:r>
                    </a:p>
                  </a:txBody>
                  <a:tcPr marL="49663" marR="49663" marT="24832" marB="24832" anchor="ctr">
                    <a:lnL>
                      <a:noFill/>
                    </a:lnL>
                    <a:lnR>
                      <a:noFill/>
                    </a:lnR>
                    <a:lnT>
                      <a:noFill/>
                    </a:lnT>
                    <a:lnB>
                      <a:noFill/>
                    </a:lnB>
                  </a:tcPr>
                </a:tc>
                <a:extLst>
                  <a:ext uri="{0D108BD9-81ED-4DB2-BD59-A6C34878D82A}">
                    <a16:rowId xmlns:a16="http://schemas.microsoft.com/office/drawing/2014/main" val="4105114243"/>
                  </a:ext>
                </a:extLst>
              </a:tr>
              <a:tr h="347643">
                <a:tc>
                  <a:txBody>
                    <a:bodyPr/>
                    <a:lstStyle/>
                    <a:p>
                      <a:r>
                        <a:rPr lang="es-CO" sz="1200" b="1"/>
                        <a:t>Depósitos VMS (sulfuro masivo volcanogénico)</a:t>
                      </a:r>
                      <a:endParaRPr lang="es-CO" sz="1200"/>
                    </a:p>
                  </a:txBody>
                  <a:tcPr marL="49663" marR="49663" marT="24832" marB="24832" anchor="ctr">
                    <a:lnL>
                      <a:noFill/>
                    </a:lnL>
                    <a:lnR>
                      <a:noFill/>
                    </a:lnR>
                    <a:lnT>
                      <a:noFill/>
                    </a:lnT>
                    <a:lnB>
                      <a:noFill/>
                    </a:lnB>
                  </a:tcPr>
                </a:tc>
                <a:tc>
                  <a:txBody>
                    <a:bodyPr/>
                    <a:lstStyle/>
                    <a:p>
                      <a:r>
                        <a:rPr lang="es-CO" sz="1200"/>
                        <a:t>Zn, Cu, Pb, Ag, Ba, Fe, Mn, Sb, As</a:t>
                      </a:r>
                    </a:p>
                  </a:txBody>
                  <a:tcPr marL="49663" marR="49663" marT="24832" marB="24832" anchor="ctr">
                    <a:lnL>
                      <a:noFill/>
                    </a:lnL>
                    <a:lnR>
                      <a:noFill/>
                    </a:lnR>
                    <a:lnT>
                      <a:noFill/>
                    </a:lnT>
                    <a:lnB>
                      <a:noFill/>
                    </a:lnB>
                  </a:tcPr>
                </a:tc>
                <a:tc>
                  <a:txBody>
                    <a:bodyPr/>
                    <a:lstStyle/>
                    <a:p>
                      <a:r>
                        <a:rPr lang="es-CO" sz="1200"/>
                        <a:t>Sedimentación sin-eruptiva, exhalitas</a:t>
                      </a:r>
                    </a:p>
                  </a:txBody>
                  <a:tcPr marL="49663" marR="49663" marT="24832" marB="24832" anchor="ctr">
                    <a:lnL>
                      <a:noFill/>
                    </a:lnL>
                    <a:lnR>
                      <a:noFill/>
                    </a:lnR>
                    <a:lnT>
                      <a:noFill/>
                    </a:lnT>
                    <a:lnB>
                      <a:noFill/>
                    </a:lnB>
                  </a:tcPr>
                </a:tc>
                <a:extLst>
                  <a:ext uri="{0D108BD9-81ED-4DB2-BD59-A6C34878D82A}">
                    <a16:rowId xmlns:a16="http://schemas.microsoft.com/office/drawing/2014/main" val="229980909"/>
                  </a:ext>
                </a:extLst>
              </a:tr>
              <a:tr h="347643">
                <a:tc>
                  <a:txBody>
                    <a:bodyPr/>
                    <a:lstStyle/>
                    <a:p>
                      <a:r>
                        <a:rPr lang="es-CO" sz="1200" b="1"/>
                        <a:t>Depósitos SEDEX</a:t>
                      </a:r>
                      <a:endParaRPr lang="es-CO" sz="1200"/>
                    </a:p>
                  </a:txBody>
                  <a:tcPr marL="49663" marR="49663" marT="24832" marB="24832" anchor="ctr">
                    <a:lnL>
                      <a:noFill/>
                    </a:lnL>
                    <a:lnR>
                      <a:noFill/>
                    </a:lnR>
                    <a:lnT>
                      <a:noFill/>
                    </a:lnT>
                    <a:lnB>
                      <a:noFill/>
                    </a:lnB>
                  </a:tcPr>
                </a:tc>
                <a:tc>
                  <a:txBody>
                    <a:bodyPr/>
                    <a:lstStyle/>
                    <a:p>
                      <a:r>
                        <a:rPr lang="es-CO" sz="1200"/>
                        <a:t>Zn, Pb, Ba, Ag, As, Sb, Tl</a:t>
                      </a:r>
                    </a:p>
                  </a:txBody>
                  <a:tcPr marL="49663" marR="49663" marT="24832" marB="24832" anchor="ctr">
                    <a:lnL>
                      <a:noFill/>
                    </a:lnL>
                    <a:lnR>
                      <a:noFill/>
                    </a:lnR>
                    <a:lnT>
                      <a:noFill/>
                    </a:lnT>
                    <a:lnB>
                      <a:noFill/>
                    </a:lnB>
                  </a:tcPr>
                </a:tc>
                <a:tc>
                  <a:txBody>
                    <a:bodyPr/>
                    <a:lstStyle/>
                    <a:p>
                      <a:r>
                        <a:rPr lang="es-CO" sz="1200" dirty="0" err="1"/>
                        <a:t>Basinales</a:t>
                      </a:r>
                      <a:r>
                        <a:rPr lang="es-CO" sz="1200" dirty="0"/>
                        <a:t> reductores, sedimentación sintectónica</a:t>
                      </a:r>
                    </a:p>
                  </a:txBody>
                  <a:tcPr marL="49663" marR="49663" marT="24832" marB="24832" anchor="ctr">
                    <a:lnL>
                      <a:noFill/>
                    </a:lnL>
                    <a:lnR>
                      <a:noFill/>
                    </a:lnR>
                    <a:lnT>
                      <a:noFill/>
                    </a:lnT>
                    <a:lnB>
                      <a:noFill/>
                    </a:lnB>
                  </a:tcPr>
                </a:tc>
                <a:extLst>
                  <a:ext uri="{0D108BD9-81ED-4DB2-BD59-A6C34878D82A}">
                    <a16:rowId xmlns:a16="http://schemas.microsoft.com/office/drawing/2014/main" val="411869913"/>
                  </a:ext>
                </a:extLst>
              </a:tr>
              <a:tr h="347643">
                <a:tc>
                  <a:txBody>
                    <a:bodyPr/>
                    <a:lstStyle/>
                    <a:p>
                      <a:r>
                        <a:rPr lang="es-CO" sz="1200" b="1"/>
                        <a:t>Depósitos de uranio</a:t>
                      </a:r>
                      <a:r>
                        <a:rPr lang="es-CO" sz="1200"/>
                        <a:t> (tipo roll front)</a:t>
                      </a:r>
                    </a:p>
                  </a:txBody>
                  <a:tcPr marL="49663" marR="49663" marT="24832" marB="24832" anchor="ctr">
                    <a:lnL>
                      <a:noFill/>
                    </a:lnL>
                    <a:lnR>
                      <a:noFill/>
                    </a:lnR>
                    <a:lnT>
                      <a:noFill/>
                    </a:lnT>
                    <a:lnB>
                      <a:noFill/>
                    </a:lnB>
                  </a:tcPr>
                </a:tc>
                <a:tc>
                  <a:txBody>
                    <a:bodyPr/>
                    <a:lstStyle/>
                    <a:p>
                      <a:r>
                        <a:rPr lang="es-CO" sz="1200"/>
                        <a:t>Se, Mo, V, Re</a:t>
                      </a:r>
                    </a:p>
                  </a:txBody>
                  <a:tcPr marL="49663" marR="49663" marT="24832" marB="24832" anchor="ctr">
                    <a:lnL>
                      <a:noFill/>
                    </a:lnL>
                    <a:lnR>
                      <a:noFill/>
                    </a:lnR>
                    <a:lnT>
                      <a:noFill/>
                    </a:lnT>
                    <a:lnB>
                      <a:noFill/>
                    </a:lnB>
                  </a:tcPr>
                </a:tc>
                <a:tc>
                  <a:txBody>
                    <a:bodyPr/>
                    <a:lstStyle/>
                    <a:p>
                      <a:r>
                        <a:rPr lang="es-ES" sz="1200"/>
                        <a:t>Redox en ambientes fluviales o deltaicos</a:t>
                      </a:r>
                    </a:p>
                  </a:txBody>
                  <a:tcPr marL="49663" marR="49663" marT="24832" marB="24832" anchor="ctr">
                    <a:lnL>
                      <a:noFill/>
                    </a:lnL>
                    <a:lnR>
                      <a:noFill/>
                    </a:lnR>
                    <a:lnT>
                      <a:noFill/>
                    </a:lnT>
                    <a:lnB>
                      <a:noFill/>
                    </a:lnB>
                  </a:tcPr>
                </a:tc>
                <a:extLst>
                  <a:ext uri="{0D108BD9-81ED-4DB2-BD59-A6C34878D82A}">
                    <a16:rowId xmlns:a16="http://schemas.microsoft.com/office/drawing/2014/main" val="3249242847"/>
                  </a:ext>
                </a:extLst>
              </a:tr>
              <a:tr h="210727">
                <a:tc>
                  <a:txBody>
                    <a:bodyPr/>
                    <a:lstStyle/>
                    <a:p>
                      <a:r>
                        <a:rPr lang="es-CO" sz="1200" b="1"/>
                        <a:t>Depósitos de Ni lateríticos</a:t>
                      </a:r>
                      <a:endParaRPr lang="es-CO" sz="1200"/>
                    </a:p>
                  </a:txBody>
                  <a:tcPr marL="49663" marR="49663" marT="24832" marB="24832" anchor="ctr">
                    <a:lnL>
                      <a:noFill/>
                    </a:lnL>
                    <a:lnR>
                      <a:noFill/>
                    </a:lnR>
                    <a:lnT>
                      <a:noFill/>
                    </a:lnT>
                    <a:lnB>
                      <a:noFill/>
                    </a:lnB>
                  </a:tcPr>
                </a:tc>
                <a:tc>
                  <a:txBody>
                    <a:bodyPr/>
                    <a:lstStyle/>
                    <a:p>
                      <a:r>
                        <a:rPr lang="es-CO" sz="1200"/>
                        <a:t>Co, Cr, Mn</a:t>
                      </a:r>
                    </a:p>
                  </a:txBody>
                  <a:tcPr marL="49663" marR="49663" marT="24832" marB="24832" anchor="ctr">
                    <a:lnL>
                      <a:noFill/>
                    </a:lnL>
                    <a:lnR>
                      <a:noFill/>
                    </a:lnR>
                    <a:lnT>
                      <a:noFill/>
                    </a:lnT>
                    <a:lnB>
                      <a:noFill/>
                    </a:lnB>
                  </a:tcPr>
                </a:tc>
                <a:tc>
                  <a:txBody>
                    <a:bodyPr/>
                    <a:lstStyle/>
                    <a:p>
                      <a:r>
                        <a:rPr lang="es-ES" sz="1200" dirty="0"/>
                        <a:t>Meteorización tropical de rocas </a:t>
                      </a:r>
                      <a:r>
                        <a:rPr lang="es-ES" sz="1200" dirty="0" err="1"/>
                        <a:t>ultramáficas</a:t>
                      </a:r>
                      <a:endParaRPr lang="es-ES" sz="1200" dirty="0"/>
                    </a:p>
                  </a:txBody>
                  <a:tcPr marL="49663" marR="49663" marT="24832" marB="24832" anchor="ctr">
                    <a:lnL>
                      <a:noFill/>
                    </a:lnL>
                    <a:lnR>
                      <a:noFill/>
                    </a:lnR>
                    <a:lnT>
                      <a:noFill/>
                    </a:lnT>
                    <a:lnB>
                      <a:noFill/>
                    </a:lnB>
                  </a:tcPr>
                </a:tc>
                <a:extLst>
                  <a:ext uri="{0D108BD9-81ED-4DB2-BD59-A6C34878D82A}">
                    <a16:rowId xmlns:a16="http://schemas.microsoft.com/office/drawing/2014/main" val="2182544244"/>
                  </a:ext>
                </a:extLst>
              </a:tr>
              <a:tr h="347643">
                <a:tc>
                  <a:txBody>
                    <a:bodyPr/>
                    <a:lstStyle/>
                    <a:p>
                      <a:r>
                        <a:rPr lang="pt-BR" sz="1200" b="1"/>
                        <a:t>Depósitos de diamantes (kimberlitas/lambdas)</a:t>
                      </a:r>
                      <a:endParaRPr lang="pt-BR" sz="1200"/>
                    </a:p>
                  </a:txBody>
                  <a:tcPr marL="49663" marR="49663" marT="24832" marB="24832" anchor="ctr">
                    <a:lnL>
                      <a:noFill/>
                    </a:lnL>
                    <a:lnR>
                      <a:noFill/>
                    </a:lnR>
                    <a:lnT>
                      <a:noFill/>
                    </a:lnT>
                    <a:lnB>
                      <a:noFill/>
                    </a:lnB>
                  </a:tcPr>
                </a:tc>
                <a:tc>
                  <a:txBody>
                    <a:bodyPr/>
                    <a:lstStyle/>
                    <a:p>
                      <a:r>
                        <a:rPr lang="pl-PL" sz="1200"/>
                        <a:t>Mg, Cr, Ni, Co, Nb, Ta</a:t>
                      </a:r>
                    </a:p>
                  </a:txBody>
                  <a:tcPr marL="49663" marR="49663" marT="24832" marB="24832" anchor="ctr">
                    <a:lnL>
                      <a:noFill/>
                    </a:lnL>
                    <a:lnR>
                      <a:noFill/>
                    </a:lnR>
                    <a:lnT>
                      <a:noFill/>
                    </a:lnT>
                    <a:lnB>
                      <a:noFill/>
                    </a:lnB>
                  </a:tcPr>
                </a:tc>
                <a:tc>
                  <a:txBody>
                    <a:bodyPr/>
                    <a:lstStyle/>
                    <a:p>
                      <a:r>
                        <a:rPr lang="es-CO" sz="1200" dirty="0"/>
                        <a:t>Magmatismo profundo, xenolitos del manto</a:t>
                      </a:r>
                    </a:p>
                  </a:txBody>
                  <a:tcPr marL="49663" marR="49663" marT="24832" marB="24832" anchor="ctr">
                    <a:lnL>
                      <a:noFill/>
                    </a:lnL>
                    <a:lnR>
                      <a:noFill/>
                    </a:lnR>
                    <a:lnT>
                      <a:noFill/>
                    </a:lnT>
                    <a:lnB>
                      <a:noFill/>
                    </a:lnB>
                  </a:tcPr>
                </a:tc>
                <a:extLst>
                  <a:ext uri="{0D108BD9-81ED-4DB2-BD59-A6C34878D82A}">
                    <a16:rowId xmlns:a16="http://schemas.microsoft.com/office/drawing/2014/main" val="2619179607"/>
                  </a:ext>
                </a:extLst>
              </a:tr>
              <a:tr h="347643">
                <a:tc>
                  <a:txBody>
                    <a:bodyPr/>
                    <a:lstStyle/>
                    <a:p>
                      <a:r>
                        <a:rPr lang="es-CO" sz="1200" b="1"/>
                        <a:t>Depósitos de REEs</a:t>
                      </a:r>
                      <a:r>
                        <a:rPr lang="es-CO" sz="1200"/>
                        <a:t> (tierras raras)</a:t>
                      </a:r>
                    </a:p>
                  </a:txBody>
                  <a:tcPr marL="49663" marR="49663" marT="24832" marB="24832" anchor="ctr">
                    <a:lnL>
                      <a:noFill/>
                    </a:lnL>
                    <a:lnR>
                      <a:noFill/>
                    </a:lnR>
                    <a:lnT>
                      <a:noFill/>
                    </a:lnT>
                    <a:lnB>
                      <a:noFill/>
                    </a:lnB>
                  </a:tcPr>
                </a:tc>
                <a:tc>
                  <a:txBody>
                    <a:bodyPr/>
                    <a:lstStyle/>
                    <a:p>
                      <a:r>
                        <a:rPr lang="fr-FR" sz="1200"/>
                        <a:t>Ce, La, Nd, Y, Th, P</a:t>
                      </a:r>
                    </a:p>
                  </a:txBody>
                  <a:tcPr marL="49663" marR="49663" marT="24832" marB="24832" anchor="ctr">
                    <a:lnL>
                      <a:noFill/>
                    </a:lnL>
                    <a:lnR>
                      <a:noFill/>
                    </a:lnR>
                    <a:lnT>
                      <a:noFill/>
                    </a:lnT>
                    <a:lnB>
                      <a:noFill/>
                    </a:lnB>
                  </a:tcPr>
                </a:tc>
                <a:tc>
                  <a:txBody>
                    <a:bodyPr/>
                    <a:lstStyle/>
                    <a:p>
                      <a:r>
                        <a:rPr lang="es-CO" sz="1200" dirty="0"/>
                        <a:t>Procesos ígneos diferenciados, carbonatitas, lateritas</a:t>
                      </a:r>
                    </a:p>
                  </a:txBody>
                  <a:tcPr marL="49663" marR="49663" marT="24832" marB="24832" anchor="ctr">
                    <a:lnL>
                      <a:noFill/>
                    </a:lnL>
                    <a:lnR>
                      <a:noFill/>
                    </a:lnR>
                    <a:lnT>
                      <a:noFill/>
                    </a:lnT>
                    <a:lnB>
                      <a:noFill/>
                    </a:lnB>
                  </a:tcPr>
                </a:tc>
                <a:extLst>
                  <a:ext uri="{0D108BD9-81ED-4DB2-BD59-A6C34878D82A}">
                    <a16:rowId xmlns:a16="http://schemas.microsoft.com/office/drawing/2014/main" val="905467824"/>
                  </a:ext>
                </a:extLst>
              </a:tr>
            </a:tbl>
          </a:graphicData>
        </a:graphic>
      </p:graphicFrame>
      <p:sp>
        <p:nvSpPr>
          <p:cNvPr id="8" name="CuadroTexto 7">
            <a:extLst>
              <a:ext uri="{FF2B5EF4-FFF2-40B4-BE49-F238E27FC236}">
                <a16:creationId xmlns:a16="http://schemas.microsoft.com/office/drawing/2014/main" id="{8F9779D2-9264-476E-88FE-5A1A0E9F08AA}"/>
              </a:ext>
            </a:extLst>
          </p:cNvPr>
          <p:cNvSpPr txBox="1"/>
          <p:nvPr/>
        </p:nvSpPr>
        <p:spPr>
          <a:xfrm>
            <a:off x="385966" y="2812317"/>
            <a:ext cx="3000586" cy="2308324"/>
          </a:xfrm>
          <a:prstGeom prst="rect">
            <a:avLst/>
          </a:prstGeom>
          <a:noFill/>
        </p:spPr>
        <p:txBody>
          <a:bodyPr wrap="square">
            <a:spAutoFit/>
          </a:bodyPr>
          <a:lstStyle/>
          <a:p>
            <a:r>
              <a:rPr lang="es-ES" dirty="0"/>
              <a:t>Los </a:t>
            </a:r>
            <a:r>
              <a:rPr lang="es-ES" dirty="0" err="1"/>
              <a:t>pathfinders</a:t>
            </a:r>
            <a:r>
              <a:rPr lang="es-ES" dirty="0"/>
              <a:t> ayudan a delimitar zonas de alteración hidrotermal, definir zonas fuente y orientar la búsqueda hacia depósitos de interés económico, al ser indicadores indirectos de ciertos tipos de mineralización.</a:t>
            </a:r>
          </a:p>
        </p:txBody>
      </p:sp>
    </p:spTree>
    <p:extLst>
      <p:ext uri="{BB962C8B-B14F-4D97-AF65-F5344CB8AC3E}">
        <p14:creationId xmlns:p14="http://schemas.microsoft.com/office/powerpoint/2010/main" val="1684457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2613A9AD-4454-4F7C-9DF4-FEF7F445E7F9}"/>
              </a:ext>
            </a:extLst>
          </p:cNvPr>
          <p:cNvSpPr>
            <a:spLocks noGrp="1"/>
          </p:cNvSpPr>
          <p:nvPr>
            <p:ph type="title"/>
          </p:nvPr>
        </p:nvSpPr>
        <p:spPr/>
        <p:txBody>
          <a:bodyPr/>
          <a:lstStyle/>
          <a:p>
            <a:endParaRPr lang="es-CO"/>
          </a:p>
        </p:txBody>
      </p:sp>
      <p:pic>
        <p:nvPicPr>
          <p:cNvPr id="3" name="Imagen 2">
            <a:extLst>
              <a:ext uri="{FF2B5EF4-FFF2-40B4-BE49-F238E27FC236}">
                <a16:creationId xmlns:a16="http://schemas.microsoft.com/office/drawing/2014/main" id="{32D35E1D-0004-4291-A3EE-4DA863FEC0F7}"/>
              </a:ext>
            </a:extLst>
          </p:cNvPr>
          <p:cNvPicPr>
            <a:picLocks noChangeAspect="1"/>
          </p:cNvPicPr>
          <p:nvPr/>
        </p:nvPicPr>
        <p:blipFill>
          <a:blip r:embed="rId2"/>
          <a:stretch>
            <a:fillRect/>
          </a:stretch>
        </p:blipFill>
        <p:spPr>
          <a:xfrm>
            <a:off x="0" y="948819"/>
            <a:ext cx="12192000" cy="4960361"/>
          </a:xfrm>
          <a:prstGeom prst="rect">
            <a:avLst/>
          </a:prstGeom>
        </p:spPr>
      </p:pic>
    </p:spTree>
    <p:extLst>
      <p:ext uri="{BB962C8B-B14F-4D97-AF65-F5344CB8AC3E}">
        <p14:creationId xmlns:p14="http://schemas.microsoft.com/office/powerpoint/2010/main" val="4014012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58EBF70-0977-4300-A8E5-9BB6DCB7FCFE}"/>
              </a:ext>
            </a:extLst>
          </p:cNvPr>
          <p:cNvPicPr>
            <a:picLocks noChangeAspect="1"/>
          </p:cNvPicPr>
          <p:nvPr/>
        </p:nvPicPr>
        <p:blipFill>
          <a:blip r:embed="rId2"/>
          <a:stretch>
            <a:fillRect/>
          </a:stretch>
        </p:blipFill>
        <p:spPr>
          <a:xfrm>
            <a:off x="2253343" y="0"/>
            <a:ext cx="8088452" cy="6532416"/>
          </a:xfrm>
          <a:prstGeom prst="rect">
            <a:avLst/>
          </a:prstGeom>
        </p:spPr>
      </p:pic>
    </p:spTree>
    <p:extLst>
      <p:ext uri="{BB962C8B-B14F-4D97-AF65-F5344CB8AC3E}">
        <p14:creationId xmlns:p14="http://schemas.microsoft.com/office/powerpoint/2010/main" val="3881988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79F92A-3289-4AFD-BBED-3DDAE609578C}"/>
              </a:ext>
            </a:extLst>
          </p:cNvPr>
          <p:cNvSpPr>
            <a:spLocks noGrp="1"/>
          </p:cNvSpPr>
          <p:nvPr>
            <p:ph type="title"/>
          </p:nvPr>
        </p:nvSpPr>
        <p:spPr/>
        <p:txBody>
          <a:bodyPr/>
          <a:lstStyle/>
          <a:p>
            <a:r>
              <a:rPr lang="es-ES" dirty="0"/>
              <a:t>Regresión Logística</a:t>
            </a:r>
            <a:endParaRPr lang="es-CO" dirty="0"/>
          </a:p>
        </p:txBody>
      </p:sp>
      <p:sp>
        <p:nvSpPr>
          <p:cNvPr id="3" name="CuadroTexto 2">
            <a:extLst>
              <a:ext uri="{FF2B5EF4-FFF2-40B4-BE49-F238E27FC236}">
                <a16:creationId xmlns:a16="http://schemas.microsoft.com/office/drawing/2014/main" id="{B8FF2B2C-167C-41E8-A3D2-892DCFFC32D3}"/>
              </a:ext>
            </a:extLst>
          </p:cNvPr>
          <p:cNvSpPr txBox="1"/>
          <p:nvPr/>
        </p:nvSpPr>
        <p:spPr>
          <a:xfrm>
            <a:off x="832757" y="2367643"/>
            <a:ext cx="10322923" cy="2862322"/>
          </a:xfrm>
          <a:prstGeom prst="rect">
            <a:avLst/>
          </a:prstGeom>
          <a:noFill/>
        </p:spPr>
        <p:txBody>
          <a:bodyPr wrap="square" rtlCol="0">
            <a:spAutoFit/>
          </a:bodyPr>
          <a:lstStyle/>
          <a:p>
            <a:r>
              <a:rPr lang="es-ES" b="1" dirty="0"/>
              <a:t>Tipo de modelo</a:t>
            </a:r>
            <a:r>
              <a:rPr lang="es-ES" dirty="0"/>
              <a:t>: </a:t>
            </a:r>
          </a:p>
          <a:p>
            <a:r>
              <a:rPr lang="es-ES" dirty="0"/>
              <a:t>Regresión logística binaria.</a:t>
            </a:r>
          </a:p>
          <a:p>
            <a:r>
              <a:rPr lang="es-ES" dirty="0"/>
              <a:t>Objetivo: </a:t>
            </a:r>
          </a:p>
          <a:p>
            <a:r>
              <a:rPr lang="es-ES" dirty="0"/>
              <a:t>Predecir la probabilidad de presencia de un depósito mineral (variable presencia) en función de variables geoquímicas e información geológica.</a:t>
            </a:r>
          </a:p>
          <a:p>
            <a:r>
              <a:rPr lang="es-ES" dirty="0"/>
              <a:t>Algoritmo: </a:t>
            </a:r>
          </a:p>
          <a:p>
            <a:r>
              <a:rPr lang="es-ES" dirty="0" err="1"/>
              <a:t>LogisticRegression</a:t>
            </a:r>
            <a:r>
              <a:rPr lang="es-ES" dirty="0"/>
              <a:t> de </a:t>
            </a:r>
            <a:r>
              <a:rPr lang="es-ES" dirty="0" err="1"/>
              <a:t>sklearn</a:t>
            </a:r>
            <a:r>
              <a:rPr lang="es-ES" dirty="0"/>
              <a:t>, con:</a:t>
            </a:r>
          </a:p>
          <a:p>
            <a:pPr marL="285750" indent="-285750">
              <a:buFont typeface="Arial" panose="020B0604020202020204" pitchFamily="34" charset="0"/>
              <a:buChar char="•"/>
            </a:pPr>
            <a:r>
              <a:rPr lang="es-ES" dirty="0" err="1"/>
              <a:t>max_iter</a:t>
            </a:r>
            <a:r>
              <a:rPr lang="es-ES" dirty="0"/>
              <a:t>=2000: aumenta iteraciones para asegurar convergencia.</a:t>
            </a:r>
          </a:p>
          <a:p>
            <a:pPr marL="285750" indent="-285750">
              <a:buFont typeface="Arial" panose="020B0604020202020204" pitchFamily="34" charset="0"/>
              <a:buChar char="•"/>
            </a:pPr>
            <a:r>
              <a:rPr lang="es-ES" dirty="0" err="1"/>
              <a:t>class_weight</a:t>
            </a:r>
            <a:r>
              <a:rPr lang="es-ES" dirty="0"/>
              <a:t>='</a:t>
            </a:r>
            <a:r>
              <a:rPr lang="es-ES" dirty="0" err="1"/>
              <a:t>balanced</a:t>
            </a:r>
            <a:r>
              <a:rPr lang="es-ES" dirty="0"/>
              <a:t>': ajusta automáticamente el peso de las clases para contrarrestar el desbalance.</a:t>
            </a:r>
          </a:p>
          <a:p>
            <a:pPr marL="285750" indent="-285750">
              <a:buFont typeface="Arial" panose="020B0604020202020204" pitchFamily="34" charset="0"/>
              <a:buChar char="•"/>
            </a:pPr>
            <a:r>
              <a:rPr lang="es-ES" dirty="0"/>
              <a:t>Ajuste del umbral de decisión (</a:t>
            </a:r>
            <a:r>
              <a:rPr lang="es-ES" dirty="0" err="1"/>
              <a:t>y_pred_adj</a:t>
            </a:r>
            <a:r>
              <a:rPr lang="es-ES" dirty="0"/>
              <a:t> = (</a:t>
            </a:r>
            <a:r>
              <a:rPr lang="es-ES" dirty="0" err="1"/>
              <a:t>y_prob</a:t>
            </a:r>
            <a:r>
              <a:rPr lang="es-ES" dirty="0"/>
              <a:t> &gt;= 0.4)).</a:t>
            </a:r>
            <a:endParaRPr lang="es-CO" dirty="0"/>
          </a:p>
        </p:txBody>
      </p:sp>
    </p:spTree>
    <p:extLst>
      <p:ext uri="{BB962C8B-B14F-4D97-AF65-F5344CB8AC3E}">
        <p14:creationId xmlns:p14="http://schemas.microsoft.com/office/powerpoint/2010/main" val="2189365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B267A1-0011-4AE8-83E2-36E08B335471}"/>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635B0973-3434-4A74-A90A-BD1951F664B2}"/>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6C6ECF74-0604-47C7-8BDC-509E596A47C4}"/>
              </a:ext>
            </a:extLst>
          </p:cNvPr>
          <p:cNvPicPr>
            <a:picLocks noChangeAspect="1"/>
          </p:cNvPicPr>
          <p:nvPr/>
        </p:nvPicPr>
        <p:blipFill>
          <a:blip r:embed="rId3"/>
          <a:stretch>
            <a:fillRect/>
          </a:stretch>
        </p:blipFill>
        <p:spPr>
          <a:xfrm>
            <a:off x="881458" y="741401"/>
            <a:ext cx="5214542" cy="4579654"/>
          </a:xfrm>
          <a:prstGeom prst="rect">
            <a:avLst/>
          </a:prstGeom>
        </p:spPr>
      </p:pic>
      <p:pic>
        <p:nvPicPr>
          <p:cNvPr id="6" name="Imagen 5">
            <a:extLst>
              <a:ext uri="{FF2B5EF4-FFF2-40B4-BE49-F238E27FC236}">
                <a16:creationId xmlns:a16="http://schemas.microsoft.com/office/drawing/2014/main" id="{B9C04F34-C59C-48E6-965C-6D0CA67E0EC0}"/>
              </a:ext>
            </a:extLst>
          </p:cNvPr>
          <p:cNvPicPr>
            <a:picLocks noChangeAspect="1"/>
          </p:cNvPicPr>
          <p:nvPr/>
        </p:nvPicPr>
        <p:blipFill>
          <a:blip r:embed="rId4"/>
          <a:stretch>
            <a:fillRect/>
          </a:stretch>
        </p:blipFill>
        <p:spPr>
          <a:xfrm>
            <a:off x="6256893" y="741400"/>
            <a:ext cx="4998644" cy="4579654"/>
          </a:xfrm>
          <a:prstGeom prst="rect">
            <a:avLst/>
          </a:prstGeom>
        </p:spPr>
      </p:pic>
    </p:spTree>
    <p:extLst>
      <p:ext uri="{BB962C8B-B14F-4D97-AF65-F5344CB8AC3E}">
        <p14:creationId xmlns:p14="http://schemas.microsoft.com/office/powerpoint/2010/main" val="2662931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32D7B2-C836-4FAE-9F47-A35D1B7824D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729BF833-0FF8-4DD1-98CD-7FB6391F07A5}"/>
              </a:ext>
            </a:extLst>
          </p:cNvPr>
          <p:cNvSpPr>
            <a:spLocks noGrp="1"/>
          </p:cNvSpPr>
          <p:nvPr>
            <p:ph idx="1"/>
          </p:nvPr>
        </p:nvSpPr>
        <p:spPr/>
        <p:txBody>
          <a:bodyPr/>
          <a:lstStyle/>
          <a:p>
            <a:endParaRPr lang="es-CO"/>
          </a:p>
        </p:txBody>
      </p:sp>
      <p:pic>
        <p:nvPicPr>
          <p:cNvPr id="4" name="Imagen 3">
            <a:extLst>
              <a:ext uri="{FF2B5EF4-FFF2-40B4-BE49-F238E27FC236}">
                <a16:creationId xmlns:a16="http://schemas.microsoft.com/office/drawing/2014/main" id="{41F96CCE-6F52-4EFB-ADF3-046C5E27023F}"/>
              </a:ext>
            </a:extLst>
          </p:cNvPr>
          <p:cNvPicPr>
            <a:picLocks noChangeAspect="1"/>
          </p:cNvPicPr>
          <p:nvPr/>
        </p:nvPicPr>
        <p:blipFill>
          <a:blip r:embed="rId2"/>
          <a:stretch>
            <a:fillRect/>
          </a:stretch>
        </p:blipFill>
        <p:spPr>
          <a:xfrm>
            <a:off x="1927560" y="286603"/>
            <a:ext cx="7905062" cy="5903780"/>
          </a:xfrm>
          <a:prstGeom prst="rect">
            <a:avLst/>
          </a:prstGeom>
        </p:spPr>
      </p:pic>
    </p:spTree>
    <p:extLst>
      <p:ext uri="{BB962C8B-B14F-4D97-AF65-F5344CB8AC3E}">
        <p14:creationId xmlns:p14="http://schemas.microsoft.com/office/powerpoint/2010/main" val="150155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7EFF0F4E-1174-4AF7-A5FC-20EFA4C9AD77}"/>
              </a:ext>
            </a:extLst>
          </p:cNvPr>
          <p:cNvSpPr>
            <a:spLocks noGrp="1"/>
          </p:cNvSpPr>
          <p:nvPr>
            <p:ph idx="1"/>
          </p:nvPr>
        </p:nvSpPr>
        <p:spPr>
          <a:xfrm>
            <a:off x="401401" y="788973"/>
            <a:ext cx="11064240" cy="4023360"/>
          </a:xfrm>
        </p:spPr>
        <p:txBody>
          <a:bodyPr>
            <a:normAutofit/>
          </a:bodyPr>
          <a:lstStyle/>
          <a:p>
            <a:r>
              <a:rPr lang="es-ES" sz="1600" dirty="0"/>
              <a:t> 1. Pipeline </a:t>
            </a:r>
          </a:p>
          <a:p>
            <a:r>
              <a:rPr lang="es-ES" sz="1600" dirty="0"/>
              <a:t>Un Pipeline es una herramienta que encadena pasos de preprocesamiento y modelado de forma organizada, asegurando que se apliquen siempre en el mismo orden y sin errores de fuga de datos,  especialmente en validaciones.</a:t>
            </a:r>
          </a:p>
          <a:p>
            <a:r>
              <a:rPr lang="es-ES" sz="1600" dirty="0"/>
              <a:t> 2. SMOTE (</a:t>
            </a:r>
            <a:r>
              <a:rPr lang="es-ES" sz="1600" dirty="0" err="1"/>
              <a:t>Synthetic</a:t>
            </a:r>
            <a:r>
              <a:rPr lang="es-ES" sz="1600" dirty="0"/>
              <a:t> </a:t>
            </a:r>
            <a:r>
              <a:rPr lang="es-ES" sz="1600" dirty="0" err="1"/>
              <a:t>Minority</a:t>
            </a:r>
            <a:r>
              <a:rPr lang="es-ES" sz="1600" dirty="0"/>
              <a:t> </a:t>
            </a:r>
            <a:r>
              <a:rPr lang="es-ES" sz="1600" dirty="0" err="1"/>
              <a:t>Over-sampling</a:t>
            </a:r>
            <a:r>
              <a:rPr lang="es-ES" sz="1600" dirty="0"/>
              <a:t> </a:t>
            </a:r>
            <a:r>
              <a:rPr lang="es-ES" sz="1600" dirty="0" err="1"/>
              <a:t>Technique</a:t>
            </a:r>
            <a:endParaRPr lang="es-ES" sz="1600" dirty="0"/>
          </a:p>
          <a:p>
            <a:r>
              <a:rPr lang="es-ES" sz="1600" dirty="0"/>
              <a:t>Genera nuevas observaciones sintéticas de la clase minoritaria (en tu caso, presencia = 1) al interpolar puntos cercanos en el espacio de características. </a:t>
            </a:r>
          </a:p>
          <a:p>
            <a:r>
              <a:rPr lang="es-ES" sz="1600" dirty="0"/>
              <a:t> 3. Normalización (</a:t>
            </a:r>
            <a:r>
              <a:rPr lang="es-ES" sz="1600" dirty="0" err="1"/>
              <a:t>StandardScaler</a:t>
            </a:r>
            <a:endParaRPr lang="es-ES" sz="1600" dirty="0"/>
          </a:p>
          <a:p>
            <a:r>
              <a:rPr lang="es-ES" sz="1600" dirty="0"/>
              <a:t>Estandariza variables que pueden tener distintas escalas (por ejemplo, edad en millones de años vs. contenido de plata en ppm). El escalado mejora la convergencia del algoritmo y la interpretabilidad de los coeficientes</a:t>
            </a:r>
          </a:p>
          <a:p>
            <a:endParaRPr lang="es-CO" sz="1600" dirty="0"/>
          </a:p>
        </p:txBody>
      </p:sp>
      <p:graphicFrame>
        <p:nvGraphicFramePr>
          <p:cNvPr id="5" name="Tabla 4">
            <a:extLst>
              <a:ext uri="{FF2B5EF4-FFF2-40B4-BE49-F238E27FC236}">
                <a16:creationId xmlns:a16="http://schemas.microsoft.com/office/drawing/2014/main" id="{BF771F30-60D3-4025-A1E8-3064C592D72B}"/>
              </a:ext>
            </a:extLst>
          </p:cNvPr>
          <p:cNvGraphicFramePr>
            <a:graphicFrameLocks noGrp="1"/>
          </p:cNvGraphicFramePr>
          <p:nvPr>
            <p:extLst>
              <p:ext uri="{D42A27DB-BD31-4B8C-83A1-F6EECF244321}">
                <p14:modId xmlns:p14="http://schemas.microsoft.com/office/powerpoint/2010/main" val="4193336270"/>
              </p:ext>
            </p:extLst>
          </p:nvPr>
        </p:nvGraphicFramePr>
        <p:xfrm>
          <a:off x="1066800" y="3916086"/>
          <a:ext cx="10058400" cy="2286000"/>
        </p:xfrm>
        <a:graphic>
          <a:graphicData uri="http://schemas.openxmlformats.org/drawingml/2006/table">
            <a:tbl>
              <a:tblPr/>
              <a:tblGrid>
                <a:gridCol w="5029200">
                  <a:extLst>
                    <a:ext uri="{9D8B030D-6E8A-4147-A177-3AD203B41FA5}">
                      <a16:colId xmlns:a16="http://schemas.microsoft.com/office/drawing/2014/main" val="2625827605"/>
                    </a:ext>
                  </a:extLst>
                </a:gridCol>
                <a:gridCol w="5029200">
                  <a:extLst>
                    <a:ext uri="{9D8B030D-6E8A-4147-A177-3AD203B41FA5}">
                      <a16:colId xmlns:a16="http://schemas.microsoft.com/office/drawing/2014/main" val="1048181444"/>
                    </a:ext>
                  </a:extLst>
                </a:gridCol>
              </a:tblGrid>
              <a:tr h="0">
                <a:tc>
                  <a:txBody>
                    <a:bodyPr/>
                    <a:lstStyle/>
                    <a:p>
                      <a:r>
                        <a:rPr lang="es-CO"/>
                        <a:t>Técnica</a:t>
                      </a:r>
                    </a:p>
                  </a:txBody>
                  <a:tcPr anchor="ctr">
                    <a:lnL>
                      <a:noFill/>
                    </a:lnL>
                    <a:lnR>
                      <a:noFill/>
                    </a:lnR>
                    <a:lnT>
                      <a:noFill/>
                    </a:lnT>
                    <a:lnB>
                      <a:noFill/>
                    </a:lnB>
                  </a:tcPr>
                </a:tc>
                <a:tc>
                  <a:txBody>
                    <a:bodyPr/>
                    <a:lstStyle/>
                    <a:p>
                      <a:r>
                        <a:rPr lang="es-CO"/>
                        <a:t>Mejora en Métricas</a:t>
                      </a:r>
                    </a:p>
                  </a:txBody>
                  <a:tcPr anchor="ctr">
                    <a:lnL>
                      <a:noFill/>
                    </a:lnL>
                    <a:lnR>
                      <a:noFill/>
                    </a:lnR>
                    <a:lnT>
                      <a:noFill/>
                    </a:lnT>
                    <a:lnB>
                      <a:noFill/>
                    </a:lnB>
                  </a:tcPr>
                </a:tc>
                <a:extLst>
                  <a:ext uri="{0D108BD9-81ED-4DB2-BD59-A6C34878D82A}">
                    <a16:rowId xmlns:a16="http://schemas.microsoft.com/office/drawing/2014/main" val="1186089025"/>
                  </a:ext>
                </a:extLst>
              </a:tr>
              <a:tr h="0">
                <a:tc>
                  <a:txBody>
                    <a:bodyPr/>
                    <a:lstStyle/>
                    <a:p>
                      <a:r>
                        <a:rPr lang="es-CO"/>
                        <a:t>Pipeline</a:t>
                      </a:r>
                    </a:p>
                  </a:txBody>
                  <a:tcPr anchor="ctr">
                    <a:lnL>
                      <a:noFill/>
                    </a:lnL>
                    <a:lnR>
                      <a:noFill/>
                    </a:lnR>
                    <a:lnT>
                      <a:noFill/>
                    </a:lnT>
                    <a:lnB>
                      <a:noFill/>
                    </a:lnB>
                  </a:tcPr>
                </a:tc>
                <a:tc>
                  <a:txBody>
                    <a:bodyPr/>
                    <a:lstStyle/>
                    <a:p>
                      <a:r>
                        <a:rPr lang="es-ES" dirty="0"/>
                        <a:t>Estabilidad, reproducibilidad, sin fuga de datos. Mejora precisión y validación cruzada.</a:t>
                      </a:r>
                    </a:p>
                  </a:txBody>
                  <a:tcPr anchor="ctr">
                    <a:lnL>
                      <a:noFill/>
                    </a:lnL>
                    <a:lnR>
                      <a:noFill/>
                    </a:lnR>
                    <a:lnT>
                      <a:noFill/>
                    </a:lnT>
                    <a:lnB>
                      <a:noFill/>
                    </a:lnB>
                  </a:tcPr>
                </a:tc>
                <a:extLst>
                  <a:ext uri="{0D108BD9-81ED-4DB2-BD59-A6C34878D82A}">
                    <a16:rowId xmlns:a16="http://schemas.microsoft.com/office/drawing/2014/main" val="1798997747"/>
                  </a:ext>
                </a:extLst>
              </a:tr>
              <a:tr h="0">
                <a:tc>
                  <a:txBody>
                    <a:bodyPr/>
                    <a:lstStyle/>
                    <a:p>
                      <a:r>
                        <a:rPr lang="es-CO" dirty="0"/>
                        <a:t>SMOTE</a:t>
                      </a:r>
                    </a:p>
                  </a:txBody>
                  <a:tcPr anchor="ctr">
                    <a:lnL>
                      <a:noFill/>
                    </a:lnL>
                    <a:lnR>
                      <a:noFill/>
                    </a:lnR>
                    <a:lnT>
                      <a:noFill/>
                    </a:lnT>
                    <a:lnB>
                      <a:noFill/>
                    </a:lnB>
                  </a:tcPr>
                </a:tc>
                <a:tc>
                  <a:txBody>
                    <a:bodyPr/>
                    <a:lstStyle/>
                    <a:p>
                      <a:r>
                        <a:rPr lang="es-ES"/>
                        <a:t>Incrementa </a:t>
                      </a:r>
                      <a:r>
                        <a:rPr lang="es-ES" b="1"/>
                        <a:t>recall</a:t>
                      </a:r>
                      <a:r>
                        <a:rPr lang="es-ES"/>
                        <a:t> y </a:t>
                      </a:r>
                      <a:r>
                        <a:rPr lang="es-ES" b="1"/>
                        <a:t>F1-score</a:t>
                      </a:r>
                      <a:r>
                        <a:rPr lang="es-ES"/>
                        <a:t> en la clase minoritaria. Reduce falsos negativos.</a:t>
                      </a:r>
                    </a:p>
                  </a:txBody>
                  <a:tcPr anchor="ctr">
                    <a:lnL>
                      <a:noFill/>
                    </a:lnL>
                    <a:lnR>
                      <a:noFill/>
                    </a:lnR>
                    <a:lnT>
                      <a:noFill/>
                    </a:lnT>
                    <a:lnB>
                      <a:noFill/>
                    </a:lnB>
                  </a:tcPr>
                </a:tc>
                <a:extLst>
                  <a:ext uri="{0D108BD9-81ED-4DB2-BD59-A6C34878D82A}">
                    <a16:rowId xmlns:a16="http://schemas.microsoft.com/office/drawing/2014/main" val="1714943537"/>
                  </a:ext>
                </a:extLst>
              </a:tr>
              <a:tr h="0">
                <a:tc>
                  <a:txBody>
                    <a:bodyPr/>
                    <a:lstStyle/>
                    <a:p>
                      <a:r>
                        <a:rPr lang="es-CO"/>
                        <a:t>StandardScaler</a:t>
                      </a:r>
                    </a:p>
                  </a:txBody>
                  <a:tcPr anchor="ctr">
                    <a:lnL>
                      <a:noFill/>
                    </a:lnL>
                    <a:lnR>
                      <a:noFill/>
                    </a:lnR>
                    <a:lnT>
                      <a:noFill/>
                    </a:lnT>
                    <a:lnB>
                      <a:noFill/>
                    </a:lnB>
                  </a:tcPr>
                </a:tc>
                <a:tc>
                  <a:txBody>
                    <a:bodyPr/>
                    <a:lstStyle/>
                    <a:p>
                      <a:r>
                        <a:rPr lang="es-ES" dirty="0"/>
                        <a:t>Mejora </a:t>
                      </a:r>
                      <a:r>
                        <a:rPr lang="es-ES" b="1" dirty="0"/>
                        <a:t>convergencia</a:t>
                      </a:r>
                      <a:r>
                        <a:rPr lang="es-ES" dirty="0"/>
                        <a:t>, </a:t>
                      </a:r>
                      <a:r>
                        <a:rPr lang="es-ES" b="1" dirty="0"/>
                        <a:t>coeficientes</a:t>
                      </a:r>
                      <a:r>
                        <a:rPr lang="es-ES" dirty="0"/>
                        <a:t> y distribución del modelo. Aumenta precisión y AUC.</a:t>
                      </a:r>
                    </a:p>
                  </a:txBody>
                  <a:tcPr anchor="ctr">
                    <a:lnL>
                      <a:noFill/>
                    </a:lnL>
                    <a:lnR>
                      <a:noFill/>
                    </a:lnR>
                    <a:lnT>
                      <a:noFill/>
                    </a:lnT>
                    <a:lnB>
                      <a:noFill/>
                    </a:lnB>
                  </a:tcPr>
                </a:tc>
                <a:extLst>
                  <a:ext uri="{0D108BD9-81ED-4DB2-BD59-A6C34878D82A}">
                    <a16:rowId xmlns:a16="http://schemas.microsoft.com/office/drawing/2014/main" val="165649489"/>
                  </a:ext>
                </a:extLst>
              </a:tr>
            </a:tbl>
          </a:graphicData>
        </a:graphic>
      </p:graphicFrame>
    </p:spTree>
    <p:extLst>
      <p:ext uri="{BB962C8B-B14F-4D97-AF65-F5344CB8AC3E}">
        <p14:creationId xmlns:p14="http://schemas.microsoft.com/office/powerpoint/2010/main" val="420809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304DCB6-2510-48F6-B3BA-68A0F13B1073}"/>
              </a:ext>
            </a:extLst>
          </p:cNvPr>
          <p:cNvPicPr>
            <a:picLocks noChangeAspect="1"/>
          </p:cNvPicPr>
          <p:nvPr/>
        </p:nvPicPr>
        <p:blipFill>
          <a:blip r:embed="rId2"/>
          <a:stretch>
            <a:fillRect/>
          </a:stretch>
        </p:blipFill>
        <p:spPr>
          <a:xfrm>
            <a:off x="6287913" y="1829990"/>
            <a:ext cx="5012034" cy="2104151"/>
          </a:xfrm>
          <a:prstGeom prst="rect">
            <a:avLst/>
          </a:prstGeom>
        </p:spPr>
      </p:pic>
      <p:pic>
        <p:nvPicPr>
          <p:cNvPr id="5" name="Imagen 4">
            <a:extLst>
              <a:ext uri="{FF2B5EF4-FFF2-40B4-BE49-F238E27FC236}">
                <a16:creationId xmlns:a16="http://schemas.microsoft.com/office/drawing/2014/main" id="{98127F90-CC08-461A-987B-83188A9BB6E5}"/>
              </a:ext>
            </a:extLst>
          </p:cNvPr>
          <p:cNvPicPr>
            <a:picLocks noChangeAspect="1"/>
          </p:cNvPicPr>
          <p:nvPr/>
        </p:nvPicPr>
        <p:blipFill>
          <a:blip r:embed="rId3"/>
          <a:stretch>
            <a:fillRect/>
          </a:stretch>
        </p:blipFill>
        <p:spPr>
          <a:xfrm>
            <a:off x="490178" y="852803"/>
            <a:ext cx="5165555" cy="4723050"/>
          </a:xfrm>
          <a:prstGeom prst="rect">
            <a:avLst/>
          </a:prstGeom>
        </p:spPr>
      </p:pic>
    </p:spTree>
    <p:extLst>
      <p:ext uri="{BB962C8B-B14F-4D97-AF65-F5344CB8AC3E}">
        <p14:creationId xmlns:p14="http://schemas.microsoft.com/office/powerpoint/2010/main" val="296452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E02A0A-7427-450F-9081-67EE03F9EA45}"/>
              </a:ext>
            </a:extLst>
          </p:cNvPr>
          <p:cNvSpPr>
            <a:spLocks noGrp="1"/>
          </p:cNvSpPr>
          <p:nvPr>
            <p:ph type="title"/>
          </p:nvPr>
        </p:nvSpPr>
        <p:spPr/>
        <p:txBody>
          <a:bodyPr/>
          <a:lstStyle/>
          <a:p>
            <a:endParaRPr lang="es-CO"/>
          </a:p>
        </p:txBody>
      </p:sp>
      <p:pic>
        <p:nvPicPr>
          <p:cNvPr id="9" name="Marcador de contenido 8">
            <a:extLst>
              <a:ext uri="{FF2B5EF4-FFF2-40B4-BE49-F238E27FC236}">
                <a16:creationId xmlns:a16="http://schemas.microsoft.com/office/drawing/2014/main" id="{C9C1C628-BEA9-4D80-91FD-46D0E8A75CBD}"/>
              </a:ext>
            </a:extLst>
          </p:cNvPr>
          <p:cNvPicPr>
            <a:picLocks noGrp="1" noChangeAspect="1"/>
          </p:cNvPicPr>
          <p:nvPr>
            <p:ph idx="1"/>
          </p:nvPr>
        </p:nvPicPr>
        <p:blipFill>
          <a:blip r:embed="rId2"/>
          <a:stretch>
            <a:fillRect/>
          </a:stretch>
        </p:blipFill>
        <p:spPr>
          <a:xfrm>
            <a:off x="210884" y="1170025"/>
            <a:ext cx="5181600" cy="3425125"/>
          </a:xfrm>
        </p:spPr>
      </p:pic>
      <p:pic>
        <p:nvPicPr>
          <p:cNvPr id="5" name="Imagen 4">
            <a:extLst>
              <a:ext uri="{FF2B5EF4-FFF2-40B4-BE49-F238E27FC236}">
                <a16:creationId xmlns:a16="http://schemas.microsoft.com/office/drawing/2014/main" id="{66DCE931-97D2-46CC-889D-8CFED5D8DFD0}"/>
              </a:ext>
            </a:extLst>
          </p:cNvPr>
          <p:cNvPicPr>
            <a:picLocks noChangeAspect="1"/>
          </p:cNvPicPr>
          <p:nvPr/>
        </p:nvPicPr>
        <p:blipFill>
          <a:blip r:embed="rId3"/>
          <a:stretch>
            <a:fillRect/>
          </a:stretch>
        </p:blipFill>
        <p:spPr>
          <a:xfrm>
            <a:off x="5558550" y="570686"/>
            <a:ext cx="6422566" cy="5107625"/>
          </a:xfrm>
          <a:prstGeom prst="rect">
            <a:avLst/>
          </a:prstGeom>
        </p:spPr>
      </p:pic>
    </p:spTree>
    <p:extLst>
      <p:ext uri="{BB962C8B-B14F-4D97-AF65-F5344CB8AC3E}">
        <p14:creationId xmlns:p14="http://schemas.microsoft.com/office/powerpoint/2010/main" val="2881486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1CEF84-F7F8-4188-96B7-A95AB839E066}"/>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64804AE-D63C-4BAB-9DF6-9F6CA136E162}"/>
              </a:ext>
            </a:extLst>
          </p:cNvPr>
          <p:cNvSpPr>
            <a:spLocks noGrp="1"/>
          </p:cNvSpPr>
          <p:nvPr>
            <p:ph idx="1"/>
          </p:nvPr>
        </p:nvSpPr>
        <p:spPr/>
        <p:txBody>
          <a:bodyPr/>
          <a:lstStyle/>
          <a:p>
            <a:endParaRPr lang="es-CO"/>
          </a:p>
        </p:txBody>
      </p:sp>
      <p:pic>
        <p:nvPicPr>
          <p:cNvPr id="4" name="Imagen 3">
            <a:extLst>
              <a:ext uri="{FF2B5EF4-FFF2-40B4-BE49-F238E27FC236}">
                <a16:creationId xmlns:a16="http://schemas.microsoft.com/office/drawing/2014/main" id="{C3D60D33-19B0-4ECB-8852-AE2745E202D8}"/>
              </a:ext>
            </a:extLst>
          </p:cNvPr>
          <p:cNvPicPr>
            <a:picLocks noChangeAspect="1"/>
          </p:cNvPicPr>
          <p:nvPr/>
        </p:nvPicPr>
        <p:blipFill>
          <a:blip r:embed="rId2"/>
          <a:stretch>
            <a:fillRect/>
          </a:stretch>
        </p:blipFill>
        <p:spPr>
          <a:xfrm>
            <a:off x="1701448" y="249343"/>
            <a:ext cx="8097308" cy="6047357"/>
          </a:xfrm>
          <a:prstGeom prst="rect">
            <a:avLst/>
          </a:prstGeom>
        </p:spPr>
      </p:pic>
    </p:spTree>
    <p:extLst>
      <p:ext uri="{BB962C8B-B14F-4D97-AF65-F5344CB8AC3E}">
        <p14:creationId xmlns:p14="http://schemas.microsoft.com/office/powerpoint/2010/main" val="188683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5650A-6658-4595-A818-4AEF0120358A}"/>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F356CD1E-1BE9-4258-A6FE-4C80F7CBDB9B}"/>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0B81647C-24FF-437F-A923-0667C0C66F06}"/>
              </a:ext>
            </a:extLst>
          </p:cNvPr>
          <p:cNvPicPr>
            <a:picLocks noChangeAspect="1"/>
          </p:cNvPicPr>
          <p:nvPr/>
        </p:nvPicPr>
        <p:blipFill>
          <a:blip r:embed="rId2"/>
          <a:stretch>
            <a:fillRect/>
          </a:stretch>
        </p:blipFill>
        <p:spPr>
          <a:xfrm>
            <a:off x="6325961" y="1011981"/>
            <a:ext cx="5619750" cy="4667250"/>
          </a:xfrm>
          <a:prstGeom prst="rect">
            <a:avLst/>
          </a:prstGeom>
        </p:spPr>
      </p:pic>
      <p:pic>
        <p:nvPicPr>
          <p:cNvPr id="7" name="Imagen 6">
            <a:extLst>
              <a:ext uri="{FF2B5EF4-FFF2-40B4-BE49-F238E27FC236}">
                <a16:creationId xmlns:a16="http://schemas.microsoft.com/office/drawing/2014/main" id="{928BCFE0-00DD-45C0-B426-3BFD7D9C8C48}"/>
              </a:ext>
            </a:extLst>
          </p:cNvPr>
          <p:cNvPicPr>
            <a:picLocks noChangeAspect="1"/>
          </p:cNvPicPr>
          <p:nvPr/>
        </p:nvPicPr>
        <p:blipFill>
          <a:blip r:embed="rId3"/>
          <a:stretch>
            <a:fillRect/>
          </a:stretch>
        </p:blipFill>
        <p:spPr>
          <a:xfrm>
            <a:off x="307249" y="1011981"/>
            <a:ext cx="5619750" cy="4667250"/>
          </a:xfrm>
          <a:prstGeom prst="rect">
            <a:avLst/>
          </a:prstGeom>
        </p:spPr>
      </p:pic>
    </p:spTree>
    <p:extLst>
      <p:ext uri="{BB962C8B-B14F-4D97-AF65-F5344CB8AC3E}">
        <p14:creationId xmlns:p14="http://schemas.microsoft.com/office/powerpoint/2010/main" val="3330206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6954144E-26DF-400E-A435-BEF70FB4B15A}"/>
              </a:ext>
            </a:extLst>
          </p:cNvPr>
          <p:cNvPicPr>
            <a:picLocks noChangeAspect="1"/>
          </p:cNvPicPr>
          <p:nvPr/>
        </p:nvPicPr>
        <p:blipFill>
          <a:blip r:embed="rId2"/>
          <a:stretch>
            <a:fillRect/>
          </a:stretch>
        </p:blipFill>
        <p:spPr>
          <a:xfrm>
            <a:off x="1103141" y="0"/>
            <a:ext cx="10295681" cy="6858000"/>
          </a:xfrm>
          <a:prstGeom prst="rect">
            <a:avLst/>
          </a:prstGeom>
        </p:spPr>
      </p:pic>
      <p:pic>
        <p:nvPicPr>
          <p:cNvPr id="3" name="Imagen 2">
            <a:extLst>
              <a:ext uri="{FF2B5EF4-FFF2-40B4-BE49-F238E27FC236}">
                <a16:creationId xmlns:a16="http://schemas.microsoft.com/office/drawing/2014/main" id="{2F0BD126-39D5-4194-8635-AB5E3110E6B8}"/>
              </a:ext>
            </a:extLst>
          </p:cNvPr>
          <p:cNvPicPr>
            <a:picLocks noChangeAspect="1"/>
          </p:cNvPicPr>
          <p:nvPr/>
        </p:nvPicPr>
        <p:blipFill>
          <a:blip r:embed="rId3"/>
          <a:stretch>
            <a:fillRect/>
          </a:stretch>
        </p:blipFill>
        <p:spPr>
          <a:xfrm>
            <a:off x="938092" y="0"/>
            <a:ext cx="10315815" cy="6858000"/>
          </a:xfrm>
          <a:prstGeom prst="rect">
            <a:avLst/>
          </a:prstGeom>
        </p:spPr>
      </p:pic>
    </p:spTree>
    <p:extLst>
      <p:ext uri="{BB962C8B-B14F-4D97-AF65-F5344CB8AC3E}">
        <p14:creationId xmlns:p14="http://schemas.microsoft.com/office/powerpoint/2010/main" val="4095129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691EBA81-5845-4DF5-97A8-1BF680025950}"/>
              </a:ext>
            </a:extLst>
          </p:cNvPr>
          <p:cNvPicPr>
            <a:picLocks noChangeAspect="1"/>
          </p:cNvPicPr>
          <p:nvPr/>
        </p:nvPicPr>
        <p:blipFill>
          <a:blip r:embed="rId2"/>
          <a:stretch>
            <a:fillRect/>
          </a:stretch>
        </p:blipFill>
        <p:spPr>
          <a:xfrm>
            <a:off x="933754" y="0"/>
            <a:ext cx="10324491" cy="6858000"/>
          </a:xfrm>
          <a:prstGeom prst="rect">
            <a:avLst/>
          </a:prstGeom>
        </p:spPr>
      </p:pic>
    </p:spTree>
    <p:extLst>
      <p:ext uri="{BB962C8B-B14F-4D97-AF65-F5344CB8AC3E}">
        <p14:creationId xmlns:p14="http://schemas.microsoft.com/office/powerpoint/2010/main" val="3845663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8BEE22-8C1D-486D-8EEF-DA78A0D848EC}"/>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F50C59E0-BB30-411F-AE6A-5588989B828B}"/>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E8A9927E-CA4F-41D6-AF8A-09DF82893066}"/>
              </a:ext>
            </a:extLst>
          </p:cNvPr>
          <p:cNvPicPr>
            <a:picLocks noChangeAspect="1"/>
          </p:cNvPicPr>
          <p:nvPr/>
        </p:nvPicPr>
        <p:blipFill>
          <a:blip r:embed="rId3"/>
          <a:stretch>
            <a:fillRect/>
          </a:stretch>
        </p:blipFill>
        <p:spPr>
          <a:xfrm>
            <a:off x="5429956" y="286603"/>
            <a:ext cx="6299553" cy="5976248"/>
          </a:xfrm>
          <a:prstGeom prst="rect">
            <a:avLst/>
          </a:prstGeom>
        </p:spPr>
      </p:pic>
      <p:pic>
        <p:nvPicPr>
          <p:cNvPr id="7" name="Imagen 6">
            <a:extLst>
              <a:ext uri="{FF2B5EF4-FFF2-40B4-BE49-F238E27FC236}">
                <a16:creationId xmlns:a16="http://schemas.microsoft.com/office/drawing/2014/main" id="{2C5645ED-D9E1-4EA4-8339-F5F3B01B5CCF}"/>
              </a:ext>
            </a:extLst>
          </p:cNvPr>
          <p:cNvPicPr>
            <a:picLocks noChangeAspect="1"/>
          </p:cNvPicPr>
          <p:nvPr/>
        </p:nvPicPr>
        <p:blipFill>
          <a:blip r:embed="rId4"/>
          <a:stretch>
            <a:fillRect/>
          </a:stretch>
        </p:blipFill>
        <p:spPr>
          <a:xfrm>
            <a:off x="0" y="0"/>
            <a:ext cx="5621867" cy="6319545"/>
          </a:xfrm>
          <a:prstGeom prst="rect">
            <a:avLst/>
          </a:prstGeom>
        </p:spPr>
      </p:pic>
      <p:sp>
        <p:nvSpPr>
          <p:cNvPr id="8" name="CuadroTexto 7">
            <a:extLst>
              <a:ext uri="{FF2B5EF4-FFF2-40B4-BE49-F238E27FC236}">
                <a16:creationId xmlns:a16="http://schemas.microsoft.com/office/drawing/2014/main" id="{FB16DC85-0F28-464A-B5FC-68B4235933D6}"/>
              </a:ext>
            </a:extLst>
          </p:cNvPr>
          <p:cNvSpPr txBox="1"/>
          <p:nvPr/>
        </p:nvSpPr>
        <p:spPr>
          <a:xfrm>
            <a:off x="6412089" y="5971822"/>
            <a:ext cx="1355307" cy="369332"/>
          </a:xfrm>
          <a:prstGeom prst="rect">
            <a:avLst/>
          </a:prstGeom>
          <a:noFill/>
        </p:spPr>
        <p:txBody>
          <a:bodyPr wrap="none" rtlCol="0">
            <a:spAutoFit/>
          </a:bodyPr>
          <a:lstStyle/>
          <a:p>
            <a:r>
              <a:rPr lang="es-ES" dirty="0"/>
              <a:t>8000 puntos</a:t>
            </a:r>
            <a:endParaRPr lang="es-CO" dirty="0"/>
          </a:p>
        </p:txBody>
      </p:sp>
    </p:spTree>
    <p:extLst>
      <p:ext uri="{BB962C8B-B14F-4D97-AF65-F5344CB8AC3E}">
        <p14:creationId xmlns:p14="http://schemas.microsoft.com/office/powerpoint/2010/main" val="3304529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8CE95A1-1D38-434F-93DC-4AC56B831E01}"/>
              </a:ext>
            </a:extLst>
          </p:cNvPr>
          <p:cNvSpPr>
            <a:spLocks noGrp="1"/>
          </p:cNvSpPr>
          <p:nvPr>
            <p:ph idx="1"/>
          </p:nvPr>
        </p:nvSpPr>
        <p:spPr>
          <a:xfrm>
            <a:off x="1718170" y="2579511"/>
            <a:ext cx="3136053" cy="4023360"/>
          </a:xfrm>
        </p:spPr>
        <p:txBody>
          <a:bodyPr/>
          <a:lstStyle/>
          <a:p>
            <a:r>
              <a:rPr lang="es-ES" dirty="0"/>
              <a:t>Se trata de un </a:t>
            </a:r>
            <a:r>
              <a:rPr lang="es-ES" b="1" dirty="0" err="1"/>
              <a:t>Kriging</a:t>
            </a:r>
            <a:r>
              <a:rPr lang="es-ES" b="1" dirty="0"/>
              <a:t> Ordinario</a:t>
            </a:r>
            <a:r>
              <a:rPr lang="es-ES" dirty="0"/>
              <a:t> con modelo de </a:t>
            </a:r>
            <a:r>
              <a:rPr lang="es-ES" dirty="0" err="1"/>
              <a:t>variograma</a:t>
            </a:r>
            <a:r>
              <a:rPr lang="es-ES" dirty="0"/>
              <a:t>  </a:t>
            </a:r>
            <a:r>
              <a:rPr lang="es-CO" dirty="0"/>
              <a:t>Gaussian </a:t>
            </a:r>
          </a:p>
        </p:txBody>
      </p:sp>
      <p:pic>
        <p:nvPicPr>
          <p:cNvPr id="4" name="Imagen 3">
            <a:extLst>
              <a:ext uri="{FF2B5EF4-FFF2-40B4-BE49-F238E27FC236}">
                <a16:creationId xmlns:a16="http://schemas.microsoft.com/office/drawing/2014/main" id="{D2228EAB-2C56-4AAF-BD0F-9BBB98D4076D}"/>
              </a:ext>
            </a:extLst>
          </p:cNvPr>
          <p:cNvPicPr>
            <a:picLocks noChangeAspect="1"/>
          </p:cNvPicPr>
          <p:nvPr/>
        </p:nvPicPr>
        <p:blipFill>
          <a:blip r:embed="rId3"/>
          <a:stretch>
            <a:fillRect/>
          </a:stretch>
        </p:blipFill>
        <p:spPr>
          <a:xfrm>
            <a:off x="4545692" y="0"/>
            <a:ext cx="6542786" cy="6212343"/>
          </a:xfrm>
          <a:prstGeom prst="rect">
            <a:avLst/>
          </a:prstGeom>
        </p:spPr>
      </p:pic>
    </p:spTree>
    <p:extLst>
      <p:ext uri="{BB962C8B-B14F-4D97-AF65-F5344CB8AC3E}">
        <p14:creationId xmlns:p14="http://schemas.microsoft.com/office/powerpoint/2010/main" val="2838309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E018CB-32EB-47D9-91D7-C5C3AA352F1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52801B79-93C2-4D1C-BF53-7718D13D013F}"/>
              </a:ext>
            </a:extLst>
          </p:cNvPr>
          <p:cNvSpPr>
            <a:spLocks noGrp="1"/>
          </p:cNvSpPr>
          <p:nvPr>
            <p:ph idx="1"/>
          </p:nvPr>
        </p:nvSpPr>
        <p:spPr/>
        <p:txBody>
          <a:bodyPr/>
          <a:lstStyle/>
          <a:p>
            <a:endParaRPr lang="es-CO"/>
          </a:p>
        </p:txBody>
      </p:sp>
      <p:pic>
        <p:nvPicPr>
          <p:cNvPr id="7" name="Imagen 6">
            <a:extLst>
              <a:ext uri="{FF2B5EF4-FFF2-40B4-BE49-F238E27FC236}">
                <a16:creationId xmlns:a16="http://schemas.microsoft.com/office/drawing/2014/main" id="{245FCF9E-37BE-4F7C-913D-51F69710ED27}"/>
              </a:ext>
            </a:extLst>
          </p:cNvPr>
          <p:cNvPicPr>
            <a:picLocks noChangeAspect="1"/>
          </p:cNvPicPr>
          <p:nvPr/>
        </p:nvPicPr>
        <p:blipFill>
          <a:blip r:embed="rId3"/>
          <a:stretch>
            <a:fillRect/>
          </a:stretch>
        </p:blipFill>
        <p:spPr>
          <a:xfrm>
            <a:off x="6416534" y="595851"/>
            <a:ext cx="5229471" cy="5763665"/>
          </a:xfrm>
          <a:prstGeom prst="rect">
            <a:avLst/>
          </a:prstGeom>
        </p:spPr>
      </p:pic>
      <p:pic>
        <p:nvPicPr>
          <p:cNvPr id="9" name="Imagen 8">
            <a:extLst>
              <a:ext uri="{FF2B5EF4-FFF2-40B4-BE49-F238E27FC236}">
                <a16:creationId xmlns:a16="http://schemas.microsoft.com/office/drawing/2014/main" id="{8FB13E62-BA27-4915-9312-B2A909BDC744}"/>
              </a:ext>
            </a:extLst>
          </p:cNvPr>
          <p:cNvPicPr>
            <a:picLocks noChangeAspect="1"/>
          </p:cNvPicPr>
          <p:nvPr/>
        </p:nvPicPr>
        <p:blipFill>
          <a:blip r:embed="rId4"/>
          <a:stretch>
            <a:fillRect/>
          </a:stretch>
        </p:blipFill>
        <p:spPr>
          <a:xfrm>
            <a:off x="761664" y="645521"/>
            <a:ext cx="5319254" cy="5416611"/>
          </a:xfrm>
          <a:prstGeom prst="rect">
            <a:avLst/>
          </a:prstGeom>
        </p:spPr>
      </p:pic>
      <p:sp>
        <p:nvSpPr>
          <p:cNvPr id="10" name="CuadroTexto 9">
            <a:extLst>
              <a:ext uri="{FF2B5EF4-FFF2-40B4-BE49-F238E27FC236}">
                <a16:creationId xmlns:a16="http://schemas.microsoft.com/office/drawing/2014/main" id="{A4949C71-35A7-4295-9A97-E305C20DF9C4}"/>
              </a:ext>
            </a:extLst>
          </p:cNvPr>
          <p:cNvSpPr txBox="1"/>
          <p:nvPr/>
        </p:nvSpPr>
        <p:spPr>
          <a:xfrm>
            <a:off x="8748889" y="286603"/>
            <a:ext cx="543354" cy="369332"/>
          </a:xfrm>
          <a:prstGeom prst="rect">
            <a:avLst/>
          </a:prstGeom>
          <a:noFill/>
        </p:spPr>
        <p:txBody>
          <a:bodyPr wrap="none" rtlCol="0">
            <a:spAutoFit/>
          </a:bodyPr>
          <a:lstStyle/>
          <a:p>
            <a:r>
              <a:rPr lang="es-ES" dirty="0" err="1"/>
              <a:t>Krig</a:t>
            </a:r>
            <a:endParaRPr lang="es-CO" dirty="0"/>
          </a:p>
        </p:txBody>
      </p:sp>
      <p:sp>
        <p:nvSpPr>
          <p:cNvPr id="11" name="CuadroTexto 10">
            <a:extLst>
              <a:ext uri="{FF2B5EF4-FFF2-40B4-BE49-F238E27FC236}">
                <a16:creationId xmlns:a16="http://schemas.microsoft.com/office/drawing/2014/main" id="{E90A9DA7-59D5-4EAE-8DBC-9D7F56F13F7F}"/>
              </a:ext>
            </a:extLst>
          </p:cNvPr>
          <p:cNvSpPr txBox="1"/>
          <p:nvPr/>
        </p:nvSpPr>
        <p:spPr>
          <a:xfrm>
            <a:off x="2899757" y="207411"/>
            <a:ext cx="590226" cy="369332"/>
          </a:xfrm>
          <a:prstGeom prst="rect">
            <a:avLst/>
          </a:prstGeom>
          <a:noFill/>
        </p:spPr>
        <p:txBody>
          <a:bodyPr wrap="none" rtlCol="0">
            <a:spAutoFit/>
          </a:bodyPr>
          <a:lstStyle/>
          <a:p>
            <a:r>
              <a:rPr lang="es-ES" dirty="0"/>
              <a:t>IWD</a:t>
            </a:r>
            <a:endParaRPr lang="es-CO" dirty="0"/>
          </a:p>
        </p:txBody>
      </p:sp>
    </p:spTree>
    <p:extLst>
      <p:ext uri="{BB962C8B-B14F-4D97-AF65-F5344CB8AC3E}">
        <p14:creationId xmlns:p14="http://schemas.microsoft.com/office/powerpoint/2010/main" val="2948873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1E5B2E-E358-4DB1-B627-359FB9227948}"/>
              </a:ext>
            </a:extLst>
          </p:cNvPr>
          <p:cNvSpPr>
            <a:spLocks noGrp="1"/>
          </p:cNvSpPr>
          <p:nvPr>
            <p:ph type="title"/>
          </p:nvPr>
        </p:nvSpPr>
        <p:spPr/>
        <p:txBody>
          <a:bodyPr/>
          <a:lstStyle/>
          <a:p>
            <a:r>
              <a:rPr lang="es-ES" dirty="0"/>
              <a:t>Conclusiones</a:t>
            </a:r>
            <a:br>
              <a:rPr lang="es-CO" dirty="0"/>
            </a:br>
            <a:endParaRPr lang="es-CO" dirty="0"/>
          </a:p>
        </p:txBody>
      </p:sp>
      <p:sp>
        <p:nvSpPr>
          <p:cNvPr id="3" name="Marcador de contenido 2">
            <a:extLst>
              <a:ext uri="{FF2B5EF4-FFF2-40B4-BE49-F238E27FC236}">
                <a16:creationId xmlns:a16="http://schemas.microsoft.com/office/drawing/2014/main" id="{489DE5DA-2351-4054-BC4D-7EFDC955CD91}"/>
              </a:ext>
            </a:extLst>
          </p:cNvPr>
          <p:cNvSpPr>
            <a:spLocks noGrp="1"/>
          </p:cNvSpPr>
          <p:nvPr>
            <p:ph idx="1"/>
          </p:nvPr>
        </p:nvSpPr>
        <p:spPr/>
        <p:txBody>
          <a:bodyPr>
            <a:normAutofit fontScale="92500" lnSpcReduction="20000"/>
          </a:bodyPr>
          <a:lstStyle/>
          <a:p>
            <a:r>
              <a:rPr lang="es-ES" dirty="0"/>
              <a:t>1. El gradiente geotérmico es el predictor más relevante, mostrando un fuerte efecto negativo sobre la probabilidad de ocurrencia de depósitos. Su influencia fue consistente en todos los modelos aplicados. Esto lo posiciona como variable clave para delimitar zonas desfavorables.</a:t>
            </a:r>
          </a:p>
          <a:p>
            <a:r>
              <a:rPr lang="es-ES" dirty="0"/>
              <a:t>2. La profundidad del Moho (Z) se relaciona positivamente con la mineralización, aunque con menor magnitud. Su efecto varía espacialmente, lo que indica que no opera de forma homogénea en todo el territorio.</a:t>
            </a:r>
          </a:p>
          <a:p>
            <a:r>
              <a:rPr lang="es-ES" dirty="0"/>
              <a:t>3.Los modelos espaciales (SAR, CAR, GWR) mejoran el ajuste respecto a OLS, corrigiendo autocorrelación residual y capturando estructuras espaciales. Esto los hace más adecuados para fenómenos geológicos distribuidos en el espacio.</a:t>
            </a:r>
          </a:p>
          <a:p>
            <a:r>
              <a:rPr lang="es-ES" dirty="0"/>
              <a:t>4. La regresión logística tuvo precisión aceptable (69 %), pero bajo </a:t>
            </a:r>
            <a:r>
              <a:rPr lang="es-ES" dirty="0" err="1"/>
              <a:t>recall</a:t>
            </a:r>
            <a:r>
              <a:rPr lang="es-ES" dirty="0"/>
              <a:t> para la clase de interés (42 %). Esto sugiere limitaciones para identificar correctamente los depósitos reales, con riesgo de omisión.</a:t>
            </a:r>
          </a:p>
          <a:p>
            <a:r>
              <a:rPr lang="es-ES" dirty="0"/>
              <a:t>5.Los coeficientes locales del modelo GWR revelan patrones geográficos útiles, mostrando cómo cambia la influencia de cada variable en el espacio. Esto permite focalizar zonas con mayor potencial exploratorio.</a:t>
            </a:r>
            <a:endParaRPr lang="es-CO" dirty="0"/>
          </a:p>
        </p:txBody>
      </p:sp>
    </p:spTree>
    <p:extLst>
      <p:ext uri="{BB962C8B-B14F-4D97-AF65-F5344CB8AC3E}">
        <p14:creationId xmlns:p14="http://schemas.microsoft.com/office/powerpoint/2010/main" val="461314684"/>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804E9D6BB3EE04888AEE80291C67E77" ma:contentTypeVersion="11" ma:contentTypeDescription="Crear nuevo documento." ma:contentTypeScope="" ma:versionID="dba8b4c2031b23e79bf93281324bf4ef">
  <xsd:schema xmlns:xsd="http://www.w3.org/2001/XMLSchema" xmlns:xs="http://www.w3.org/2001/XMLSchema" xmlns:p="http://schemas.microsoft.com/office/2006/metadata/properties" xmlns:ns3="43452519-69a3-4b40-ba34-a01a35af4750" xmlns:ns4="42b9fe23-2534-4502-b8d2-0b2f3a61000a" targetNamespace="http://schemas.microsoft.com/office/2006/metadata/properties" ma:root="true" ma:fieldsID="db182c8e9544a701ae1ddafba5396d77" ns3:_="" ns4:_="">
    <xsd:import namespace="43452519-69a3-4b40-ba34-a01a35af4750"/>
    <xsd:import namespace="42b9fe23-2534-4502-b8d2-0b2f3a61000a"/>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_activity" minOccurs="0"/>
                <xsd:element ref="ns3:MediaServiceSearchProperties" minOccurs="0"/>
                <xsd:element ref="ns3:MediaServiceObjectDetectorVersion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452519-69a3-4b40-ba34-a01a35af47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b9fe23-2534-4502-b8d2-0b2f3a61000a"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3452519-69a3-4b40-ba34-a01a35af475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6C0391-82CB-4AC6-87F6-B029BE1894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452519-69a3-4b40-ba34-a01a35af4750"/>
    <ds:schemaRef ds:uri="42b9fe23-2534-4502-b8d2-0b2f3a61000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041B48-44A1-4650-87AC-E5AA9E714AC7}">
  <ds:schemaRefs>
    <ds:schemaRef ds:uri="http://schemas.openxmlformats.org/package/2006/metadata/core-properties"/>
    <ds:schemaRef ds:uri="43452519-69a3-4b40-ba34-a01a35af4750"/>
    <ds:schemaRef ds:uri="http://purl.org/dc/elements/1.1/"/>
    <ds:schemaRef ds:uri="http://www.w3.org/XML/1998/namespace"/>
    <ds:schemaRef ds:uri="http://schemas.microsoft.com/office/2006/documentManagement/types"/>
    <ds:schemaRef ds:uri="http://purl.org/dc/dcmitype/"/>
    <ds:schemaRef ds:uri="http://purl.org/dc/terms/"/>
    <ds:schemaRef ds:uri="http://schemas.microsoft.com/office/infopath/2007/PartnerControls"/>
    <ds:schemaRef ds:uri="42b9fe23-2534-4502-b8d2-0b2f3a61000a"/>
    <ds:schemaRef ds:uri="http://schemas.microsoft.com/office/2006/metadata/properties"/>
  </ds:schemaRefs>
</ds:datastoreItem>
</file>

<file path=customXml/itemProps3.xml><?xml version="1.0" encoding="utf-8"?>
<ds:datastoreItem xmlns:ds="http://schemas.openxmlformats.org/officeDocument/2006/customXml" ds:itemID="{2FD6A62E-D17A-4546-B02F-75AEB86B8B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2569</TotalTime>
  <Words>1258</Words>
  <Application>Microsoft Office PowerPoint</Application>
  <PresentationFormat>Panorámica</PresentationFormat>
  <Paragraphs>283</Paragraphs>
  <Slides>29</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29</vt:i4>
      </vt:variant>
    </vt:vector>
  </HeadingPairs>
  <TitlesOfParts>
    <vt:vector size="33" baseType="lpstr">
      <vt:lpstr>Arial</vt:lpstr>
      <vt:lpstr>Calibri</vt:lpstr>
      <vt:lpstr>Calibri Light</vt:lpstr>
      <vt:lpstr>Retrospección</vt:lpstr>
      <vt:lpstr>Estudio de la distribución espacial de depósitos Ígneo/Metamórficos en Colombia  </vt:lpstr>
      <vt:lpstr>DF - Eventos</vt:lpstr>
      <vt:lpstr>Variables</vt:lpstr>
      <vt:lpstr>Pregunta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Pathfinders</vt:lpstr>
      <vt:lpstr>Presentación de PowerPoint</vt:lpstr>
      <vt:lpstr>Presentación de PowerPoint</vt:lpstr>
      <vt:lpstr>Regresión Logística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Estudio de la distribución espacial de depósitos Ígneo/Metamórficos en Colombia</dc:title>
  <dc:creator>Santiago Cruz</dc:creator>
  <cp:lastModifiedBy>Santiago Cruz</cp:lastModifiedBy>
  <cp:revision>46</cp:revision>
  <dcterms:created xsi:type="dcterms:W3CDTF">2025-05-29T21:47:29Z</dcterms:created>
  <dcterms:modified xsi:type="dcterms:W3CDTF">2025-07-23T14:00:25Z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0x010100B804E9D6BB3EE04888AEE80291C67E77</vt:lpwstr>
  </property>
</Properties>
</file>